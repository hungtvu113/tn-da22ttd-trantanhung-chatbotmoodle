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C6C9F8-2AFE-1660-0D02-4B63DF2F77BC}" v="445" dt="2026-07-06T16:15:17.3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69" autoAdjust="0"/>
    <p:restoredTop sz="94660"/>
  </p:normalViewPr>
  <p:slideViewPr>
    <p:cSldViewPr snapToGrid="0">
      <p:cViewPr varScale="1">
        <p:scale>
          <a:sx n="85" d="100"/>
          <a:sy n="85" d="100"/>
        </p:scale>
        <p:origin x="30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p>
        </p:txBody>
      </p:sp>
      <p:sp>
        <p:nvSpPr>
          <p:cNvPr id="3" name="Tiêu đề phụ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Bấm &amp; sửa kiểu phụ đề của Bản chính</a:t>
            </a:r>
          </a:p>
        </p:txBody>
      </p:sp>
      <p:sp>
        <p:nvSpPr>
          <p:cNvPr id="4" name="Chỗ dành sẵn cho Ngày tháng 3"/>
          <p:cNvSpPr>
            <a:spLocks noGrp="1"/>
          </p:cNvSpPr>
          <p:nvPr>
            <p:ph type="dt" sz="half" idx="10"/>
          </p:nvPr>
        </p:nvSpPr>
        <p:spPr/>
        <p:txBody>
          <a:bodyPr/>
          <a:lstStyle/>
          <a:p>
            <a:fld id="{E287236D-C680-4349-9A96-AEA01B6A4E8F}" type="datetimeFigureOut">
              <a:rPr lang="vi-VN" smtClean="0"/>
              <a:t>06/07/2026</a:t>
            </a:fld>
            <a:endParaRPr lang="vi-VN"/>
          </a:p>
        </p:txBody>
      </p:sp>
      <p:sp>
        <p:nvSpPr>
          <p:cNvPr id="5" name="Chỗ dành sẵn cho Chân trang 4"/>
          <p:cNvSpPr>
            <a:spLocks noGrp="1"/>
          </p:cNvSpPr>
          <p:nvPr>
            <p:ph type="ftr" sz="quarter" idx="11"/>
          </p:nvPr>
        </p:nvSpPr>
        <p:spPr/>
        <p:txBody>
          <a:bodyPr/>
          <a:lstStyle/>
          <a:p>
            <a:endParaRPr lang="vi-VN"/>
          </a:p>
        </p:txBody>
      </p:sp>
      <p:sp>
        <p:nvSpPr>
          <p:cNvPr id="6" name="Chỗ dành sẵn cho Số hiệu Bản chiếu 5"/>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31775090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p:cNvSpPr>
            <a:spLocks noGrp="1"/>
          </p:cNvSpPr>
          <p:nvPr>
            <p:ph type="title"/>
          </p:nvPr>
        </p:nvSpPr>
        <p:spPr/>
        <p:txBody>
          <a:bodyPr/>
          <a:lstStyle/>
          <a:p>
            <a:r>
              <a:rPr lang="vi-VN"/>
              <a:t>Bấm để sửa kiểu tiêu đề Bản cái</a:t>
            </a:r>
          </a:p>
        </p:txBody>
      </p:sp>
      <p:sp>
        <p:nvSpPr>
          <p:cNvPr id="3" name="Chỗ dành sẵn cho Nội dung 2"/>
          <p:cNvSpPr>
            <a:spLocks noGrp="1"/>
          </p:cNvSpPr>
          <p:nvPr>
            <p:ph idx="1"/>
          </p:nvPr>
        </p:nvSpPr>
        <p:spPr/>
        <p:txBody>
          <a:bodyPr/>
          <a:lstStyle/>
          <a:p>
            <a:pPr lvl="0"/>
            <a:r>
              <a:rPr lang="vi-VN"/>
              <a:t>Bấm để sửa kiểu văn bản Bản cái</a:t>
            </a:r>
          </a:p>
          <a:p>
            <a:pPr lvl="1"/>
            <a:r>
              <a:rPr lang="vi-VN"/>
              <a:t>Mức hai</a:t>
            </a:r>
          </a:p>
          <a:p>
            <a:pPr lvl="2"/>
            <a:r>
              <a:rPr lang="vi-VN"/>
              <a:t>Mức ba</a:t>
            </a:r>
          </a:p>
          <a:p>
            <a:pPr lvl="3"/>
            <a:r>
              <a:rPr lang="vi-VN"/>
              <a:t>Mức bốn</a:t>
            </a:r>
          </a:p>
          <a:p>
            <a:pPr lvl="4"/>
            <a:r>
              <a:rPr lang="vi-VN"/>
              <a:t>Mức năm</a:t>
            </a:r>
          </a:p>
        </p:txBody>
      </p:sp>
      <p:sp>
        <p:nvSpPr>
          <p:cNvPr id="4" name="Chỗ dành sẵn cho Ngày tháng 3"/>
          <p:cNvSpPr>
            <a:spLocks noGrp="1"/>
          </p:cNvSpPr>
          <p:nvPr>
            <p:ph type="dt" sz="half" idx="10"/>
          </p:nvPr>
        </p:nvSpPr>
        <p:spPr/>
        <p:txBody>
          <a:bodyPr/>
          <a:lstStyle/>
          <a:p>
            <a:fld id="{E287236D-C680-4349-9A96-AEA01B6A4E8F}" type="datetimeFigureOut">
              <a:rPr lang="vi-VN" smtClean="0"/>
              <a:t>06/07/2026</a:t>
            </a:fld>
            <a:endParaRPr lang="vi-VN"/>
          </a:p>
        </p:txBody>
      </p:sp>
      <p:sp>
        <p:nvSpPr>
          <p:cNvPr id="5" name="Chỗ dành sẵn cho Chân trang 4"/>
          <p:cNvSpPr>
            <a:spLocks noGrp="1"/>
          </p:cNvSpPr>
          <p:nvPr>
            <p:ph type="ftr" sz="quarter" idx="11"/>
          </p:nvPr>
        </p:nvSpPr>
        <p:spPr/>
        <p:txBody>
          <a:bodyPr/>
          <a:lstStyle/>
          <a:p>
            <a:endParaRPr lang="vi-VN"/>
          </a:p>
        </p:txBody>
      </p:sp>
      <p:sp>
        <p:nvSpPr>
          <p:cNvPr id="6" name="Chỗ dành sẵn cho Số hiệu Bản chiếu 5"/>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4273931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p>
        </p:txBody>
      </p:sp>
      <p:sp>
        <p:nvSpPr>
          <p:cNvPr id="3" name="Chỗ dành sẵn cho Văn bản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vi-VN"/>
              <a:t>Bấm để sửa kiểu văn bản Bản cái</a:t>
            </a:r>
          </a:p>
        </p:txBody>
      </p:sp>
      <p:sp>
        <p:nvSpPr>
          <p:cNvPr id="4" name="Chỗ dành sẵn cho Ngày tháng 3"/>
          <p:cNvSpPr>
            <a:spLocks noGrp="1"/>
          </p:cNvSpPr>
          <p:nvPr>
            <p:ph type="dt" sz="half" idx="10"/>
          </p:nvPr>
        </p:nvSpPr>
        <p:spPr/>
        <p:txBody>
          <a:bodyPr/>
          <a:lstStyle/>
          <a:p>
            <a:fld id="{E287236D-C680-4349-9A96-AEA01B6A4E8F}" type="datetimeFigureOut">
              <a:rPr lang="vi-VN" smtClean="0"/>
              <a:t>06/07/2026</a:t>
            </a:fld>
            <a:endParaRPr lang="vi-VN"/>
          </a:p>
        </p:txBody>
      </p:sp>
      <p:sp>
        <p:nvSpPr>
          <p:cNvPr id="5" name="Chỗ dành sẵn cho Chân trang 4"/>
          <p:cNvSpPr>
            <a:spLocks noGrp="1"/>
          </p:cNvSpPr>
          <p:nvPr>
            <p:ph type="ftr" sz="quarter" idx="11"/>
          </p:nvPr>
        </p:nvSpPr>
        <p:spPr/>
        <p:txBody>
          <a:bodyPr/>
          <a:lstStyle/>
          <a:p>
            <a:endParaRPr lang="vi-VN"/>
          </a:p>
        </p:txBody>
      </p:sp>
      <p:sp>
        <p:nvSpPr>
          <p:cNvPr id="6" name="Chỗ dành sẵn cho Số hiệu Bản chiếu 5"/>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3239344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p:cNvSpPr>
            <a:spLocks noGrp="1"/>
          </p:cNvSpPr>
          <p:nvPr>
            <p:ph type="title"/>
          </p:nvPr>
        </p:nvSpPr>
        <p:spPr/>
        <p:txBody>
          <a:bodyPr/>
          <a:lstStyle/>
          <a:p>
            <a:r>
              <a:rPr lang="vi-VN"/>
              <a:t>Bấm để sửa kiểu tiêu đề Bản cái</a:t>
            </a:r>
          </a:p>
        </p:txBody>
      </p:sp>
      <p:sp>
        <p:nvSpPr>
          <p:cNvPr id="3" name="Chỗ dành sẵn cho Nội dung 2"/>
          <p:cNvSpPr>
            <a:spLocks noGrp="1"/>
          </p:cNvSpPr>
          <p:nvPr>
            <p:ph sz="half" idx="1"/>
          </p:nvPr>
        </p:nvSpPr>
        <p:spPr>
          <a:xfrm>
            <a:off x="838200" y="1825625"/>
            <a:ext cx="5181600" cy="4351338"/>
          </a:xfrm>
        </p:spPr>
        <p:txBody>
          <a:bodyPr/>
          <a:lstStyle/>
          <a:p>
            <a:pPr lvl="0"/>
            <a:r>
              <a:rPr lang="vi-VN"/>
              <a:t>Bấm để sửa kiểu văn bản Bản cái</a:t>
            </a:r>
          </a:p>
          <a:p>
            <a:pPr lvl="1"/>
            <a:r>
              <a:rPr lang="vi-VN"/>
              <a:t>Mức hai</a:t>
            </a:r>
          </a:p>
          <a:p>
            <a:pPr lvl="2"/>
            <a:r>
              <a:rPr lang="vi-VN"/>
              <a:t>Mức ba</a:t>
            </a:r>
          </a:p>
          <a:p>
            <a:pPr lvl="3"/>
            <a:r>
              <a:rPr lang="vi-VN"/>
              <a:t>Mức bốn</a:t>
            </a:r>
          </a:p>
          <a:p>
            <a:pPr lvl="4"/>
            <a:r>
              <a:rPr lang="vi-VN"/>
              <a:t>Mức năm</a:t>
            </a:r>
          </a:p>
        </p:txBody>
      </p:sp>
      <p:sp>
        <p:nvSpPr>
          <p:cNvPr id="4" name="Chỗ dành sẵn cho Nội dung 3"/>
          <p:cNvSpPr>
            <a:spLocks noGrp="1"/>
          </p:cNvSpPr>
          <p:nvPr>
            <p:ph sz="half" idx="2"/>
          </p:nvPr>
        </p:nvSpPr>
        <p:spPr>
          <a:xfrm>
            <a:off x="6172200" y="1825625"/>
            <a:ext cx="5181600" cy="4351338"/>
          </a:xfrm>
        </p:spPr>
        <p:txBody>
          <a:bodyPr/>
          <a:lstStyle/>
          <a:p>
            <a:pPr lvl="0"/>
            <a:r>
              <a:rPr lang="vi-VN"/>
              <a:t>Bấm để sửa kiểu văn bản Bản cái</a:t>
            </a:r>
          </a:p>
          <a:p>
            <a:pPr lvl="1"/>
            <a:r>
              <a:rPr lang="vi-VN"/>
              <a:t>Mức hai</a:t>
            </a:r>
          </a:p>
          <a:p>
            <a:pPr lvl="2"/>
            <a:r>
              <a:rPr lang="vi-VN"/>
              <a:t>Mức ba</a:t>
            </a:r>
          </a:p>
          <a:p>
            <a:pPr lvl="3"/>
            <a:r>
              <a:rPr lang="vi-VN"/>
              <a:t>Mức bốn</a:t>
            </a:r>
          </a:p>
          <a:p>
            <a:pPr lvl="4"/>
            <a:r>
              <a:rPr lang="vi-VN"/>
              <a:t>Mức năm</a:t>
            </a:r>
          </a:p>
        </p:txBody>
      </p:sp>
      <p:sp>
        <p:nvSpPr>
          <p:cNvPr id="5" name="Chỗ dành sẵn cho Ngày tháng 4"/>
          <p:cNvSpPr>
            <a:spLocks noGrp="1"/>
          </p:cNvSpPr>
          <p:nvPr>
            <p:ph type="dt" sz="half" idx="10"/>
          </p:nvPr>
        </p:nvSpPr>
        <p:spPr/>
        <p:txBody>
          <a:bodyPr/>
          <a:lstStyle/>
          <a:p>
            <a:fld id="{E287236D-C680-4349-9A96-AEA01B6A4E8F}" type="datetimeFigureOut">
              <a:rPr lang="vi-VN" smtClean="0"/>
              <a:t>06/07/2026</a:t>
            </a:fld>
            <a:endParaRPr lang="vi-VN"/>
          </a:p>
        </p:txBody>
      </p:sp>
      <p:sp>
        <p:nvSpPr>
          <p:cNvPr id="6" name="Chỗ dành sẵn cho Chân trang 5"/>
          <p:cNvSpPr>
            <a:spLocks noGrp="1"/>
          </p:cNvSpPr>
          <p:nvPr>
            <p:ph type="ftr" sz="quarter" idx="11"/>
          </p:nvPr>
        </p:nvSpPr>
        <p:spPr/>
        <p:txBody>
          <a:bodyPr/>
          <a:lstStyle/>
          <a:p>
            <a:endParaRPr lang="vi-VN"/>
          </a:p>
        </p:txBody>
      </p:sp>
      <p:sp>
        <p:nvSpPr>
          <p:cNvPr id="7" name="Chỗ dành sẵn cho Số hiệu Bản chiếu 6"/>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71434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p:cNvSpPr>
            <a:spLocks noGrp="1"/>
          </p:cNvSpPr>
          <p:nvPr>
            <p:ph type="title"/>
          </p:nvPr>
        </p:nvSpPr>
        <p:spPr>
          <a:xfrm>
            <a:off x="839788" y="365125"/>
            <a:ext cx="10515600" cy="1325563"/>
          </a:xfrm>
        </p:spPr>
        <p:txBody>
          <a:bodyPr/>
          <a:lstStyle/>
          <a:p>
            <a:r>
              <a:rPr lang="vi-VN"/>
              <a:t>Bấm để sửa kiểu tiêu đề Bản cái</a:t>
            </a:r>
          </a:p>
        </p:txBody>
      </p:sp>
      <p:sp>
        <p:nvSpPr>
          <p:cNvPr id="3" name="Chỗ dành sẵn cho Văn bản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Bấm để sửa kiểu văn bản Bản cái</a:t>
            </a:r>
          </a:p>
        </p:txBody>
      </p:sp>
      <p:sp>
        <p:nvSpPr>
          <p:cNvPr id="4" name="Chỗ dành sẵn cho Nội dung 3"/>
          <p:cNvSpPr>
            <a:spLocks noGrp="1"/>
          </p:cNvSpPr>
          <p:nvPr>
            <p:ph sz="half" idx="2"/>
          </p:nvPr>
        </p:nvSpPr>
        <p:spPr>
          <a:xfrm>
            <a:off x="839788" y="2505075"/>
            <a:ext cx="5157787" cy="3684588"/>
          </a:xfrm>
        </p:spPr>
        <p:txBody>
          <a:bodyPr/>
          <a:lstStyle/>
          <a:p>
            <a:pPr lvl="0"/>
            <a:r>
              <a:rPr lang="vi-VN"/>
              <a:t>Bấm để sửa kiểu văn bản Bản cái</a:t>
            </a:r>
          </a:p>
          <a:p>
            <a:pPr lvl="1"/>
            <a:r>
              <a:rPr lang="vi-VN"/>
              <a:t>Mức hai</a:t>
            </a:r>
          </a:p>
          <a:p>
            <a:pPr lvl="2"/>
            <a:r>
              <a:rPr lang="vi-VN"/>
              <a:t>Mức ba</a:t>
            </a:r>
          </a:p>
          <a:p>
            <a:pPr lvl="3"/>
            <a:r>
              <a:rPr lang="vi-VN"/>
              <a:t>Mức bốn</a:t>
            </a:r>
          </a:p>
          <a:p>
            <a:pPr lvl="4"/>
            <a:r>
              <a:rPr lang="vi-VN"/>
              <a:t>Mức năm</a:t>
            </a:r>
          </a:p>
        </p:txBody>
      </p:sp>
      <p:sp>
        <p:nvSpPr>
          <p:cNvPr id="5" name="Chỗ dành sẵn cho Văn bản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Bấm để sửa kiểu văn bản Bản cái</a:t>
            </a:r>
          </a:p>
        </p:txBody>
      </p:sp>
      <p:sp>
        <p:nvSpPr>
          <p:cNvPr id="6" name="Chỗ dành sẵn cho Nội dung 5"/>
          <p:cNvSpPr>
            <a:spLocks noGrp="1"/>
          </p:cNvSpPr>
          <p:nvPr>
            <p:ph sz="quarter" idx="4"/>
          </p:nvPr>
        </p:nvSpPr>
        <p:spPr>
          <a:xfrm>
            <a:off x="6172200" y="2505075"/>
            <a:ext cx="5183188" cy="3684588"/>
          </a:xfrm>
        </p:spPr>
        <p:txBody>
          <a:bodyPr/>
          <a:lstStyle/>
          <a:p>
            <a:pPr lvl="0"/>
            <a:r>
              <a:rPr lang="vi-VN"/>
              <a:t>Bấm để sửa kiểu văn bản Bản cái</a:t>
            </a:r>
          </a:p>
          <a:p>
            <a:pPr lvl="1"/>
            <a:r>
              <a:rPr lang="vi-VN"/>
              <a:t>Mức hai</a:t>
            </a:r>
          </a:p>
          <a:p>
            <a:pPr lvl="2"/>
            <a:r>
              <a:rPr lang="vi-VN"/>
              <a:t>Mức ba</a:t>
            </a:r>
          </a:p>
          <a:p>
            <a:pPr lvl="3"/>
            <a:r>
              <a:rPr lang="vi-VN"/>
              <a:t>Mức bốn</a:t>
            </a:r>
          </a:p>
          <a:p>
            <a:pPr lvl="4"/>
            <a:r>
              <a:rPr lang="vi-VN"/>
              <a:t>Mức năm</a:t>
            </a:r>
          </a:p>
        </p:txBody>
      </p:sp>
      <p:sp>
        <p:nvSpPr>
          <p:cNvPr id="7" name="Chỗ dành sẵn cho Ngày tháng 6"/>
          <p:cNvSpPr>
            <a:spLocks noGrp="1"/>
          </p:cNvSpPr>
          <p:nvPr>
            <p:ph type="dt" sz="half" idx="10"/>
          </p:nvPr>
        </p:nvSpPr>
        <p:spPr/>
        <p:txBody>
          <a:bodyPr/>
          <a:lstStyle/>
          <a:p>
            <a:fld id="{E287236D-C680-4349-9A96-AEA01B6A4E8F}" type="datetimeFigureOut">
              <a:rPr lang="vi-VN" smtClean="0"/>
              <a:t>06/07/2026</a:t>
            </a:fld>
            <a:endParaRPr lang="vi-VN"/>
          </a:p>
        </p:txBody>
      </p:sp>
      <p:sp>
        <p:nvSpPr>
          <p:cNvPr id="8" name="Chỗ dành sẵn cho Chân trang 7"/>
          <p:cNvSpPr>
            <a:spLocks noGrp="1"/>
          </p:cNvSpPr>
          <p:nvPr>
            <p:ph type="ftr" sz="quarter" idx="11"/>
          </p:nvPr>
        </p:nvSpPr>
        <p:spPr/>
        <p:txBody>
          <a:bodyPr/>
          <a:lstStyle/>
          <a:p>
            <a:endParaRPr lang="vi-VN"/>
          </a:p>
        </p:txBody>
      </p:sp>
      <p:sp>
        <p:nvSpPr>
          <p:cNvPr id="9" name="Chỗ dành sẵn cho Số hiệu Bản chiếu 8"/>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1695300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p:cNvSpPr>
            <a:spLocks noGrp="1"/>
          </p:cNvSpPr>
          <p:nvPr>
            <p:ph type="title"/>
          </p:nvPr>
        </p:nvSpPr>
        <p:spPr/>
        <p:txBody>
          <a:bodyPr/>
          <a:lstStyle/>
          <a:p>
            <a:r>
              <a:rPr lang="vi-VN"/>
              <a:t>Bấm để sửa kiểu tiêu đề Bản cái</a:t>
            </a:r>
          </a:p>
        </p:txBody>
      </p:sp>
      <p:sp>
        <p:nvSpPr>
          <p:cNvPr id="3" name="Chỗ dành sẵn cho Ngày tháng 2"/>
          <p:cNvSpPr>
            <a:spLocks noGrp="1"/>
          </p:cNvSpPr>
          <p:nvPr>
            <p:ph type="dt" sz="half" idx="10"/>
          </p:nvPr>
        </p:nvSpPr>
        <p:spPr/>
        <p:txBody>
          <a:bodyPr/>
          <a:lstStyle/>
          <a:p>
            <a:fld id="{E287236D-C680-4349-9A96-AEA01B6A4E8F}" type="datetimeFigureOut">
              <a:rPr lang="vi-VN" smtClean="0"/>
              <a:t>06/07/2026</a:t>
            </a:fld>
            <a:endParaRPr lang="vi-VN"/>
          </a:p>
        </p:txBody>
      </p:sp>
      <p:sp>
        <p:nvSpPr>
          <p:cNvPr id="4" name="Chỗ dành sẵn cho Chân trang 3"/>
          <p:cNvSpPr>
            <a:spLocks noGrp="1"/>
          </p:cNvSpPr>
          <p:nvPr>
            <p:ph type="ftr" sz="quarter" idx="11"/>
          </p:nvPr>
        </p:nvSpPr>
        <p:spPr/>
        <p:txBody>
          <a:bodyPr/>
          <a:lstStyle/>
          <a:p>
            <a:endParaRPr lang="vi-VN"/>
          </a:p>
        </p:txBody>
      </p:sp>
      <p:sp>
        <p:nvSpPr>
          <p:cNvPr id="5" name="Chỗ dành sẵn cho Số hiệu Bản chiếu 4"/>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3013401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p:cNvSpPr>
            <a:spLocks noGrp="1"/>
          </p:cNvSpPr>
          <p:nvPr>
            <p:ph type="dt" sz="half" idx="10"/>
          </p:nvPr>
        </p:nvSpPr>
        <p:spPr/>
        <p:txBody>
          <a:bodyPr/>
          <a:lstStyle/>
          <a:p>
            <a:fld id="{E287236D-C680-4349-9A96-AEA01B6A4E8F}" type="datetimeFigureOut">
              <a:rPr lang="vi-VN" smtClean="0"/>
              <a:t>06/07/2026</a:t>
            </a:fld>
            <a:endParaRPr lang="vi-VN"/>
          </a:p>
        </p:txBody>
      </p:sp>
      <p:sp>
        <p:nvSpPr>
          <p:cNvPr id="3" name="Chỗ dành sẵn cho Chân trang 2"/>
          <p:cNvSpPr>
            <a:spLocks noGrp="1"/>
          </p:cNvSpPr>
          <p:nvPr>
            <p:ph type="ftr" sz="quarter" idx="11"/>
          </p:nvPr>
        </p:nvSpPr>
        <p:spPr/>
        <p:txBody>
          <a:bodyPr/>
          <a:lstStyle/>
          <a:p>
            <a:endParaRPr lang="vi-VN"/>
          </a:p>
        </p:txBody>
      </p:sp>
      <p:sp>
        <p:nvSpPr>
          <p:cNvPr id="4" name="Chỗ dành sẵn cho Số hiệu Bản chiếu 3"/>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1438579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Phụ đề">
    <p:spTree>
      <p:nvGrpSpPr>
        <p:cNvPr id="1" name=""/>
        <p:cNvGrpSpPr/>
        <p:nvPr/>
      </p:nvGrpSpPr>
      <p:grpSpPr>
        <a:xfrm>
          <a:off x="0" y="0"/>
          <a:ext cx="0" cy="0"/>
          <a:chOff x="0" y="0"/>
          <a:chExt cx="0" cy="0"/>
        </a:xfrm>
      </p:grpSpPr>
      <p:sp>
        <p:nvSpPr>
          <p:cNvPr id="2" name="Tiêu đề 1"/>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Nội dung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Bấm để sửa kiểu văn bản Bản cái</a:t>
            </a:r>
          </a:p>
          <a:p>
            <a:pPr lvl="1"/>
            <a:r>
              <a:rPr lang="vi-VN"/>
              <a:t>Mức hai</a:t>
            </a:r>
          </a:p>
          <a:p>
            <a:pPr lvl="2"/>
            <a:r>
              <a:rPr lang="vi-VN"/>
              <a:t>Mức ba</a:t>
            </a:r>
          </a:p>
          <a:p>
            <a:pPr lvl="3"/>
            <a:r>
              <a:rPr lang="vi-VN"/>
              <a:t>Mức bốn</a:t>
            </a:r>
          </a:p>
          <a:p>
            <a:pPr lvl="4"/>
            <a:r>
              <a:rPr lang="vi-VN"/>
              <a:t>Mức năm</a:t>
            </a:r>
          </a:p>
        </p:txBody>
      </p:sp>
      <p:sp>
        <p:nvSpPr>
          <p:cNvPr id="4" name="Chỗ dành sẵn cho Văn bản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Bấm để sửa kiểu văn bản Bản cái</a:t>
            </a:r>
          </a:p>
        </p:txBody>
      </p:sp>
      <p:sp>
        <p:nvSpPr>
          <p:cNvPr id="5" name="Chỗ dành sẵn cho Ngày tháng 4"/>
          <p:cNvSpPr>
            <a:spLocks noGrp="1"/>
          </p:cNvSpPr>
          <p:nvPr>
            <p:ph type="dt" sz="half" idx="10"/>
          </p:nvPr>
        </p:nvSpPr>
        <p:spPr/>
        <p:txBody>
          <a:bodyPr/>
          <a:lstStyle/>
          <a:p>
            <a:fld id="{E287236D-C680-4349-9A96-AEA01B6A4E8F}" type="datetimeFigureOut">
              <a:rPr lang="vi-VN" smtClean="0"/>
              <a:t>06/07/2026</a:t>
            </a:fld>
            <a:endParaRPr lang="vi-VN"/>
          </a:p>
        </p:txBody>
      </p:sp>
      <p:sp>
        <p:nvSpPr>
          <p:cNvPr id="6" name="Chỗ dành sẵn cho Chân trang 5"/>
          <p:cNvSpPr>
            <a:spLocks noGrp="1"/>
          </p:cNvSpPr>
          <p:nvPr>
            <p:ph type="ftr" sz="quarter" idx="11"/>
          </p:nvPr>
        </p:nvSpPr>
        <p:spPr/>
        <p:txBody>
          <a:bodyPr/>
          <a:lstStyle/>
          <a:p>
            <a:endParaRPr lang="vi-VN"/>
          </a:p>
        </p:txBody>
      </p:sp>
      <p:sp>
        <p:nvSpPr>
          <p:cNvPr id="7" name="Chỗ dành sẵn cho Số hiệu Bản chiếu 6"/>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638026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Phụ đề">
    <p:spTree>
      <p:nvGrpSpPr>
        <p:cNvPr id="1" name=""/>
        <p:cNvGrpSpPr/>
        <p:nvPr/>
      </p:nvGrpSpPr>
      <p:grpSpPr>
        <a:xfrm>
          <a:off x="0" y="0"/>
          <a:ext cx="0" cy="0"/>
          <a:chOff x="0" y="0"/>
          <a:chExt cx="0" cy="0"/>
        </a:xfrm>
      </p:grpSpPr>
      <p:sp>
        <p:nvSpPr>
          <p:cNvPr id="2" name="Tiêu đề 1"/>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Hình ảnh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Chỗ dành sẵn cho Văn bản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Bấm để sửa kiểu văn bản Bản cái</a:t>
            </a:r>
          </a:p>
        </p:txBody>
      </p:sp>
      <p:sp>
        <p:nvSpPr>
          <p:cNvPr id="5" name="Chỗ dành sẵn cho Ngày tháng 4"/>
          <p:cNvSpPr>
            <a:spLocks noGrp="1"/>
          </p:cNvSpPr>
          <p:nvPr>
            <p:ph type="dt" sz="half" idx="10"/>
          </p:nvPr>
        </p:nvSpPr>
        <p:spPr/>
        <p:txBody>
          <a:bodyPr/>
          <a:lstStyle/>
          <a:p>
            <a:fld id="{E287236D-C680-4349-9A96-AEA01B6A4E8F}" type="datetimeFigureOut">
              <a:rPr lang="vi-VN" smtClean="0"/>
              <a:t>06/07/2026</a:t>
            </a:fld>
            <a:endParaRPr lang="vi-VN"/>
          </a:p>
        </p:txBody>
      </p:sp>
      <p:sp>
        <p:nvSpPr>
          <p:cNvPr id="6" name="Chỗ dành sẵn cho Chân trang 5"/>
          <p:cNvSpPr>
            <a:spLocks noGrp="1"/>
          </p:cNvSpPr>
          <p:nvPr>
            <p:ph type="ftr" sz="quarter" idx="11"/>
          </p:nvPr>
        </p:nvSpPr>
        <p:spPr/>
        <p:txBody>
          <a:bodyPr/>
          <a:lstStyle/>
          <a:p>
            <a:endParaRPr lang="vi-VN"/>
          </a:p>
        </p:txBody>
      </p:sp>
      <p:sp>
        <p:nvSpPr>
          <p:cNvPr id="7" name="Chỗ dành sẵn cho Số hiệu Bản chiếu 6"/>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3860145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ề và Văn bản Dọc">
    <p:spTree>
      <p:nvGrpSpPr>
        <p:cNvPr id="1" name=""/>
        <p:cNvGrpSpPr/>
        <p:nvPr/>
      </p:nvGrpSpPr>
      <p:grpSpPr>
        <a:xfrm>
          <a:off x="0" y="0"/>
          <a:ext cx="0" cy="0"/>
          <a:chOff x="0" y="0"/>
          <a:chExt cx="0" cy="0"/>
        </a:xfrm>
      </p:grpSpPr>
      <p:sp>
        <p:nvSpPr>
          <p:cNvPr id="2" name="Tiêu đề 1"/>
          <p:cNvSpPr>
            <a:spLocks noGrp="1"/>
          </p:cNvSpPr>
          <p:nvPr>
            <p:ph type="title"/>
          </p:nvPr>
        </p:nvSpPr>
        <p:spPr/>
        <p:txBody>
          <a:bodyPr/>
          <a:lstStyle/>
          <a:p>
            <a:r>
              <a:rPr lang="vi-VN"/>
              <a:t>Bấm để sửa kiểu tiêu đề Bản cái</a:t>
            </a:r>
          </a:p>
        </p:txBody>
      </p:sp>
      <p:sp>
        <p:nvSpPr>
          <p:cNvPr id="3" name="Chỗ dành sẵn cho Văn bản Dọc 2"/>
          <p:cNvSpPr>
            <a:spLocks noGrp="1"/>
          </p:cNvSpPr>
          <p:nvPr>
            <p:ph type="body" orient="vert" idx="1"/>
          </p:nvPr>
        </p:nvSpPr>
        <p:spPr/>
        <p:txBody>
          <a:bodyPr vert="eaVert"/>
          <a:lstStyle/>
          <a:p>
            <a:pPr lvl="0"/>
            <a:r>
              <a:rPr lang="vi-VN"/>
              <a:t>Bấm để sửa kiểu văn bản Bản cái</a:t>
            </a:r>
          </a:p>
          <a:p>
            <a:pPr lvl="1"/>
            <a:r>
              <a:rPr lang="vi-VN"/>
              <a:t>Mức hai</a:t>
            </a:r>
          </a:p>
          <a:p>
            <a:pPr lvl="2"/>
            <a:r>
              <a:rPr lang="vi-VN"/>
              <a:t>Mức ba</a:t>
            </a:r>
          </a:p>
          <a:p>
            <a:pPr lvl="3"/>
            <a:r>
              <a:rPr lang="vi-VN"/>
              <a:t>Mức bốn</a:t>
            </a:r>
          </a:p>
          <a:p>
            <a:pPr lvl="4"/>
            <a:r>
              <a:rPr lang="vi-VN"/>
              <a:t>Mức năm</a:t>
            </a:r>
          </a:p>
        </p:txBody>
      </p:sp>
      <p:sp>
        <p:nvSpPr>
          <p:cNvPr id="4" name="Chỗ dành sẵn cho Ngày tháng 3"/>
          <p:cNvSpPr>
            <a:spLocks noGrp="1"/>
          </p:cNvSpPr>
          <p:nvPr>
            <p:ph type="dt" sz="half" idx="10"/>
          </p:nvPr>
        </p:nvSpPr>
        <p:spPr/>
        <p:txBody>
          <a:bodyPr/>
          <a:lstStyle/>
          <a:p>
            <a:fld id="{E287236D-C680-4349-9A96-AEA01B6A4E8F}" type="datetimeFigureOut">
              <a:rPr lang="vi-VN" smtClean="0"/>
              <a:t>06/07/2026</a:t>
            </a:fld>
            <a:endParaRPr lang="vi-VN"/>
          </a:p>
        </p:txBody>
      </p:sp>
      <p:sp>
        <p:nvSpPr>
          <p:cNvPr id="5" name="Chỗ dành sẵn cho Chân trang 4"/>
          <p:cNvSpPr>
            <a:spLocks noGrp="1"/>
          </p:cNvSpPr>
          <p:nvPr>
            <p:ph type="ftr" sz="quarter" idx="11"/>
          </p:nvPr>
        </p:nvSpPr>
        <p:spPr/>
        <p:txBody>
          <a:bodyPr/>
          <a:lstStyle/>
          <a:p>
            <a:endParaRPr lang="vi-VN"/>
          </a:p>
        </p:txBody>
      </p:sp>
      <p:sp>
        <p:nvSpPr>
          <p:cNvPr id="6" name="Chỗ dành sẵn cho Số hiệu Bản chiếu 5"/>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2447484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ề Dọc và Văn bản">
    <p:spTree>
      <p:nvGrpSpPr>
        <p:cNvPr id="1" name=""/>
        <p:cNvGrpSpPr/>
        <p:nvPr/>
      </p:nvGrpSpPr>
      <p:grpSpPr>
        <a:xfrm>
          <a:off x="0" y="0"/>
          <a:ext cx="0" cy="0"/>
          <a:chOff x="0" y="0"/>
          <a:chExt cx="0" cy="0"/>
        </a:xfrm>
      </p:grpSpPr>
      <p:sp>
        <p:nvSpPr>
          <p:cNvPr id="2" name="Tiêu đề Dọc 1"/>
          <p:cNvSpPr>
            <a:spLocks noGrp="1"/>
          </p:cNvSpPr>
          <p:nvPr>
            <p:ph type="title" orient="vert"/>
          </p:nvPr>
        </p:nvSpPr>
        <p:spPr>
          <a:xfrm>
            <a:off x="8724900" y="365125"/>
            <a:ext cx="2628900" cy="5811838"/>
          </a:xfrm>
        </p:spPr>
        <p:txBody>
          <a:bodyPr vert="eaVert"/>
          <a:lstStyle/>
          <a:p>
            <a:r>
              <a:rPr lang="vi-VN"/>
              <a:t>Bấm để sửa kiểu tiêu đề Bản cái</a:t>
            </a:r>
          </a:p>
        </p:txBody>
      </p:sp>
      <p:sp>
        <p:nvSpPr>
          <p:cNvPr id="3" name="Chỗ dành sẵn cho Văn bản Dọc 2"/>
          <p:cNvSpPr>
            <a:spLocks noGrp="1"/>
          </p:cNvSpPr>
          <p:nvPr>
            <p:ph type="body" orient="vert" idx="1"/>
          </p:nvPr>
        </p:nvSpPr>
        <p:spPr>
          <a:xfrm>
            <a:off x="838200" y="365125"/>
            <a:ext cx="7734300" cy="5811838"/>
          </a:xfrm>
        </p:spPr>
        <p:txBody>
          <a:bodyPr vert="eaVert"/>
          <a:lstStyle/>
          <a:p>
            <a:pPr lvl="0"/>
            <a:r>
              <a:rPr lang="vi-VN"/>
              <a:t>Bấm để sửa kiểu văn bản Bản cái</a:t>
            </a:r>
          </a:p>
          <a:p>
            <a:pPr lvl="1"/>
            <a:r>
              <a:rPr lang="vi-VN"/>
              <a:t>Mức hai</a:t>
            </a:r>
          </a:p>
          <a:p>
            <a:pPr lvl="2"/>
            <a:r>
              <a:rPr lang="vi-VN"/>
              <a:t>Mức ba</a:t>
            </a:r>
          </a:p>
          <a:p>
            <a:pPr lvl="3"/>
            <a:r>
              <a:rPr lang="vi-VN"/>
              <a:t>Mức bốn</a:t>
            </a:r>
          </a:p>
          <a:p>
            <a:pPr lvl="4"/>
            <a:r>
              <a:rPr lang="vi-VN"/>
              <a:t>Mức năm</a:t>
            </a:r>
          </a:p>
        </p:txBody>
      </p:sp>
      <p:sp>
        <p:nvSpPr>
          <p:cNvPr id="4" name="Chỗ dành sẵn cho Ngày tháng 3"/>
          <p:cNvSpPr>
            <a:spLocks noGrp="1"/>
          </p:cNvSpPr>
          <p:nvPr>
            <p:ph type="dt" sz="half" idx="10"/>
          </p:nvPr>
        </p:nvSpPr>
        <p:spPr/>
        <p:txBody>
          <a:bodyPr/>
          <a:lstStyle/>
          <a:p>
            <a:fld id="{E287236D-C680-4349-9A96-AEA01B6A4E8F}" type="datetimeFigureOut">
              <a:rPr lang="vi-VN" smtClean="0"/>
              <a:t>06/07/2026</a:t>
            </a:fld>
            <a:endParaRPr lang="vi-VN"/>
          </a:p>
        </p:txBody>
      </p:sp>
      <p:sp>
        <p:nvSpPr>
          <p:cNvPr id="5" name="Chỗ dành sẵn cho Chân trang 4"/>
          <p:cNvSpPr>
            <a:spLocks noGrp="1"/>
          </p:cNvSpPr>
          <p:nvPr>
            <p:ph type="ftr" sz="quarter" idx="11"/>
          </p:nvPr>
        </p:nvSpPr>
        <p:spPr/>
        <p:txBody>
          <a:bodyPr/>
          <a:lstStyle/>
          <a:p>
            <a:endParaRPr lang="vi-VN"/>
          </a:p>
        </p:txBody>
      </p:sp>
      <p:sp>
        <p:nvSpPr>
          <p:cNvPr id="6" name="Chỗ dành sẵn cho Số hiệu Bản chiếu 5"/>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95000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p>
        </p:txBody>
      </p:sp>
      <p:sp>
        <p:nvSpPr>
          <p:cNvPr id="3" name="Chỗ dành sẵn cho Văn bản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Bấm để sửa kiểu văn bản Bản cái</a:t>
            </a:r>
          </a:p>
          <a:p>
            <a:pPr lvl="1"/>
            <a:r>
              <a:rPr lang="vi-VN"/>
              <a:t>Mức hai</a:t>
            </a:r>
          </a:p>
          <a:p>
            <a:pPr lvl="2"/>
            <a:r>
              <a:rPr lang="vi-VN"/>
              <a:t>Mức ba</a:t>
            </a:r>
          </a:p>
          <a:p>
            <a:pPr lvl="3"/>
            <a:r>
              <a:rPr lang="vi-VN"/>
              <a:t>Mức bốn</a:t>
            </a:r>
          </a:p>
          <a:p>
            <a:pPr lvl="4"/>
            <a:r>
              <a:rPr lang="vi-VN"/>
              <a:t>Mức năm</a:t>
            </a:r>
          </a:p>
        </p:txBody>
      </p:sp>
      <p:sp>
        <p:nvSpPr>
          <p:cNvPr id="4" name="Chỗ dành sẵn cho Ngày tháng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87236D-C680-4349-9A96-AEA01B6A4E8F}" type="datetimeFigureOut">
              <a:rPr lang="vi-VN" smtClean="0"/>
              <a:t>06/07/2026</a:t>
            </a:fld>
            <a:endParaRPr lang="vi-VN"/>
          </a:p>
        </p:txBody>
      </p:sp>
      <p:sp>
        <p:nvSpPr>
          <p:cNvPr id="5" name="Chỗ dành sẵn cho Chân trang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Chỗ dành sẵn cho Số hiệu Bản chiế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45828D-F580-42DE-B77E-860980F07F32}" type="slidenum">
              <a:rPr lang="vi-VN" smtClean="0"/>
              <a:t>‹#›</a:t>
            </a:fld>
            <a:endParaRPr lang="vi-VN"/>
          </a:p>
        </p:txBody>
      </p:sp>
    </p:spTree>
    <p:extLst>
      <p:ext uri="{BB962C8B-B14F-4D97-AF65-F5344CB8AC3E}">
        <p14:creationId xmlns:p14="http://schemas.microsoft.com/office/powerpoint/2010/main" val="3336428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êu đề 1"/>
          <p:cNvSpPr>
            <a:spLocks noGrp="1"/>
          </p:cNvSpPr>
          <p:nvPr>
            <p:ph type="ctrTitle"/>
          </p:nvPr>
        </p:nvSpPr>
        <p:spPr>
          <a:xfrm>
            <a:off x="718458" y="266020"/>
            <a:ext cx="6437086" cy="885373"/>
          </a:xfrm>
        </p:spPr>
        <p:txBody>
          <a:bodyPr vert="horz" lIns="91440" tIns="45720" rIns="91440" bIns="45720" rtlCol="0" anchor="t">
            <a:normAutofit/>
          </a:bodyPr>
          <a:lstStyle/>
          <a:p>
            <a:r>
              <a:rPr lang="vi-VN" sz="2000" dirty="0">
                <a:solidFill>
                  <a:schemeClr val="bg1"/>
                </a:solidFill>
                <a:latin typeface="Times New Roman"/>
                <a:cs typeface="Times New Roman"/>
              </a:rPr>
              <a:t>ĐẠI HỌC TRÀ VINH</a:t>
            </a:r>
            <a:br>
              <a:rPr lang="vi-VN" sz="2000" dirty="0">
                <a:solidFill>
                  <a:schemeClr val="bg1"/>
                </a:solidFill>
                <a:latin typeface="Times New Roman"/>
                <a:cs typeface="Times New Roman"/>
              </a:rPr>
            </a:br>
            <a:r>
              <a:rPr lang="vi-VN" sz="2000">
                <a:solidFill>
                  <a:schemeClr val="bg1"/>
                </a:solidFill>
                <a:latin typeface="Times New Roman"/>
                <a:cs typeface="Times New Roman"/>
              </a:rPr>
              <a:t>TRƯỜNG KỸ THUẬT VÀ CÔNG NGHỆ</a:t>
            </a:r>
            <a:endParaRPr lang="vi-VN" sz="2000" dirty="0">
              <a:solidFill>
                <a:schemeClr val="bg1"/>
              </a:solidFill>
              <a:latin typeface="Times New Roman"/>
              <a:cs typeface="Times New Roman"/>
            </a:endParaRPr>
          </a:p>
        </p:txBody>
      </p:sp>
      <p:sp>
        <p:nvSpPr>
          <p:cNvPr id="3" name="Tiêu đề phụ 2"/>
          <p:cNvSpPr>
            <a:spLocks noGrp="1"/>
          </p:cNvSpPr>
          <p:nvPr>
            <p:ph type="subTitle" idx="1"/>
          </p:nvPr>
        </p:nvSpPr>
        <p:spPr>
          <a:xfrm>
            <a:off x="166915" y="1990952"/>
            <a:ext cx="11850914" cy="2025878"/>
          </a:xfrm>
        </p:spPr>
        <p:txBody>
          <a:bodyPr vert="horz" lIns="91440" tIns="45720" rIns="91440" bIns="45720" rtlCol="0" anchor="t">
            <a:noAutofit/>
          </a:bodyPr>
          <a:lstStyle/>
          <a:p>
            <a:r>
              <a:rPr lang="vi-VN" sz="2800">
                <a:solidFill>
                  <a:schemeClr val="bg1"/>
                </a:solidFill>
                <a:latin typeface="Times New Roman"/>
                <a:cs typeface="Times New Roman"/>
              </a:rPr>
              <a:t>ĐỒ ÁN TỐT NGHIỆP</a:t>
            </a:r>
          </a:p>
          <a:p>
            <a:r>
              <a:rPr lang="vi-VN" sz="2800">
                <a:solidFill>
                  <a:schemeClr val="bg1"/>
                </a:solidFill>
                <a:latin typeface="Times New Roman"/>
                <a:cs typeface="Times New Roman"/>
              </a:rPr>
              <a:t>XÂY DỰNG HỆ THỐNG CHATBOT THÔNG MINH HỖ TRỢ HỌC TẬP DỰA TRÊN CÔNG NGHỆ RAG TÍCH HỢP HỆ THỐNG QUẢN LÝ HỌC TẬP MOODLE QUA WEB SERVICES API</a:t>
            </a:r>
            <a:endParaRPr lang="vi-VN"/>
          </a:p>
          <a:p>
            <a:endParaRPr lang="vi-VN"/>
          </a:p>
          <a:p>
            <a:br>
              <a:rPr lang="en-US" dirty="0"/>
            </a:br>
            <a:endParaRPr lang="en-US" dirty="0"/>
          </a:p>
          <a:p>
            <a:endParaRPr lang="vi-VN" sz="1100" dirty="0">
              <a:solidFill>
                <a:srgbClr val="1B1B1E"/>
              </a:solidFill>
              <a:highlight>
                <a:srgbClr val="FFFFFF"/>
              </a:highlight>
              <a:latin typeface="Arial"/>
              <a:ea typeface="+mn-lt"/>
              <a:cs typeface="Arial"/>
            </a:endParaRPr>
          </a:p>
        </p:txBody>
      </p:sp>
      <p:pic>
        <p:nvPicPr>
          <p:cNvPr id="4" name="Picture 3">
            <a:extLst>
              <a:ext uri="{FF2B5EF4-FFF2-40B4-BE49-F238E27FC236}">
                <a16:creationId xmlns:a16="http://schemas.microsoft.com/office/drawing/2014/main" id="{0DF059B2-7BA5-8FBA-457A-2EDF377BCD9E}"/>
              </a:ext>
            </a:extLst>
          </p:cNvPr>
          <p:cNvPicPr>
            <a:picLocks noChangeAspect="1"/>
          </p:cNvPicPr>
          <p:nvPr/>
        </p:nvPicPr>
        <p:blipFill>
          <a:blip r:embed="rId3"/>
          <a:stretch>
            <a:fillRect/>
          </a:stretch>
        </p:blipFill>
        <p:spPr>
          <a:xfrm>
            <a:off x="-1" y="0"/>
            <a:ext cx="1444172" cy="1422401"/>
          </a:xfrm>
          <a:prstGeom prst="rect">
            <a:avLst/>
          </a:prstGeom>
        </p:spPr>
      </p:pic>
      <p:sp>
        <p:nvSpPr>
          <p:cNvPr id="9" name="TextBox 8">
            <a:extLst>
              <a:ext uri="{FF2B5EF4-FFF2-40B4-BE49-F238E27FC236}">
                <a16:creationId xmlns:a16="http://schemas.microsoft.com/office/drawing/2014/main" id="{427604C5-49AE-0379-DC56-BAC144C177FF}"/>
              </a:ext>
            </a:extLst>
          </p:cNvPr>
          <p:cNvSpPr txBox="1"/>
          <p:nvPr/>
        </p:nvSpPr>
        <p:spPr>
          <a:xfrm>
            <a:off x="6627917" y="4785395"/>
            <a:ext cx="556406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solidFill>
                  <a:schemeClr val="bg1"/>
                </a:solidFill>
                <a:latin typeface="Times New Roman"/>
                <a:cs typeface="Times New Roman"/>
              </a:rPr>
              <a:t>Giảng</a:t>
            </a:r>
            <a:r>
              <a:rPr lang="en-US" dirty="0">
                <a:solidFill>
                  <a:schemeClr val="bg1"/>
                </a:solidFill>
                <a:latin typeface="Times New Roman"/>
                <a:cs typeface="Times New Roman"/>
              </a:rPr>
              <a:t> </a:t>
            </a:r>
            <a:r>
              <a:rPr lang="en-US" dirty="0" err="1">
                <a:solidFill>
                  <a:schemeClr val="bg1"/>
                </a:solidFill>
                <a:latin typeface="Times New Roman"/>
                <a:cs typeface="Times New Roman"/>
              </a:rPr>
              <a:t>viên</a:t>
            </a:r>
            <a:r>
              <a:rPr lang="en-US" dirty="0">
                <a:solidFill>
                  <a:schemeClr val="bg1"/>
                </a:solidFill>
                <a:latin typeface="Times New Roman"/>
                <a:cs typeface="Times New Roman"/>
              </a:rPr>
              <a:t> </a:t>
            </a:r>
            <a:r>
              <a:rPr lang="en-US" dirty="0" err="1">
                <a:solidFill>
                  <a:schemeClr val="bg1"/>
                </a:solidFill>
                <a:latin typeface="Times New Roman"/>
                <a:cs typeface="Times New Roman"/>
              </a:rPr>
              <a:t>hướng</a:t>
            </a:r>
            <a:r>
              <a:rPr lang="en-US" dirty="0">
                <a:solidFill>
                  <a:schemeClr val="bg1"/>
                </a:solidFill>
                <a:latin typeface="Times New Roman"/>
                <a:cs typeface="Times New Roman"/>
              </a:rPr>
              <a:t> </a:t>
            </a:r>
            <a:r>
              <a:rPr lang="en-US" dirty="0" err="1">
                <a:solidFill>
                  <a:schemeClr val="bg1"/>
                </a:solidFill>
                <a:latin typeface="Times New Roman"/>
                <a:cs typeface="Times New Roman"/>
              </a:rPr>
              <a:t>dẫn</a:t>
            </a:r>
            <a:r>
              <a:rPr lang="en-US" dirty="0">
                <a:solidFill>
                  <a:schemeClr val="bg1"/>
                </a:solidFill>
                <a:latin typeface="Times New Roman"/>
                <a:cs typeface="Times New Roman"/>
              </a:rPr>
              <a:t>: </a:t>
            </a:r>
            <a:r>
              <a:rPr lang="en-US" dirty="0" err="1">
                <a:solidFill>
                  <a:schemeClr val="bg1"/>
                </a:solidFill>
                <a:latin typeface="Times New Roman"/>
                <a:cs typeface="Times New Roman"/>
              </a:rPr>
              <a:t>Ths</a:t>
            </a:r>
            <a:r>
              <a:rPr lang="en-US" dirty="0">
                <a:solidFill>
                  <a:schemeClr val="bg1"/>
                </a:solidFill>
                <a:latin typeface="Times New Roman"/>
                <a:cs typeface="Times New Roman"/>
              </a:rPr>
              <a:t>. Trịnh Quốc Việt</a:t>
            </a:r>
          </a:p>
          <a:p>
            <a:r>
              <a:rPr lang="en-US" dirty="0">
                <a:solidFill>
                  <a:schemeClr val="bg1"/>
                </a:solidFill>
                <a:latin typeface="Times New Roman"/>
                <a:cs typeface="Times New Roman"/>
              </a:rPr>
              <a:t>Sinh </a:t>
            </a:r>
            <a:r>
              <a:rPr lang="en-US" dirty="0" err="1">
                <a:solidFill>
                  <a:schemeClr val="bg1"/>
                </a:solidFill>
                <a:latin typeface="Times New Roman"/>
                <a:cs typeface="Times New Roman"/>
              </a:rPr>
              <a:t>viên</a:t>
            </a:r>
            <a:r>
              <a:rPr lang="en-US" dirty="0">
                <a:solidFill>
                  <a:schemeClr val="bg1"/>
                </a:solidFill>
                <a:latin typeface="Times New Roman"/>
                <a:cs typeface="Times New Roman"/>
              </a:rPr>
              <a:t> </a:t>
            </a:r>
            <a:r>
              <a:rPr lang="en-US" dirty="0" err="1">
                <a:solidFill>
                  <a:schemeClr val="bg1"/>
                </a:solidFill>
                <a:latin typeface="Times New Roman"/>
                <a:cs typeface="Times New Roman"/>
              </a:rPr>
              <a:t>thực</a:t>
            </a:r>
            <a:r>
              <a:rPr lang="en-US" dirty="0">
                <a:solidFill>
                  <a:schemeClr val="bg1"/>
                </a:solidFill>
                <a:latin typeface="Times New Roman"/>
                <a:cs typeface="Times New Roman"/>
              </a:rPr>
              <a:t> </a:t>
            </a:r>
            <a:r>
              <a:rPr lang="en-US" dirty="0" err="1">
                <a:solidFill>
                  <a:schemeClr val="bg1"/>
                </a:solidFill>
                <a:latin typeface="Times New Roman"/>
                <a:cs typeface="Times New Roman"/>
              </a:rPr>
              <a:t>hiện</a:t>
            </a:r>
            <a:r>
              <a:rPr lang="en-US" dirty="0">
                <a:solidFill>
                  <a:schemeClr val="bg1"/>
                </a:solidFill>
                <a:latin typeface="Times New Roman"/>
                <a:cs typeface="Times New Roman"/>
              </a:rPr>
              <a:t>: Trần Tấn Hưng (MSSV: 110122081)</a:t>
            </a:r>
          </a:p>
          <a:p>
            <a:r>
              <a:rPr lang="en-US" dirty="0" err="1">
                <a:solidFill>
                  <a:schemeClr val="bg1"/>
                </a:solidFill>
                <a:latin typeface="Times New Roman"/>
                <a:cs typeface="Times New Roman"/>
              </a:rPr>
              <a:t>Lớp</a:t>
            </a:r>
            <a:r>
              <a:rPr lang="en-US" dirty="0">
                <a:solidFill>
                  <a:schemeClr val="bg1"/>
                </a:solidFill>
                <a:latin typeface="Times New Roman"/>
                <a:cs typeface="Times New Roman"/>
              </a:rPr>
              <a:t>/</a:t>
            </a:r>
            <a:r>
              <a:rPr lang="en-US" dirty="0" err="1">
                <a:solidFill>
                  <a:schemeClr val="bg1"/>
                </a:solidFill>
                <a:latin typeface="Times New Roman"/>
                <a:cs typeface="Times New Roman"/>
              </a:rPr>
              <a:t>Khóa</a:t>
            </a:r>
            <a:r>
              <a:rPr lang="en-US" dirty="0">
                <a:solidFill>
                  <a:schemeClr val="bg1"/>
                </a:solidFill>
                <a:latin typeface="Times New Roman"/>
                <a:cs typeface="Times New Roman"/>
              </a:rPr>
              <a:t>: DA22TTD / 2022</a:t>
            </a:r>
          </a:p>
        </p:txBody>
      </p:sp>
    </p:spTree>
    <p:extLst>
      <p:ext uri="{BB962C8B-B14F-4D97-AF65-F5344CB8AC3E}">
        <p14:creationId xmlns:p14="http://schemas.microsoft.com/office/powerpoint/2010/main" val="2567927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666529-1120-6721-B3B7-AA8E06075DBA}"/>
              </a:ext>
            </a:extLst>
          </p:cNvPr>
          <p:cNvSpPr>
            <a:spLocks noGrp="1"/>
          </p:cNvSpPr>
          <p:nvPr>
            <p:ph type="title"/>
          </p:nvPr>
        </p:nvSpPr>
        <p:spPr>
          <a:xfrm>
            <a:off x="640080" y="1334112"/>
            <a:ext cx="4368602" cy="759413"/>
          </a:xfrm>
        </p:spPr>
        <p:txBody>
          <a:bodyPr anchor="b">
            <a:normAutofit/>
          </a:bodyPr>
          <a:lstStyle/>
          <a:p>
            <a:r>
              <a:rPr lang="en-US" sz="3200" dirty="0" err="1">
                <a:latin typeface="Calibri"/>
                <a:ea typeface="Calibri"/>
                <a:cs typeface="Calibri"/>
              </a:rPr>
              <a:t>Nội</a:t>
            </a:r>
            <a:r>
              <a:rPr lang="en-US" sz="3200" dirty="0">
                <a:latin typeface="Calibri"/>
                <a:ea typeface="Calibri"/>
                <a:cs typeface="Calibri"/>
              </a:rPr>
              <a:t> dung:</a:t>
            </a: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1D23C23-C253-1872-2928-961F0DCC1A82}"/>
              </a:ext>
            </a:extLst>
          </p:cNvPr>
          <p:cNvSpPr>
            <a:spLocks noGrp="1"/>
          </p:cNvSpPr>
          <p:nvPr>
            <p:ph idx="1"/>
          </p:nvPr>
        </p:nvSpPr>
        <p:spPr>
          <a:xfrm>
            <a:off x="400595" y="2872899"/>
            <a:ext cx="5063645" cy="2616726"/>
          </a:xfrm>
        </p:spPr>
        <p:txBody>
          <a:bodyPr vert="horz" lIns="91440" tIns="45720" rIns="91440" bIns="45720" rtlCol="0" anchor="t">
            <a:noAutofit/>
          </a:bodyPr>
          <a:lstStyle/>
          <a:p>
            <a:r>
              <a:rPr lang="en-US" sz="2000" dirty="0">
                <a:latin typeface="Calibri"/>
                <a:ea typeface="Calibri"/>
                <a:cs typeface="Calibri"/>
              </a:rPr>
              <a:t>Lý do </a:t>
            </a:r>
            <a:r>
              <a:rPr lang="en-US" sz="2000" dirty="0" err="1">
                <a:latin typeface="Calibri"/>
                <a:ea typeface="Calibri"/>
                <a:cs typeface="Calibri"/>
              </a:rPr>
              <a:t>chọn</a:t>
            </a:r>
            <a:r>
              <a:rPr lang="en-US" sz="2000" dirty="0">
                <a:latin typeface="Calibri"/>
                <a:ea typeface="Calibri"/>
                <a:cs typeface="Calibri"/>
              </a:rPr>
              <a:t> </a:t>
            </a:r>
            <a:r>
              <a:rPr lang="en-US" sz="2000" dirty="0" err="1">
                <a:latin typeface="Calibri"/>
                <a:ea typeface="Calibri"/>
                <a:cs typeface="Calibri"/>
              </a:rPr>
              <a:t>đề</a:t>
            </a:r>
            <a:r>
              <a:rPr lang="en-US" sz="2000" dirty="0">
                <a:latin typeface="Calibri"/>
                <a:ea typeface="Calibri"/>
                <a:cs typeface="Calibri"/>
              </a:rPr>
              <a:t> </a:t>
            </a:r>
            <a:r>
              <a:rPr lang="en-US" sz="2000" dirty="0" err="1">
                <a:latin typeface="Calibri"/>
                <a:ea typeface="Calibri"/>
                <a:cs typeface="Calibri"/>
              </a:rPr>
              <a:t>tài</a:t>
            </a:r>
            <a:r>
              <a:rPr lang="en-US" sz="2000" dirty="0">
                <a:latin typeface="Calibri"/>
                <a:ea typeface="Calibri"/>
                <a:cs typeface="Calibri"/>
              </a:rPr>
              <a:t> &amp; </a:t>
            </a:r>
            <a:r>
              <a:rPr lang="en-US" sz="2000" dirty="0" err="1">
                <a:latin typeface="Calibri"/>
                <a:ea typeface="Calibri"/>
                <a:cs typeface="Calibri"/>
              </a:rPr>
              <a:t>Mục</a:t>
            </a:r>
            <a:r>
              <a:rPr lang="en-US" sz="2000" dirty="0">
                <a:latin typeface="Calibri"/>
                <a:ea typeface="Calibri"/>
                <a:cs typeface="Calibri"/>
              </a:rPr>
              <a:t> </a:t>
            </a:r>
            <a:r>
              <a:rPr lang="en-US" sz="2000" dirty="0" err="1">
                <a:latin typeface="Calibri"/>
                <a:ea typeface="Calibri"/>
                <a:cs typeface="Calibri"/>
              </a:rPr>
              <a:t>tiêu</a:t>
            </a:r>
            <a:r>
              <a:rPr lang="en-US" sz="2000" dirty="0">
                <a:latin typeface="Calibri"/>
                <a:ea typeface="Calibri"/>
                <a:cs typeface="Calibri"/>
              </a:rPr>
              <a:t> </a:t>
            </a:r>
            <a:r>
              <a:rPr lang="en-US" sz="2000" dirty="0" err="1">
                <a:latin typeface="Calibri"/>
                <a:ea typeface="Calibri"/>
                <a:cs typeface="Calibri"/>
              </a:rPr>
              <a:t>nghiên</a:t>
            </a:r>
            <a:r>
              <a:rPr lang="en-US" sz="2000" dirty="0">
                <a:latin typeface="Calibri"/>
                <a:ea typeface="Calibri"/>
                <a:cs typeface="Calibri"/>
              </a:rPr>
              <a:t> </a:t>
            </a:r>
            <a:r>
              <a:rPr lang="en-US" sz="2000" dirty="0" err="1">
                <a:latin typeface="Calibri"/>
                <a:ea typeface="Calibri"/>
                <a:cs typeface="Calibri"/>
              </a:rPr>
              <a:t>cứu</a:t>
            </a:r>
            <a:endParaRPr lang="en-US" sz="2000" dirty="0">
              <a:latin typeface="Calibri"/>
              <a:ea typeface="Calibri"/>
              <a:cs typeface="Calibri"/>
            </a:endParaRPr>
          </a:p>
          <a:p>
            <a:r>
              <a:rPr lang="en-US" sz="2000" dirty="0" err="1">
                <a:latin typeface="Calibri"/>
                <a:ea typeface="Calibri"/>
                <a:cs typeface="Calibri"/>
              </a:rPr>
              <a:t>Cơ</a:t>
            </a:r>
            <a:r>
              <a:rPr lang="en-US" sz="2000" dirty="0">
                <a:latin typeface="Calibri"/>
                <a:ea typeface="Calibri"/>
                <a:cs typeface="Calibri"/>
              </a:rPr>
              <a:t> </a:t>
            </a:r>
            <a:r>
              <a:rPr lang="en-US" sz="2000" dirty="0" err="1">
                <a:latin typeface="Calibri"/>
                <a:ea typeface="Calibri"/>
                <a:cs typeface="Calibri"/>
              </a:rPr>
              <a:t>sở</a:t>
            </a:r>
            <a:r>
              <a:rPr lang="en-US" sz="2000" dirty="0">
                <a:latin typeface="Calibri"/>
                <a:ea typeface="Calibri"/>
                <a:cs typeface="Calibri"/>
              </a:rPr>
              <a:t> </a:t>
            </a:r>
            <a:r>
              <a:rPr lang="en-US" sz="2000" dirty="0" err="1">
                <a:latin typeface="Calibri"/>
                <a:ea typeface="Calibri"/>
                <a:cs typeface="Calibri"/>
              </a:rPr>
              <a:t>lý</a:t>
            </a:r>
            <a:r>
              <a:rPr lang="en-US" sz="2000" dirty="0">
                <a:latin typeface="Calibri"/>
                <a:ea typeface="Calibri"/>
                <a:cs typeface="Calibri"/>
              </a:rPr>
              <a:t> </a:t>
            </a:r>
            <a:r>
              <a:rPr lang="en-US" sz="2000" dirty="0" err="1">
                <a:latin typeface="Calibri"/>
                <a:ea typeface="Calibri"/>
                <a:cs typeface="Calibri"/>
              </a:rPr>
              <a:t>thuyết</a:t>
            </a:r>
            <a:r>
              <a:rPr lang="en-US" sz="2000" dirty="0">
                <a:latin typeface="Calibri"/>
                <a:ea typeface="Calibri"/>
                <a:cs typeface="Calibri"/>
              </a:rPr>
              <a:t> &amp; Công </a:t>
            </a:r>
            <a:r>
              <a:rPr lang="en-US" sz="2000" dirty="0" err="1">
                <a:latin typeface="Calibri"/>
                <a:ea typeface="Calibri"/>
                <a:cs typeface="Calibri"/>
              </a:rPr>
              <a:t>nghệ</a:t>
            </a:r>
            <a:r>
              <a:rPr lang="en-US" sz="2000" dirty="0">
                <a:latin typeface="Calibri"/>
                <a:ea typeface="Calibri"/>
                <a:cs typeface="Calibri"/>
              </a:rPr>
              <a:t> </a:t>
            </a:r>
            <a:r>
              <a:rPr lang="en-US" sz="2000" dirty="0" err="1">
                <a:latin typeface="Calibri"/>
                <a:ea typeface="Calibri"/>
                <a:cs typeface="Calibri"/>
              </a:rPr>
              <a:t>sử</a:t>
            </a:r>
            <a:r>
              <a:rPr lang="en-US" sz="2000" dirty="0">
                <a:latin typeface="Calibri"/>
                <a:ea typeface="Calibri"/>
                <a:cs typeface="Calibri"/>
              </a:rPr>
              <a:t> </a:t>
            </a:r>
            <a:r>
              <a:rPr lang="en-US" sz="2000" dirty="0" err="1">
                <a:latin typeface="Calibri"/>
                <a:ea typeface="Calibri"/>
                <a:cs typeface="Calibri"/>
              </a:rPr>
              <a:t>dụng</a:t>
            </a:r>
            <a:endParaRPr lang="en-US" sz="2000" dirty="0">
              <a:latin typeface="Calibri"/>
              <a:ea typeface="Calibri"/>
              <a:cs typeface="Calibri"/>
            </a:endParaRPr>
          </a:p>
          <a:p>
            <a:r>
              <a:rPr lang="en-US" sz="2000" dirty="0" err="1">
                <a:latin typeface="Calibri"/>
                <a:ea typeface="Calibri"/>
                <a:cs typeface="Calibri"/>
              </a:rPr>
              <a:t>Phân</a:t>
            </a:r>
            <a:r>
              <a:rPr lang="en-US" sz="2000" dirty="0">
                <a:latin typeface="Calibri"/>
                <a:ea typeface="Calibri"/>
                <a:cs typeface="Calibri"/>
              </a:rPr>
              <a:t> </a:t>
            </a:r>
            <a:r>
              <a:rPr lang="en-US" sz="2000" dirty="0" err="1">
                <a:latin typeface="Calibri"/>
                <a:ea typeface="Calibri"/>
                <a:cs typeface="Calibri"/>
              </a:rPr>
              <a:t>tích</a:t>
            </a:r>
            <a:r>
              <a:rPr lang="en-US" sz="2000" dirty="0">
                <a:latin typeface="Calibri"/>
                <a:ea typeface="Calibri"/>
                <a:cs typeface="Calibri"/>
              </a:rPr>
              <a:t> &amp; </a:t>
            </a:r>
            <a:r>
              <a:rPr lang="en-US" sz="2000" dirty="0" err="1">
                <a:latin typeface="Calibri"/>
                <a:ea typeface="Calibri"/>
                <a:cs typeface="Calibri"/>
              </a:rPr>
              <a:t>Thiết</a:t>
            </a:r>
            <a:r>
              <a:rPr lang="en-US" sz="2000" dirty="0">
                <a:latin typeface="Calibri"/>
                <a:ea typeface="Calibri"/>
                <a:cs typeface="Calibri"/>
              </a:rPr>
              <a:t> </a:t>
            </a:r>
            <a:r>
              <a:rPr lang="en-US" sz="2000" dirty="0" err="1">
                <a:latin typeface="Calibri"/>
                <a:ea typeface="Calibri"/>
                <a:cs typeface="Calibri"/>
              </a:rPr>
              <a:t>kế</a:t>
            </a:r>
            <a:r>
              <a:rPr lang="en-US" sz="2000" dirty="0">
                <a:latin typeface="Calibri"/>
                <a:ea typeface="Calibri"/>
                <a:cs typeface="Calibri"/>
              </a:rPr>
              <a:t> </a:t>
            </a:r>
            <a:r>
              <a:rPr lang="en-US" sz="2000" dirty="0" err="1">
                <a:latin typeface="Calibri"/>
                <a:ea typeface="Calibri"/>
                <a:cs typeface="Calibri"/>
              </a:rPr>
              <a:t>hệ</a:t>
            </a:r>
            <a:r>
              <a:rPr lang="en-US" sz="2000" dirty="0">
                <a:latin typeface="Calibri"/>
                <a:ea typeface="Calibri"/>
                <a:cs typeface="Calibri"/>
              </a:rPr>
              <a:t> </a:t>
            </a:r>
            <a:r>
              <a:rPr lang="en-US" sz="2000" dirty="0" err="1">
                <a:latin typeface="Calibri"/>
                <a:ea typeface="Calibri"/>
                <a:cs typeface="Calibri"/>
              </a:rPr>
              <a:t>thống</a:t>
            </a:r>
            <a:endParaRPr lang="en-US" sz="2000" dirty="0">
              <a:latin typeface="Calibri"/>
              <a:ea typeface="Calibri"/>
              <a:cs typeface="Calibri"/>
            </a:endParaRPr>
          </a:p>
          <a:p>
            <a:r>
              <a:rPr lang="en-US" sz="2000" dirty="0" err="1">
                <a:latin typeface="Calibri"/>
                <a:ea typeface="Calibri"/>
                <a:cs typeface="Calibri"/>
              </a:rPr>
              <a:t>Quá</a:t>
            </a:r>
            <a:r>
              <a:rPr lang="en-US" sz="2000" dirty="0">
                <a:latin typeface="Calibri"/>
                <a:ea typeface="Calibri"/>
                <a:cs typeface="Calibri"/>
              </a:rPr>
              <a:t> </a:t>
            </a:r>
            <a:r>
              <a:rPr lang="en-US" sz="2000" dirty="0" err="1">
                <a:latin typeface="Calibri"/>
                <a:ea typeface="Calibri"/>
                <a:cs typeface="Calibri"/>
              </a:rPr>
              <a:t>trình</a:t>
            </a:r>
            <a:r>
              <a:rPr lang="en-US" sz="2000" dirty="0">
                <a:latin typeface="Calibri"/>
                <a:ea typeface="Calibri"/>
                <a:cs typeface="Calibri"/>
              </a:rPr>
              <a:t> </a:t>
            </a:r>
            <a:r>
              <a:rPr lang="en-US" sz="2000" dirty="0" err="1">
                <a:latin typeface="Calibri"/>
                <a:ea typeface="Calibri"/>
                <a:cs typeface="Calibri"/>
              </a:rPr>
              <a:t>hiện</a:t>
            </a:r>
            <a:r>
              <a:rPr lang="en-US" sz="2000" dirty="0">
                <a:latin typeface="Calibri"/>
                <a:ea typeface="Calibri"/>
                <a:cs typeface="Calibri"/>
              </a:rPr>
              <a:t> </a:t>
            </a:r>
            <a:r>
              <a:rPr lang="en-US" sz="2000" dirty="0" err="1">
                <a:latin typeface="Calibri"/>
                <a:ea typeface="Calibri"/>
                <a:cs typeface="Calibri"/>
              </a:rPr>
              <a:t>thực</a:t>
            </a:r>
            <a:r>
              <a:rPr lang="en-US" sz="2000" dirty="0">
                <a:latin typeface="Calibri"/>
                <a:ea typeface="Calibri"/>
                <a:cs typeface="Calibri"/>
              </a:rPr>
              <a:t> </a:t>
            </a:r>
            <a:r>
              <a:rPr lang="en-US" sz="2000" dirty="0" err="1">
                <a:latin typeface="Calibri"/>
                <a:ea typeface="Calibri"/>
                <a:cs typeface="Calibri"/>
              </a:rPr>
              <a:t>hóa</a:t>
            </a:r>
            <a:r>
              <a:rPr lang="en-US" sz="2000" dirty="0">
                <a:latin typeface="Calibri"/>
                <a:ea typeface="Calibri"/>
                <a:cs typeface="Calibri"/>
              </a:rPr>
              <a:t> (</a:t>
            </a:r>
            <a:r>
              <a:rPr lang="en-US" sz="2000" dirty="0" err="1">
                <a:latin typeface="Calibri"/>
                <a:ea typeface="Calibri"/>
                <a:cs typeface="Calibri"/>
              </a:rPr>
              <a:t>Kiến</a:t>
            </a:r>
            <a:r>
              <a:rPr lang="en-US" sz="2000" dirty="0">
                <a:latin typeface="Calibri"/>
                <a:ea typeface="Calibri"/>
                <a:cs typeface="Calibri"/>
              </a:rPr>
              <a:t> </a:t>
            </a:r>
            <a:r>
              <a:rPr lang="en-US" sz="2000" dirty="0" err="1">
                <a:latin typeface="Calibri"/>
                <a:ea typeface="Calibri"/>
                <a:cs typeface="Calibri"/>
              </a:rPr>
              <a:t>trúc</a:t>
            </a:r>
            <a:r>
              <a:rPr lang="en-US" sz="2000" dirty="0">
                <a:latin typeface="Calibri"/>
                <a:ea typeface="Calibri"/>
                <a:cs typeface="Calibri"/>
              </a:rPr>
              <a:t> &amp; RAG)</a:t>
            </a:r>
          </a:p>
          <a:p>
            <a:r>
              <a:rPr lang="en-US" sz="2000" dirty="0" err="1">
                <a:latin typeface="Calibri"/>
                <a:ea typeface="Calibri"/>
                <a:cs typeface="Calibri"/>
              </a:rPr>
              <a:t>Kết</a:t>
            </a:r>
            <a:r>
              <a:rPr lang="en-US" sz="2000" dirty="0">
                <a:latin typeface="Calibri"/>
                <a:ea typeface="Calibri"/>
                <a:cs typeface="Calibri"/>
              </a:rPr>
              <a:t> </a:t>
            </a:r>
            <a:r>
              <a:rPr lang="en-US" sz="2000" dirty="0" err="1">
                <a:latin typeface="Calibri"/>
                <a:ea typeface="Calibri"/>
                <a:cs typeface="Calibri"/>
              </a:rPr>
              <a:t>quả</a:t>
            </a:r>
            <a:r>
              <a:rPr lang="en-US" sz="2000" dirty="0">
                <a:latin typeface="Calibri"/>
                <a:ea typeface="Calibri"/>
                <a:cs typeface="Calibri"/>
              </a:rPr>
              <a:t> </a:t>
            </a:r>
            <a:r>
              <a:rPr lang="en-US" sz="2000" dirty="0" err="1">
                <a:latin typeface="Calibri"/>
                <a:ea typeface="Calibri"/>
                <a:cs typeface="Calibri"/>
              </a:rPr>
              <a:t>thực</a:t>
            </a:r>
            <a:r>
              <a:rPr lang="en-US" sz="2000" dirty="0">
                <a:latin typeface="Calibri"/>
                <a:ea typeface="Calibri"/>
                <a:cs typeface="Calibri"/>
              </a:rPr>
              <a:t> </a:t>
            </a:r>
            <a:r>
              <a:rPr lang="en-US" sz="2000" dirty="0" err="1">
                <a:latin typeface="Calibri"/>
                <a:ea typeface="Calibri"/>
                <a:cs typeface="Calibri"/>
              </a:rPr>
              <a:t>nghiệm</a:t>
            </a:r>
            <a:endParaRPr lang="en-US" sz="2000" dirty="0">
              <a:latin typeface="Calibri"/>
              <a:ea typeface="Calibri"/>
              <a:cs typeface="Calibri"/>
            </a:endParaRPr>
          </a:p>
          <a:p>
            <a:r>
              <a:rPr lang="en-US" sz="2000" dirty="0" err="1">
                <a:latin typeface="Calibri"/>
                <a:ea typeface="Calibri"/>
                <a:cs typeface="Calibri"/>
              </a:rPr>
              <a:t>Kết</a:t>
            </a:r>
            <a:r>
              <a:rPr lang="en-US" sz="2000" dirty="0">
                <a:latin typeface="Calibri"/>
                <a:ea typeface="Calibri"/>
                <a:cs typeface="Calibri"/>
              </a:rPr>
              <a:t> </a:t>
            </a:r>
            <a:r>
              <a:rPr lang="en-US" sz="2000" dirty="0" err="1">
                <a:latin typeface="Calibri"/>
                <a:ea typeface="Calibri"/>
                <a:cs typeface="Calibri"/>
              </a:rPr>
              <a:t>luận</a:t>
            </a:r>
            <a:r>
              <a:rPr lang="en-US" sz="2000" dirty="0">
                <a:latin typeface="Calibri"/>
                <a:ea typeface="Calibri"/>
                <a:cs typeface="Calibri"/>
              </a:rPr>
              <a:t> &amp; </a:t>
            </a:r>
            <a:r>
              <a:rPr lang="en-US" sz="2000" dirty="0" err="1">
                <a:latin typeface="Calibri"/>
                <a:ea typeface="Calibri"/>
                <a:cs typeface="Calibri"/>
              </a:rPr>
              <a:t>Hướng</a:t>
            </a:r>
            <a:r>
              <a:rPr lang="en-US" sz="2000" dirty="0">
                <a:latin typeface="Calibri"/>
                <a:ea typeface="Calibri"/>
                <a:cs typeface="Calibri"/>
              </a:rPr>
              <a:t> </a:t>
            </a:r>
            <a:r>
              <a:rPr lang="en-US" sz="2000" dirty="0" err="1">
                <a:latin typeface="Calibri"/>
                <a:ea typeface="Calibri"/>
                <a:cs typeface="Calibri"/>
              </a:rPr>
              <a:t>phát</a:t>
            </a:r>
            <a:r>
              <a:rPr lang="en-US" sz="2000" dirty="0">
                <a:latin typeface="Calibri"/>
                <a:ea typeface="Calibri"/>
                <a:cs typeface="Calibri"/>
              </a:rPr>
              <a:t> </a:t>
            </a:r>
            <a:r>
              <a:rPr lang="en-US" sz="2000" dirty="0" err="1">
                <a:latin typeface="Calibri"/>
                <a:ea typeface="Calibri"/>
                <a:cs typeface="Calibri"/>
              </a:rPr>
              <a:t>triển</a:t>
            </a:r>
            <a:endParaRPr lang="en-US" sz="2000">
              <a:latin typeface="Calibri"/>
              <a:ea typeface="Calibri"/>
              <a:cs typeface="Calibri"/>
            </a:endParaRPr>
          </a:p>
          <a:p>
            <a:endParaRPr lang="en-US" sz="2000"/>
          </a:p>
        </p:txBody>
      </p:sp>
      <p:pic>
        <p:nvPicPr>
          <p:cNvPr id="4" name="Picture 3" descr="Hình ảnh Những Cuốn Sách Và Phim Hoạt Hình Tuyệt đẹp PNG , Những Cuốn Sách Và Phim Hoạt Hình Tuyệt đẹp PNG , Sách, Đọc PNG miễn phí tải tập tin">
            <a:extLst>
              <a:ext uri="{FF2B5EF4-FFF2-40B4-BE49-F238E27FC236}">
                <a16:creationId xmlns:a16="http://schemas.microsoft.com/office/drawing/2014/main" id="{605024C1-3782-F7BB-FA9F-42F7EA2B16EA}"/>
              </a:ext>
            </a:extLst>
          </p:cNvPr>
          <p:cNvPicPr>
            <a:picLocks noChangeAspect="1"/>
          </p:cNvPicPr>
          <p:nvPr/>
        </p:nvPicPr>
        <p:blipFill>
          <a:blip r:embed="rId2"/>
          <a:srcRect r="11484"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712334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C32348-F6BC-5304-7EE7-E7D3E38A10DE}"/>
              </a:ext>
            </a:extLst>
          </p:cNvPr>
          <p:cNvSpPr>
            <a:spLocks noGrp="1"/>
          </p:cNvSpPr>
          <p:nvPr>
            <p:ph type="title"/>
          </p:nvPr>
        </p:nvSpPr>
        <p:spPr>
          <a:xfrm>
            <a:off x="5297762" y="1149240"/>
            <a:ext cx="6251110" cy="1558110"/>
          </a:xfrm>
        </p:spPr>
        <p:txBody>
          <a:bodyPr anchor="b">
            <a:normAutofit/>
          </a:bodyPr>
          <a:lstStyle/>
          <a:p>
            <a:r>
              <a:rPr lang="en-US" sz="3200" dirty="0">
                <a:highlight>
                  <a:srgbClr val="FFFFFF"/>
                </a:highlight>
                <a:latin typeface="Calibri"/>
                <a:ea typeface="Calibri"/>
                <a:cs typeface="Calibri"/>
              </a:rPr>
              <a:t>1. Lý do </a:t>
            </a:r>
            <a:r>
              <a:rPr lang="en-US" sz="3200" dirty="0" err="1">
                <a:highlight>
                  <a:srgbClr val="FFFFFF"/>
                </a:highlight>
                <a:latin typeface="Calibri"/>
                <a:ea typeface="Calibri"/>
                <a:cs typeface="Calibri"/>
              </a:rPr>
              <a:t>chọn</a:t>
            </a:r>
            <a:r>
              <a:rPr lang="en-US" sz="3200" dirty="0">
                <a:highlight>
                  <a:srgbClr val="FFFFFF"/>
                </a:highlight>
                <a:latin typeface="Calibri"/>
                <a:ea typeface="Calibri"/>
                <a:cs typeface="Calibri"/>
              </a:rPr>
              <a:t> </a:t>
            </a:r>
            <a:r>
              <a:rPr lang="en-US" sz="3200" dirty="0" err="1">
                <a:highlight>
                  <a:srgbClr val="FFFFFF"/>
                </a:highlight>
                <a:latin typeface="Calibri"/>
                <a:ea typeface="Calibri"/>
                <a:cs typeface="Calibri"/>
              </a:rPr>
              <a:t>đề</a:t>
            </a:r>
            <a:r>
              <a:rPr lang="en-US" sz="3200" dirty="0">
                <a:highlight>
                  <a:srgbClr val="FFFFFF"/>
                </a:highlight>
                <a:latin typeface="Calibri"/>
                <a:ea typeface="Calibri"/>
                <a:cs typeface="Calibri"/>
              </a:rPr>
              <a:t> </a:t>
            </a:r>
            <a:r>
              <a:rPr lang="en-US" sz="3200" dirty="0" err="1">
                <a:highlight>
                  <a:srgbClr val="FFFFFF"/>
                </a:highlight>
                <a:latin typeface="Calibri"/>
                <a:ea typeface="Calibri"/>
                <a:cs typeface="Calibri"/>
              </a:rPr>
              <a:t>tài</a:t>
            </a:r>
            <a:endParaRPr lang="en-US" sz="3200" dirty="0" err="1">
              <a:latin typeface="Calibri"/>
              <a:ea typeface="Calibri"/>
              <a:cs typeface="Calibri"/>
            </a:endParaRPr>
          </a:p>
          <a:p>
            <a:endParaRPr lang="en-US" sz="5400"/>
          </a:p>
        </p:txBody>
      </p:sp>
      <p:pic>
        <p:nvPicPr>
          <p:cNvPr id="4" name="Picture 3" descr="Hình ảnh Bóng đèn Hoạt Hình Màu Vàng PNG , Bóng đèn Hoạt Hình Màu Vàng PNG  , Bóng đèn Màu Vàng, Chữ đen PNG miễn phí tải tập tin PSDComment và Vector">
            <a:extLst>
              <a:ext uri="{FF2B5EF4-FFF2-40B4-BE49-F238E27FC236}">
                <a16:creationId xmlns:a16="http://schemas.microsoft.com/office/drawing/2014/main" id="{7E4A4692-17CC-D12E-F7CB-0A83A3AB4601}"/>
              </a:ext>
            </a:extLst>
          </p:cNvPr>
          <p:cNvPicPr>
            <a:picLocks noChangeAspect="1"/>
          </p:cNvPicPr>
          <p:nvPr/>
        </p:nvPicPr>
        <p:blipFill>
          <a:blip r:embed="rId2"/>
          <a:srcRect l="15264" r="16825"/>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2E07BA0-F1ED-C3EE-9A49-1F69B8AE9AB8}"/>
              </a:ext>
            </a:extLst>
          </p:cNvPr>
          <p:cNvSpPr>
            <a:spLocks noGrp="1"/>
          </p:cNvSpPr>
          <p:nvPr>
            <p:ph idx="1"/>
          </p:nvPr>
        </p:nvSpPr>
        <p:spPr>
          <a:xfrm>
            <a:off x="4637362" y="2706624"/>
            <a:ext cx="7542881" cy="3483864"/>
          </a:xfrm>
        </p:spPr>
        <p:txBody>
          <a:bodyPr vert="horz" lIns="91440" tIns="45720" rIns="91440" bIns="45720" rtlCol="0" anchor="t">
            <a:noAutofit/>
          </a:bodyPr>
          <a:lstStyle/>
          <a:p>
            <a:r>
              <a:rPr lang="en-US" sz="2000" b="1" dirty="0" err="1">
                <a:highlight>
                  <a:srgbClr val="FFFFFF"/>
                </a:highlight>
                <a:latin typeface="Calibri"/>
                <a:ea typeface="Calibri"/>
                <a:cs typeface="Calibri"/>
              </a:rPr>
              <a:t>Bối</a:t>
            </a:r>
            <a:r>
              <a:rPr lang="en-US" sz="2000" b="1" dirty="0">
                <a:highlight>
                  <a:srgbClr val="FFFFFF"/>
                </a:highlight>
                <a:latin typeface="Calibri"/>
                <a:ea typeface="Calibri"/>
                <a:cs typeface="Calibri"/>
              </a:rPr>
              <a:t> </a:t>
            </a:r>
            <a:r>
              <a:rPr lang="en-US" sz="2000" b="1" dirty="0" err="1">
                <a:highlight>
                  <a:srgbClr val="FFFFFF"/>
                </a:highlight>
                <a:latin typeface="Calibri"/>
                <a:ea typeface="Calibri"/>
                <a:cs typeface="Calibri"/>
              </a:rPr>
              <a:t>cảnh</a:t>
            </a:r>
            <a:r>
              <a:rPr lang="en-US" sz="2000" b="1" dirty="0">
                <a:highlight>
                  <a:srgbClr val="FFFFFF"/>
                </a:highlight>
                <a:latin typeface="Calibri"/>
                <a:ea typeface="Calibri"/>
                <a:cs typeface="Calibri"/>
              </a:rPr>
              <a:t>:</a:t>
            </a:r>
            <a:r>
              <a:rPr lang="en-US" sz="2000" dirty="0">
                <a:highlight>
                  <a:srgbClr val="FFFFFF"/>
                </a:highlight>
                <a:latin typeface="Calibri"/>
                <a:ea typeface="Calibri"/>
                <a:cs typeface="Calibri"/>
              </a:rPr>
              <a:t> Moodle </a:t>
            </a:r>
            <a:r>
              <a:rPr lang="en-US" sz="2000" dirty="0" err="1">
                <a:highlight>
                  <a:srgbClr val="FFFFFF"/>
                </a:highlight>
                <a:latin typeface="Calibri"/>
                <a:ea typeface="Calibri"/>
                <a:cs typeface="Calibri"/>
              </a:rPr>
              <a:t>là</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nền</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tảng</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cốt</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lõi</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trong</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đào</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tạo</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trực</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tuyến</a:t>
            </a:r>
            <a:r>
              <a:rPr lang="en-US" sz="2000" dirty="0">
                <a:highlight>
                  <a:srgbClr val="FFFFFF"/>
                </a:highlight>
                <a:latin typeface="Calibri"/>
                <a:ea typeface="Calibri"/>
                <a:cs typeface="Calibri"/>
              </a:rPr>
              <a:t>. Khối </a:t>
            </a:r>
            <a:r>
              <a:rPr lang="en-US" sz="2000" dirty="0" err="1">
                <a:highlight>
                  <a:srgbClr val="FFFFFF"/>
                </a:highlight>
                <a:latin typeface="Calibri"/>
                <a:ea typeface="Calibri"/>
                <a:cs typeface="Calibri"/>
              </a:rPr>
              <a:t>lượng</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thông</a:t>
            </a:r>
            <a:r>
              <a:rPr lang="en-US" sz="2000" dirty="0">
                <a:highlight>
                  <a:srgbClr val="FFFFFF"/>
                </a:highlight>
                <a:latin typeface="Calibri"/>
                <a:ea typeface="Calibri"/>
                <a:cs typeface="Calibri"/>
              </a:rPr>
              <a:t> tin </a:t>
            </a:r>
            <a:r>
              <a:rPr lang="en-US" sz="2000" dirty="0" err="1">
                <a:highlight>
                  <a:srgbClr val="FFFFFF"/>
                </a:highlight>
                <a:latin typeface="Calibri"/>
                <a:ea typeface="Calibri"/>
                <a:cs typeface="Calibri"/>
              </a:rPr>
              <a:t>khổng</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lồ</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tài</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liệu</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bài</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tập</a:t>
            </a:r>
            <a:r>
              <a:rPr lang="en-US" sz="2000" dirty="0">
                <a:highlight>
                  <a:srgbClr val="FFFFFF"/>
                </a:highlight>
                <a:latin typeface="Calibri"/>
                <a:ea typeface="Calibri"/>
                <a:cs typeface="Calibri"/>
              </a:rPr>
              <a:t>, deadline, </a:t>
            </a:r>
            <a:r>
              <a:rPr lang="en-US" sz="2000" dirty="0" err="1">
                <a:highlight>
                  <a:srgbClr val="FFFFFF"/>
                </a:highlight>
                <a:latin typeface="Calibri"/>
                <a:ea typeface="Calibri"/>
                <a:cs typeface="Calibri"/>
              </a:rPr>
              <a:t>điểm</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số</a:t>
            </a:r>
            <a:r>
              <a:rPr lang="en-US" sz="2000" dirty="0">
                <a:highlight>
                  <a:srgbClr val="FFFFFF"/>
                </a:highlight>
                <a:latin typeface="Calibri"/>
                <a:ea typeface="Calibri"/>
                <a:cs typeface="Calibri"/>
              </a:rPr>
              <a:t>).</a:t>
            </a:r>
            <a:endParaRPr lang="en-US" sz="2000">
              <a:latin typeface="Calibri"/>
              <a:ea typeface="Calibri"/>
              <a:cs typeface="Calibri"/>
            </a:endParaRPr>
          </a:p>
          <a:p>
            <a:r>
              <a:rPr lang="en-US" sz="2000" b="1" dirty="0" err="1">
                <a:highlight>
                  <a:srgbClr val="FFFFFF"/>
                </a:highlight>
                <a:latin typeface="Calibri"/>
                <a:ea typeface="Calibri"/>
                <a:cs typeface="Calibri"/>
              </a:rPr>
              <a:t>Vấn</a:t>
            </a:r>
            <a:r>
              <a:rPr lang="en-US" sz="2000" b="1" dirty="0">
                <a:highlight>
                  <a:srgbClr val="FFFFFF"/>
                </a:highlight>
                <a:latin typeface="Calibri"/>
                <a:ea typeface="Calibri"/>
                <a:cs typeface="Calibri"/>
              </a:rPr>
              <a:t> </a:t>
            </a:r>
            <a:r>
              <a:rPr lang="en-US" sz="2000" b="1" dirty="0" err="1">
                <a:highlight>
                  <a:srgbClr val="FFFFFF"/>
                </a:highlight>
                <a:latin typeface="Calibri"/>
                <a:ea typeface="Calibri"/>
                <a:cs typeface="Calibri"/>
              </a:rPr>
              <a:t>đề</a:t>
            </a:r>
            <a:r>
              <a:rPr lang="en-US" sz="2000" b="1" dirty="0">
                <a:highlight>
                  <a:srgbClr val="FFFFFF"/>
                </a:highlight>
                <a:latin typeface="Calibri"/>
                <a:ea typeface="Calibri"/>
                <a:cs typeface="Calibri"/>
              </a:rPr>
              <a:t>:</a:t>
            </a:r>
            <a:endParaRPr lang="en-US" sz="2000">
              <a:latin typeface="Calibri"/>
              <a:ea typeface="Calibri"/>
              <a:cs typeface="Calibri"/>
            </a:endParaRPr>
          </a:p>
          <a:p>
            <a:pPr lvl="1"/>
            <a:r>
              <a:rPr lang="en-US" sz="2000" dirty="0">
                <a:highlight>
                  <a:srgbClr val="FFFFFF"/>
                </a:highlight>
                <a:latin typeface="Calibri"/>
                <a:ea typeface="Calibri"/>
                <a:cs typeface="Calibri"/>
              </a:rPr>
              <a:t>Sinh </a:t>
            </a:r>
            <a:r>
              <a:rPr lang="en-US" sz="2000" dirty="0" err="1">
                <a:highlight>
                  <a:srgbClr val="FFFFFF"/>
                </a:highlight>
                <a:latin typeface="Calibri"/>
                <a:ea typeface="Calibri"/>
                <a:cs typeface="Calibri"/>
              </a:rPr>
              <a:t>viên</a:t>
            </a:r>
            <a:r>
              <a:rPr lang="en-US" sz="2000" dirty="0">
                <a:highlight>
                  <a:srgbClr val="FFFFFF"/>
                </a:highlight>
                <a:latin typeface="Calibri"/>
                <a:ea typeface="Calibri"/>
                <a:cs typeface="Calibri"/>
              </a:rPr>
              <a:t>/</a:t>
            </a:r>
            <a:r>
              <a:rPr lang="en-US" sz="2000" dirty="0" err="1">
                <a:highlight>
                  <a:srgbClr val="FFFFFF"/>
                </a:highlight>
                <a:latin typeface="Calibri"/>
                <a:ea typeface="Calibri"/>
                <a:cs typeface="Calibri"/>
              </a:rPr>
              <a:t>Giảng</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viên</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khó</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tra</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cứu</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nhanh</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thông</a:t>
            </a:r>
            <a:r>
              <a:rPr lang="en-US" sz="2000" dirty="0">
                <a:highlight>
                  <a:srgbClr val="FFFFFF"/>
                </a:highlight>
                <a:latin typeface="Calibri"/>
                <a:ea typeface="Calibri"/>
                <a:cs typeface="Calibri"/>
              </a:rPr>
              <a:t> tin, </a:t>
            </a:r>
            <a:r>
              <a:rPr lang="en-US" sz="2000" dirty="0" err="1">
                <a:highlight>
                  <a:srgbClr val="FFFFFF"/>
                </a:highlight>
                <a:latin typeface="Calibri"/>
                <a:ea typeface="Calibri"/>
                <a:cs typeface="Calibri"/>
              </a:rPr>
              <a:t>phải</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điều</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hướng</a:t>
            </a:r>
            <a:r>
              <a:rPr lang="en-US" sz="2000" dirty="0">
                <a:highlight>
                  <a:srgbClr val="FFFFFF"/>
                </a:highlight>
                <a:latin typeface="Calibri"/>
                <a:ea typeface="Calibri"/>
                <a:cs typeface="Calibri"/>
              </a:rPr>
              <a:t> qua </a:t>
            </a:r>
            <a:r>
              <a:rPr lang="en-US" sz="2000" dirty="0" err="1">
                <a:highlight>
                  <a:srgbClr val="FFFFFF"/>
                </a:highlight>
                <a:latin typeface="Calibri"/>
                <a:ea typeface="Calibri"/>
                <a:cs typeface="Calibri"/>
              </a:rPr>
              <a:t>nhiều</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trang</a:t>
            </a:r>
            <a:r>
              <a:rPr lang="en-US" sz="2000" dirty="0">
                <a:highlight>
                  <a:srgbClr val="FFFFFF"/>
                </a:highlight>
                <a:latin typeface="Calibri"/>
                <a:ea typeface="Calibri"/>
                <a:cs typeface="Calibri"/>
              </a:rPr>
              <a:t>.</a:t>
            </a:r>
            <a:endParaRPr lang="en-US" sz="2000">
              <a:latin typeface="Calibri"/>
              <a:ea typeface="Calibri"/>
              <a:cs typeface="Calibri"/>
            </a:endParaRPr>
          </a:p>
          <a:p>
            <a:pPr lvl="1"/>
            <a:r>
              <a:rPr lang="en-US" sz="2000" dirty="0" err="1">
                <a:highlight>
                  <a:srgbClr val="FFFFFF"/>
                </a:highlight>
                <a:latin typeface="Calibri"/>
                <a:ea typeface="Calibri"/>
                <a:cs typeface="Calibri"/>
              </a:rPr>
              <a:t>Mô</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hình</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ngôn</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ngữ</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lớn</a:t>
            </a:r>
            <a:r>
              <a:rPr lang="en-US" sz="2000" dirty="0">
                <a:highlight>
                  <a:srgbClr val="FFFFFF"/>
                </a:highlight>
                <a:latin typeface="Calibri"/>
                <a:ea typeface="Calibri"/>
                <a:cs typeface="Calibri"/>
              </a:rPr>
              <a:t> (LLM) </a:t>
            </a:r>
            <a:r>
              <a:rPr lang="en-US" sz="2000" dirty="0" err="1">
                <a:highlight>
                  <a:srgbClr val="FFFFFF"/>
                </a:highlight>
                <a:latin typeface="Calibri"/>
                <a:ea typeface="Calibri"/>
                <a:cs typeface="Calibri"/>
              </a:rPr>
              <a:t>thông</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thường</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dễ</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sinh</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ảo</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giác</a:t>
            </a:r>
            <a:r>
              <a:rPr lang="en-US" sz="2000" dirty="0">
                <a:highlight>
                  <a:srgbClr val="FFFFFF"/>
                </a:highlight>
                <a:latin typeface="Calibri"/>
                <a:ea typeface="Calibri"/>
                <a:cs typeface="Calibri"/>
              </a:rPr>
              <a:t>" (hallucination) </a:t>
            </a:r>
            <a:r>
              <a:rPr lang="en-US" sz="2000" dirty="0" err="1">
                <a:highlight>
                  <a:srgbClr val="FFFFFF"/>
                </a:highlight>
                <a:latin typeface="Calibri"/>
                <a:ea typeface="Calibri"/>
                <a:cs typeface="Calibri"/>
              </a:rPr>
              <a:t>và</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không</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có</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dữ</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liệu</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cập</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nhật</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riêng</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của</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trường</a:t>
            </a:r>
            <a:r>
              <a:rPr lang="en-US" sz="2000" dirty="0">
                <a:highlight>
                  <a:srgbClr val="FFFFFF"/>
                </a:highlight>
                <a:latin typeface="Calibri"/>
                <a:ea typeface="Calibri"/>
                <a:cs typeface="Calibri"/>
              </a:rPr>
              <a:t>.</a:t>
            </a:r>
            <a:endParaRPr lang="en-US" sz="2000">
              <a:latin typeface="Calibri"/>
              <a:ea typeface="Calibri"/>
              <a:cs typeface="Calibri"/>
            </a:endParaRPr>
          </a:p>
          <a:p>
            <a:r>
              <a:rPr lang="en-US" sz="2000" b="1" dirty="0" err="1">
                <a:highlight>
                  <a:srgbClr val="FFFFFF"/>
                </a:highlight>
                <a:latin typeface="Calibri"/>
                <a:ea typeface="Calibri"/>
                <a:cs typeface="Calibri"/>
              </a:rPr>
              <a:t>Giải</a:t>
            </a:r>
            <a:r>
              <a:rPr lang="en-US" sz="2000" b="1" dirty="0">
                <a:highlight>
                  <a:srgbClr val="FFFFFF"/>
                </a:highlight>
                <a:latin typeface="Calibri"/>
                <a:ea typeface="Calibri"/>
                <a:cs typeface="Calibri"/>
              </a:rPr>
              <a:t> </a:t>
            </a:r>
            <a:r>
              <a:rPr lang="en-US" sz="2000" b="1" dirty="0" err="1">
                <a:highlight>
                  <a:srgbClr val="FFFFFF"/>
                </a:highlight>
                <a:latin typeface="Calibri"/>
                <a:ea typeface="Calibri"/>
                <a:cs typeface="Calibri"/>
              </a:rPr>
              <a:t>pháp</a:t>
            </a:r>
            <a:r>
              <a:rPr lang="en-US" sz="2000" b="1" dirty="0">
                <a:highlight>
                  <a:srgbClr val="FFFFFF"/>
                </a:highlight>
                <a:latin typeface="Calibri"/>
                <a:ea typeface="Calibri"/>
                <a:cs typeface="Calibri"/>
              </a:rPr>
              <a:t>:</a:t>
            </a:r>
            <a:r>
              <a:rPr lang="en-US" sz="2000" dirty="0">
                <a:highlight>
                  <a:srgbClr val="FFFFFF"/>
                </a:highlight>
                <a:latin typeface="Calibri"/>
                <a:ea typeface="Calibri"/>
                <a:cs typeface="Calibri"/>
              </a:rPr>
              <a:t> Xây </a:t>
            </a:r>
            <a:r>
              <a:rPr lang="en-US" sz="2000" dirty="0" err="1">
                <a:highlight>
                  <a:srgbClr val="FFFFFF"/>
                </a:highlight>
                <a:latin typeface="Calibri"/>
                <a:ea typeface="Calibri"/>
                <a:cs typeface="Calibri"/>
              </a:rPr>
              <a:t>dựng</a:t>
            </a:r>
            <a:r>
              <a:rPr lang="en-US" sz="2000" dirty="0">
                <a:highlight>
                  <a:srgbClr val="FFFFFF"/>
                </a:highlight>
                <a:latin typeface="Calibri"/>
                <a:ea typeface="Calibri"/>
                <a:cs typeface="Calibri"/>
              </a:rPr>
              <a:t> Chatbot </a:t>
            </a:r>
            <a:r>
              <a:rPr lang="en-US" sz="2000" dirty="0" err="1">
                <a:highlight>
                  <a:srgbClr val="FFFFFF"/>
                </a:highlight>
                <a:latin typeface="Calibri"/>
                <a:ea typeface="Calibri"/>
                <a:cs typeface="Calibri"/>
              </a:rPr>
              <a:t>thông</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minh</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kết</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hợp</a:t>
            </a:r>
            <a:r>
              <a:rPr lang="en-US" sz="2000" dirty="0">
                <a:highlight>
                  <a:srgbClr val="FFFFFF"/>
                </a:highlight>
                <a:latin typeface="Calibri"/>
                <a:ea typeface="Calibri"/>
                <a:cs typeface="Calibri"/>
              </a:rPr>
              <a:t> LLM </a:t>
            </a:r>
            <a:r>
              <a:rPr lang="en-US" sz="2000" dirty="0" err="1">
                <a:highlight>
                  <a:srgbClr val="FFFFFF"/>
                </a:highlight>
                <a:latin typeface="Calibri"/>
                <a:ea typeface="Calibri"/>
                <a:cs typeface="Calibri"/>
              </a:rPr>
              <a:t>và</a:t>
            </a:r>
            <a:r>
              <a:rPr lang="en-US" sz="2000" dirty="0">
                <a:highlight>
                  <a:srgbClr val="FFFFFF"/>
                </a:highlight>
                <a:latin typeface="Calibri"/>
                <a:ea typeface="Calibri"/>
                <a:cs typeface="Calibri"/>
              </a:rPr>
              <a:t> </a:t>
            </a:r>
            <a:r>
              <a:rPr lang="en-US" sz="2000" b="1" dirty="0" err="1">
                <a:highlight>
                  <a:srgbClr val="FFFFFF"/>
                </a:highlight>
                <a:latin typeface="Calibri"/>
                <a:ea typeface="Calibri"/>
                <a:cs typeface="Calibri"/>
              </a:rPr>
              <a:t>công</a:t>
            </a:r>
            <a:r>
              <a:rPr lang="en-US" sz="2000" b="1" dirty="0">
                <a:highlight>
                  <a:srgbClr val="FFFFFF"/>
                </a:highlight>
                <a:latin typeface="Calibri"/>
                <a:ea typeface="Calibri"/>
                <a:cs typeface="Calibri"/>
              </a:rPr>
              <a:t> </a:t>
            </a:r>
            <a:r>
              <a:rPr lang="en-US" sz="2000" b="1" dirty="0" err="1">
                <a:highlight>
                  <a:srgbClr val="FFFFFF"/>
                </a:highlight>
                <a:latin typeface="Calibri"/>
                <a:ea typeface="Calibri"/>
                <a:cs typeface="Calibri"/>
              </a:rPr>
              <a:t>nghệ</a:t>
            </a:r>
            <a:r>
              <a:rPr lang="en-US" sz="2000" b="1" dirty="0">
                <a:highlight>
                  <a:srgbClr val="FFFFFF"/>
                </a:highlight>
                <a:latin typeface="Calibri"/>
                <a:ea typeface="Calibri"/>
                <a:cs typeface="Calibri"/>
              </a:rPr>
              <a:t> RAG (Retrieval-Augmented Generation)</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giao</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tiếp</a:t>
            </a:r>
            <a:r>
              <a:rPr lang="en-US" sz="2000" dirty="0">
                <a:highlight>
                  <a:srgbClr val="FFFFFF"/>
                </a:highlight>
                <a:latin typeface="Calibri"/>
                <a:ea typeface="Calibri"/>
                <a:cs typeface="Calibri"/>
              </a:rPr>
              <a:t> qua </a:t>
            </a:r>
            <a:r>
              <a:rPr lang="en-US" sz="2000" b="1" dirty="0">
                <a:highlight>
                  <a:srgbClr val="FFFFFF"/>
                </a:highlight>
                <a:latin typeface="Calibri"/>
                <a:ea typeface="Calibri"/>
                <a:cs typeface="Calibri"/>
              </a:rPr>
              <a:t>API Gateway</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để</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đảm</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bảo</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bảo</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mật</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và</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tính</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cá</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nhân</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hóa</a:t>
            </a:r>
            <a:r>
              <a:rPr lang="en-US" sz="2000" dirty="0">
                <a:highlight>
                  <a:srgbClr val="FFFFFF"/>
                </a:highlight>
                <a:latin typeface="Calibri"/>
                <a:ea typeface="Calibri"/>
                <a:cs typeface="Calibri"/>
              </a:rPr>
              <a:t>.</a:t>
            </a:r>
            <a:endParaRPr lang="en-US" sz="2000" dirty="0">
              <a:latin typeface="Calibri"/>
              <a:ea typeface="Calibri"/>
              <a:cs typeface="Calibri"/>
            </a:endParaRPr>
          </a:p>
        </p:txBody>
      </p:sp>
    </p:spTree>
    <p:extLst>
      <p:ext uri="{BB962C8B-B14F-4D97-AF65-F5344CB8AC3E}">
        <p14:creationId xmlns:p14="http://schemas.microsoft.com/office/powerpoint/2010/main" val="2536968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C35141-339C-2192-2415-C6DF69218080}"/>
              </a:ext>
            </a:extLst>
          </p:cNvPr>
          <p:cNvSpPr>
            <a:spLocks noGrp="1"/>
          </p:cNvSpPr>
          <p:nvPr>
            <p:ph type="title"/>
          </p:nvPr>
        </p:nvSpPr>
        <p:spPr>
          <a:xfrm>
            <a:off x="589280" y="695483"/>
            <a:ext cx="5471688" cy="1477870"/>
          </a:xfrm>
        </p:spPr>
        <p:txBody>
          <a:bodyPr anchor="b">
            <a:normAutofit/>
          </a:bodyPr>
          <a:lstStyle/>
          <a:p>
            <a:r>
              <a:rPr lang="en-US" sz="2800" dirty="0" err="1">
                <a:highlight>
                  <a:srgbClr val="FFFFFF"/>
                </a:highlight>
                <a:latin typeface="Calibri"/>
                <a:ea typeface="Calibri"/>
                <a:cs typeface="Calibri"/>
              </a:rPr>
              <a:t>Mục</a:t>
            </a:r>
            <a:r>
              <a:rPr lang="en-US" sz="2800" dirty="0">
                <a:highlight>
                  <a:srgbClr val="FFFFFF"/>
                </a:highlight>
                <a:latin typeface="Calibri"/>
                <a:ea typeface="Calibri"/>
                <a:cs typeface="Calibri"/>
              </a:rPr>
              <a:t> </a:t>
            </a:r>
            <a:r>
              <a:rPr lang="en-US" sz="2800" dirty="0" err="1">
                <a:highlight>
                  <a:srgbClr val="FFFFFF"/>
                </a:highlight>
                <a:latin typeface="Calibri"/>
                <a:ea typeface="Calibri"/>
                <a:cs typeface="Calibri"/>
              </a:rPr>
              <a:t>tiêu</a:t>
            </a:r>
            <a:r>
              <a:rPr lang="en-US" sz="2800" dirty="0">
                <a:highlight>
                  <a:srgbClr val="FFFFFF"/>
                </a:highlight>
                <a:latin typeface="Calibri"/>
                <a:ea typeface="Calibri"/>
                <a:cs typeface="Calibri"/>
              </a:rPr>
              <a:t> </a:t>
            </a:r>
            <a:r>
              <a:rPr lang="en-US" sz="2800" dirty="0" err="1">
                <a:highlight>
                  <a:srgbClr val="FFFFFF"/>
                </a:highlight>
                <a:latin typeface="Calibri"/>
                <a:ea typeface="Calibri"/>
                <a:cs typeface="Calibri"/>
              </a:rPr>
              <a:t>nghiên</a:t>
            </a:r>
            <a:r>
              <a:rPr lang="en-US" sz="2800" dirty="0">
                <a:highlight>
                  <a:srgbClr val="FFFFFF"/>
                </a:highlight>
                <a:latin typeface="Calibri"/>
                <a:ea typeface="Calibri"/>
                <a:cs typeface="Calibri"/>
              </a:rPr>
              <a:t> </a:t>
            </a:r>
            <a:r>
              <a:rPr lang="en-US" sz="2800" dirty="0" err="1">
                <a:highlight>
                  <a:srgbClr val="FFFFFF"/>
                </a:highlight>
                <a:latin typeface="Calibri"/>
                <a:ea typeface="Calibri"/>
                <a:cs typeface="Calibri"/>
              </a:rPr>
              <a:t>cứu</a:t>
            </a:r>
            <a:r>
              <a:rPr lang="en-US" sz="2800" dirty="0">
                <a:highlight>
                  <a:srgbClr val="FFFFFF"/>
                </a:highlight>
                <a:latin typeface="Calibri"/>
                <a:ea typeface="Calibri"/>
                <a:cs typeface="Calibri"/>
              </a:rPr>
              <a:t> &amp; Phạm vi</a:t>
            </a:r>
            <a:endParaRPr lang="en-US" sz="2800" dirty="0">
              <a:latin typeface="Calibri"/>
              <a:ea typeface="Calibri"/>
              <a:cs typeface="Calibri"/>
            </a:endParaRPr>
          </a:p>
          <a:p>
            <a:endParaRPr lang="en-US" sz="2800" dirty="0">
              <a:latin typeface="Times New Roman"/>
              <a:cs typeface="Times New Roman"/>
            </a:endParaRP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A75A031-4A9C-C39C-E7EB-7B41A6C9C274}"/>
              </a:ext>
            </a:extLst>
          </p:cNvPr>
          <p:cNvSpPr>
            <a:spLocks noGrp="1"/>
          </p:cNvSpPr>
          <p:nvPr>
            <p:ph idx="1"/>
          </p:nvPr>
        </p:nvSpPr>
        <p:spPr>
          <a:xfrm>
            <a:off x="1452" y="2604385"/>
            <a:ext cx="6638444" cy="3327925"/>
          </a:xfrm>
        </p:spPr>
        <p:txBody>
          <a:bodyPr vert="horz" lIns="91440" tIns="45720" rIns="91440" bIns="45720" rtlCol="0" anchor="t">
            <a:noAutofit/>
          </a:bodyPr>
          <a:lstStyle/>
          <a:p>
            <a:r>
              <a:rPr lang="en-US" sz="2000" b="1" dirty="0" err="1">
                <a:highlight>
                  <a:srgbClr val="FFFFFF"/>
                </a:highlight>
                <a:latin typeface="Calibri"/>
                <a:ea typeface="Calibri"/>
                <a:cs typeface="Calibri"/>
              </a:rPr>
              <a:t>Mục</a:t>
            </a:r>
            <a:r>
              <a:rPr lang="en-US" sz="2000" b="1" dirty="0">
                <a:highlight>
                  <a:srgbClr val="FFFFFF"/>
                </a:highlight>
                <a:latin typeface="Calibri"/>
                <a:ea typeface="Calibri"/>
                <a:cs typeface="Calibri"/>
              </a:rPr>
              <a:t> </a:t>
            </a:r>
            <a:r>
              <a:rPr lang="en-US" sz="2000" b="1" dirty="0" err="1">
                <a:highlight>
                  <a:srgbClr val="FFFFFF"/>
                </a:highlight>
                <a:latin typeface="Calibri"/>
                <a:ea typeface="Calibri"/>
                <a:cs typeface="Calibri"/>
              </a:rPr>
              <a:t>tiêu</a:t>
            </a:r>
            <a:r>
              <a:rPr lang="en-US" sz="2000" b="1" dirty="0">
                <a:highlight>
                  <a:srgbClr val="FFFFFF"/>
                </a:highlight>
                <a:latin typeface="Calibri"/>
                <a:ea typeface="Calibri"/>
                <a:cs typeface="Calibri"/>
              </a:rPr>
              <a:t> </a:t>
            </a:r>
            <a:r>
              <a:rPr lang="en-US" sz="2000" b="1" dirty="0" err="1">
                <a:highlight>
                  <a:srgbClr val="FFFFFF"/>
                </a:highlight>
                <a:latin typeface="Calibri"/>
                <a:ea typeface="Calibri"/>
                <a:cs typeface="Calibri"/>
              </a:rPr>
              <a:t>theo</a:t>
            </a:r>
            <a:r>
              <a:rPr lang="en-US" sz="2000" b="1" dirty="0">
                <a:highlight>
                  <a:srgbClr val="FFFFFF"/>
                </a:highlight>
                <a:latin typeface="Calibri"/>
                <a:ea typeface="Calibri"/>
                <a:cs typeface="Calibri"/>
              </a:rPr>
              <a:t> </a:t>
            </a:r>
            <a:r>
              <a:rPr lang="en-US" sz="2000" b="1" dirty="0" err="1">
                <a:highlight>
                  <a:srgbClr val="FFFFFF"/>
                </a:highlight>
                <a:latin typeface="Calibri"/>
                <a:ea typeface="Calibri"/>
                <a:cs typeface="Calibri"/>
              </a:rPr>
              <a:t>vai</a:t>
            </a:r>
            <a:r>
              <a:rPr lang="en-US" sz="2000" b="1" dirty="0">
                <a:highlight>
                  <a:srgbClr val="FFFFFF"/>
                </a:highlight>
                <a:latin typeface="Calibri"/>
                <a:ea typeface="Calibri"/>
                <a:cs typeface="Calibri"/>
              </a:rPr>
              <a:t> </a:t>
            </a:r>
            <a:r>
              <a:rPr lang="en-US" sz="2000" b="1" dirty="0" err="1">
                <a:highlight>
                  <a:srgbClr val="FFFFFF"/>
                </a:highlight>
                <a:latin typeface="Calibri"/>
                <a:ea typeface="Calibri"/>
                <a:cs typeface="Calibri"/>
              </a:rPr>
              <a:t>trò</a:t>
            </a:r>
            <a:r>
              <a:rPr lang="en-US" sz="2000" b="1" dirty="0">
                <a:highlight>
                  <a:srgbClr val="FFFFFF"/>
                </a:highlight>
                <a:latin typeface="Calibri"/>
                <a:ea typeface="Calibri"/>
                <a:cs typeface="Calibri"/>
              </a:rPr>
              <a:t>:</a:t>
            </a:r>
            <a:endParaRPr lang="en-US" sz="2000">
              <a:latin typeface="Calibri"/>
              <a:ea typeface="Calibri"/>
              <a:cs typeface="Calibri"/>
            </a:endParaRPr>
          </a:p>
          <a:p>
            <a:pPr lvl="1"/>
            <a:r>
              <a:rPr lang="en-US" sz="2000" b="1" dirty="0">
                <a:highlight>
                  <a:srgbClr val="FFFFFF"/>
                </a:highlight>
                <a:latin typeface="Calibri"/>
                <a:ea typeface="Calibri"/>
                <a:cs typeface="Calibri"/>
              </a:rPr>
              <a:t>Sinh </a:t>
            </a:r>
            <a:r>
              <a:rPr lang="en-US" sz="2000" b="1" dirty="0" err="1">
                <a:highlight>
                  <a:srgbClr val="FFFFFF"/>
                </a:highlight>
                <a:latin typeface="Calibri"/>
                <a:ea typeface="Calibri"/>
                <a:cs typeface="Calibri"/>
              </a:rPr>
              <a:t>viên</a:t>
            </a:r>
            <a:r>
              <a:rPr lang="en-US" sz="2000" b="1" dirty="0">
                <a:highlight>
                  <a:srgbClr val="FFFFFF"/>
                </a:highlight>
                <a:latin typeface="Calibri"/>
                <a:ea typeface="Calibri"/>
                <a:cs typeface="Calibri"/>
              </a:rPr>
              <a:t>:</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Hỏi</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đáp</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kiến</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thức</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bài</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học</a:t>
            </a:r>
            <a:r>
              <a:rPr lang="en-US" sz="2000" dirty="0">
                <a:highlight>
                  <a:srgbClr val="FFFFFF"/>
                </a:highlight>
                <a:latin typeface="Calibri"/>
                <a:ea typeface="Calibri"/>
                <a:cs typeface="Calibri"/>
              </a:rPr>
              <a:t> (RAG), </a:t>
            </a:r>
            <a:r>
              <a:rPr lang="en-US" sz="2000" dirty="0" err="1">
                <a:highlight>
                  <a:srgbClr val="FFFFFF"/>
                </a:highlight>
                <a:latin typeface="Calibri"/>
                <a:ea typeface="Calibri"/>
                <a:cs typeface="Calibri"/>
              </a:rPr>
              <a:t>tra</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cứu</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điểm</a:t>
            </a:r>
            <a:r>
              <a:rPr lang="en-US" sz="2000" dirty="0">
                <a:highlight>
                  <a:srgbClr val="FFFFFF"/>
                </a:highlight>
                <a:latin typeface="Calibri"/>
                <a:ea typeface="Calibri"/>
                <a:cs typeface="Calibri"/>
              </a:rPr>
              <a:t>, deadline, </a:t>
            </a:r>
            <a:r>
              <a:rPr lang="en-US" sz="2000" dirty="0" err="1">
                <a:highlight>
                  <a:srgbClr val="FFFFFF"/>
                </a:highlight>
                <a:latin typeface="Calibri"/>
                <a:ea typeface="Calibri"/>
                <a:cs typeface="Calibri"/>
              </a:rPr>
              <a:t>tiến</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độ</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nhận</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thông</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báo</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nhắc</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nhở</a:t>
            </a:r>
            <a:r>
              <a:rPr lang="en-US" sz="2000" dirty="0">
                <a:highlight>
                  <a:srgbClr val="FFFFFF"/>
                </a:highlight>
                <a:latin typeface="Calibri"/>
                <a:ea typeface="Calibri"/>
                <a:cs typeface="Calibri"/>
              </a:rPr>
              <a:t>.</a:t>
            </a:r>
            <a:endParaRPr lang="en-US" sz="2000">
              <a:latin typeface="Calibri"/>
              <a:ea typeface="Calibri"/>
              <a:cs typeface="Calibri"/>
            </a:endParaRPr>
          </a:p>
          <a:p>
            <a:pPr lvl="1"/>
            <a:r>
              <a:rPr lang="en-US" sz="2000" b="1" dirty="0" err="1">
                <a:highlight>
                  <a:srgbClr val="FFFFFF"/>
                </a:highlight>
                <a:latin typeface="Calibri"/>
                <a:ea typeface="Calibri"/>
                <a:cs typeface="Calibri"/>
              </a:rPr>
              <a:t>Giảng</a:t>
            </a:r>
            <a:r>
              <a:rPr lang="en-US" sz="2000" b="1" dirty="0">
                <a:highlight>
                  <a:srgbClr val="FFFFFF"/>
                </a:highlight>
                <a:latin typeface="Calibri"/>
                <a:ea typeface="Calibri"/>
                <a:cs typeface="Calibri"/>
              </a:rPr>
              <a:t> </a:t>
            </a:r>
            <a:r>
              <a:rPr lang="en-US" sz="2000" b="1" dirty="0" err="1">
                <a:highlight>
                  <a:srgbClr val="FFFFFF"/>
                </a:highlight>
                <a:latin typeface="Calibri"/>
                <a:ea typeface="Calibri"/>
                <a:cs typeface="Calibri"/>
              </a:rPr>
              <a:t>viên</a:t>
            </a:r>
            <a:r>
              <a:rPr lang="en-US" sz="2000" b="1" dirty="0">
                <a:highlight>
                  <a:srgbClr val="FFFFFF"/>
                </a:highlight>
                <a:latin typeface="Calibri"/>
                <a:ea typeface="Calibri"/>
                <a:cs typeface="Calibri"/>
              </a:rPr>
              <a:t>:</a:t>
            </a:r>
            <a:r>
              <a:rPr lang="en-US" sz="2000" dirty="0">
                <a:highlight>
                  <a:srgbClr val="FFFFFF"/>
                </a:highlight>
                <a:latin typeface="Calibri"/>
                <a:ea typeface="Calibri"/>
                <a:cs typeface="Calibri"/>
              </a:rPr>
              <a:t> Quản </a:t>
            </a:r>
            <a:r>
              <a:rPr lang="en-US" sz="2000" dirty="0" err="1">
                <a:highlight>
                  <a:srgbClr val="FFFFFF"/>
                </a:highlight>
                <a:latin typeface="Calibri"/>
                <a:ea typeface="Calibri"/>
                <a:cs typeface="Calibri"/>
              </a:rPr>
              <a:t>lý</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lớp</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học</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tra</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cứu</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danh</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sách</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thống</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kê</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điểm</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sinh</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viên</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nợ</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bài</a:t>
            </a:r>
            <a:r>
              <a:rPr lang="en-US" sz="2000" dirty="0">
                <a:highlight>
                  <a:srgbClr val="FFFFFF"/>
                </a:highlight>
                <a:latin typeface="Calibri"/>
                <a:ea typeface="Calibri"/>
                <a:cs typeface="Calibri"/>
              </a:rPr>
              <a:t>.</a:t>
            </a:r>
            <a:endParaRPr lang="en-US" sz="2000">
              <a:latin typeface="Calibri"/>
              <a:ea typeface="Calibri"/>
              <a:cs typeface="Calibri"/>
            </a:endParaRPr>
          </a:p>
          <a:p>
            <a:pPr lvl="1"/>
            <a:r>
              <a:rPr lang="en-US" sz="2000" b="1" dirty="0">
                <a:highlight>
                  <a:srgbClr val="FFFFFF"/>
                </a:highlight>
                <a:latin typeface="Calibri"/>
                <a:ea typeface="Calibri"/>
                <a:cs typeface="Calibri"/>
              </a:rPr>
              <a:t>Quản </a:t>
            </a:r>
            <a:r>
              <a:rPr lang="en-US" sz="2000" b="1" dirty="0" err="1">
                <a:highlight>
                  <a:srgbClr val="FFFFFF"/>
                </a:highlight>
                <a:latin typeface="Calibri"/>
                <a:ea typeface="Calibri"/>
                <a:cs typeface="Calibri"/>
              </a:rPr>
              <a:t>trị</a:t>
            </a:r>
            <a:r>
              <a:rPr lang="en-US" sz="2000" b="1" dirty="0">
                <a:highlight>
                  <a:srgbClr val="FFFFFF"/>
                </a:highlight>
                <a:latin typeface="Calibri"/>
                <a:ea typeface="Calibri"/>
                <a:cs typeface="Calibri"/>
              </a:rPr>
              <a:t> </a:t>
            </a:r>
            <a:r>
              <a:rPr lang="en-US" sz="2000" b="1" dirty="0" err="1">
                <a:highlight>
                  <a:srgbClr val="FFFFFF"/>
                </a:highlight>
                <a:latin typeface="Calibri"/>
                <a:ea typeface="Calibri"/>
                <a:cs typeface="Calibri"/>
              </a:rPr>
              <a:t>viên</a:t>
            </a:r>
            <a:r>
              <a:rPr lang="en-US" sz="2000" b="1" dirty="0">
                <a:highlight>
                  <a:srgbClr val="FFFFFF"/>
                </a:highlight>
                <a:latin typeface="Calibri"/>
                <a:ea typeface="Calibri"/>
                <a:cs typeface="Calibri"/>
              </a:rPr>
              <a:t>:</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Vận</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hành</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dữ</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liệu</a:t>
            </a:r>
            <a:r>
              <a:rPr lang="en-US" sz="2000" dirty="0">
                <a:highlight>
                  <a:srgbClr val="FFFFFF"/>
                </a:highlight>
                <a:latin typeface="Calibri"/>
                <a:ea typeface="Calibri"/>
                <a:cs typeface="Calibri"/>
              </a:rPr>
              <a:t> RAG, </a:t>
            </a:r>
            <a:r>
              <a:rPr lang="en-US" sz="2000" dirty="0" err="1">
                <a:highlight>
                  <a:srgbClr val="FFFFFF"/>
                </a:highlight>
                <a:latin typeface="Calibri"/>
                <a:ea typeface="Calibri"/>
                <a:cs typeface="Calibri"/>
              </a:rPr>
              <a:t>cấu</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hình</a:t>
            </a:r>
            <a:r>
              <a:rPr lang="en-US" sz="2000" dirty="0">
                <a:highlight>
                  <a:srgbClr val="FFFFFF"/>
                </a:highlight>
                <a:latin typeface="Calibri"/>
                <a:ea typeface="Calibri"/>
                <a:cs typeface="Calibri"/>
              </a:rPr>
              <a:t> API, </a:t>
            </a:r>
            <a:r>
              <a:rPr lang="en-US" sz="2000" dirty="0" err="1">
                <a:highlight>
                  <a:srgbClr val="FFFFFF"/>
                </a:highlight>
                <a:latin typeface="Calibri"/>
                <a:ea typeface="Calibri"/>
                <a:cs typeface="Calibri"/>
              </a:rPr>
              <a:t>kiểm</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soát</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quyền</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truy</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cập</a:t>
            </a:r>
            <a:r>
              <a:rPr lang="en-US" sz="2000" dirty="0">
                <a:highlight>
                  <a:srgbClr val="FFFFFF"/>
                </a:highlight>
                <a:latin typeface="Calibri"/>
                <a:ea typeface="Calibri"/>
                <a:cs typeface="Calibri"/>
              </a:rPr>
              <a:t>.</a:t>
            </a:r>
            <a:endParaRPr lang="en-US" sz="2000">
              <a:latin typeface="Calibri"/>
              <a:ea typeface="Calibri"/>
              <a:cs typeface="Calibri"/>
            </a:endParaRPr>
          </a:p>
          <a:p>
            <a:r>
              <a:rPr lang="en-US" sz="2000" b="1" dirty="0">
                <a:highlight>
                  <a:srgbClr val="FFFFFF"/>
                </a:highlight>
                <a:latin typeface="Calibri"/>
                <a:ea typeface="Calibri"/>
                <a:cs typeface="Calibri"/>
              </a:rPr>
              <a:t>Phạm vi </a:t>
            </a:r>
            <a:r>
              <a:rPr lang="en-US" sz="2000" b="1" dirty="0" err="1">
                <a:highlight>
                  <a:srgbClr val="FFFFFF"/>
                </a:highlight>
                <a:latin typeface="Calibri"/>
                <a:ea typeface="Calibri"/>
                <a:cs typeface="Calibri"/>
              </a:rPr>
              <a:t>hệ</a:t>
            </a:r>
            <a:r>
              <a:rPr lang="en-US" sz="2000" b="1" dirty="0">
                <a:highlight>
                  <a:srgbClr val="FFFFFF"/>
                </a:highlight>
                <a:latin typeface="Calibri"/>
                <a:ea typeface="Calibri"/>
                <a:cs typeface="Calibri"/>
              </a:rPr>
              <a:t> </a:t>
            </a:r>
            <a:r>
              <a:rPr lang="en-US" sz="2000" b="1" dirty="0" err="1">
                <a:highlight>
                  <a:srgbClr val="FFFFFF"/>
                </a:highlight>
                <a:latin typeface="Calibri"/>
                <a:ea typeface="Calibri"/>
                <a:cs typeface="Calibri"/>
              </a:rPr>
              <a:t>thống</a:t>
            </a:r>
            <a:r>
              <a:rPr lang="en-US" sz="2000" b="1" dirty="0">
                <a:highlight>
                  <a:srgbClr val="FFFFFF"/>
                </a:highlight>
                <a:latin typeface="Calibri"/>
                <a:ea typeface="Calibri"/>
                <a:cs typeface="Calibri"/>
              </a:rPr>
              <a:t>:</a:t>
            </a:r>
            <a:endParaRPr lang="en-US" sz="2000">
              <a:latin typeface="Calibri"/>
              <a:ea typeface="Calibri"/>
              <a:cs typeface="Calibri"/>
            </a:endParaRPr>
          </a:p>
          <a:p>
            <a:pPr lvl="1"/>
            <a:r>
              <a:rPr lang="en-US" sz="2000" dirty="0">
                <a:highlight>
                  <a:srgbClr val="FFFFFF"/>
                </a:highlight>
                <a:latin typeface="Calibri"/>
                <a:ea typeface="Calibri"/>
                <a:cs typeface="Calibri"/>
              </a:rPr>
              <a:t>Tích </a:t>
            </a:r>
            <a:r>
              <a:rPr lang="en-US" sz="2000" dirty="0" err="1">
                <a:highlight>
                  <a:srgbClr val="FFFFFF"/>
                </a:highlight>
                <a:latin typeface="Calibri"/>
                <a:ea typeface="Calibri"/>
                <a:cs typeface="Calibri"/>
              </a:rPr>
              <a:t>hợp</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trực</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tiếp</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lên</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giao</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diện</a:t>
            </a:r>
            <a:r>
              <a:rPr lang="en-US" sz="2000" dirty="0">
                <a:highlight>
                  <a:srgbClr val="FFFFFF"/>
                </a:highlight>
                <a:latin typeface="Calibri"/>
                <a:ea typeface="Calibri"/>
                <a:cs typeface="Calibri"/>
              </a:rPr>
              <a:t> Moodle.</a:t>
            </a:r>
            <a:endParaRPr lang="en-US" sz="2000">
              <a:latin typeface="Calibri"/>
              <a:ea typeface="Calibri"/>
              <a:cs typeface="Calibri"/>
            </a:endParaRPr>
          </a:p>
          <a:p>
            <a:pPr lvl="1"/>
            <a:r>
              <a:rPr lang="en-US" sz="2000" dirty="0" err="1">
                <a:highlight>
                  <a:srgbClr val="FFFFFF"/>
                </a:highlight>
                <a:latin typeface="Calibri"/>
                <a:ea typeface="Calibri"/>
                <a:cs typeface="Calibri"/>
              </a:rPr>
              <a:t>Tập</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trung</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xử</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lý</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dữ</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liệu</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văn</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bản</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tiếng</a:t>
            </a:r>
            <a:r>
              <a:rPr lang="en-US" sz="2000" dirty="0">
                <a:highlight>
                  <a:srgbClr val="FFFFFF"/>
                </a:highlight>
                <a:latin typeface="Calibri"/>
                <a:ea typeface="Calibri"/>
                <a:cs typeface="Calibri"/>
              </a:rPr>
              <a:t> Việt.</a:t>
            </a:r>
            <a:endParaRPr lang="en-US" sz="2000">
              <a:latin typeface="Calibri"/>
              <a:ea typeface="Calibri"/>
              <a:cs typeface="Calibri"/>
            </a:endParaRPr>
          </a:p>
          <a:p>
            <a:pPr lvl="1"/>
            <a:r>
              <a:rPr lang="en-US" sz="2000" dirty="0" err="1">
                <a:highlight>
                  <a:srgbClr val="FFFFFF"/>
                </a:highlight>
                <a:latin typeface="Calibri"/>
                <a:ea typeface="Calibri"/>
                <a:cs typeface="Calibri"/>
              </a:rPr>
              <a:t>Phân</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quyền</a:t>
            </a:r>
            <a:r>
              <a:rPr lang="en-US" sz="2000" dirty="0">
                <a:highlight>
                  <a:srgbClr val="FFFFFF"/>
                </a:highlight>
                <a:latin typeface="Calibri"/>
                <a:ea typeface="Calibri"/>
                <a:cs typeface="Calibri"/>
              </a:rPr>
              <a:t> RBAC (Role-Based Access Control) </a:t>
            </a:r>
            <a:r>
              <a:rPr lang="en-US" sz="2000" dirty="0" err="1">
                <a:highlight>
                  <a:srgbClr val="FFFFFF"/>
                </a:highlight>
                <a:latin typeface="Calibri"/>
                <a:ea typeface="Calibri"/>
                <a:cs typeface="Calibri"/>
              </a:rPr>
              <a:t>rõ</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ràng</a:t>
            </a:r>
            <a:r>
              <a:rPr lang="en-US" sz="2000" dirty="0">
                <a:highlight>
                  <a:srgbClr val="FFFFFF"/>
                </a:highlight>
                <a:latin typeface="Calibri"/>
                <a:ea typeface="Calibri"/>
                <a:cs typeface="Calibri"/>
              </a:rPr>
              <a:t>.</a:t>
            </a:r>
            <a:endParaRPr lang="en-US" sz="2000" dirty="0">
              <a:latin typeface="Times New Roman"/>
              <a:ea typeface="Calibri"/>
              <a:cs typeface="Times New Roman"/>
            </a:endParaRPr>
          </a:p>
          <a:p>
            <a:endParaRPr lang="en-US" sz="1400"/>
          </a:p>
        </p:txBody>
      </p:sp>
      <p:pic>
        <p:nvPicPr>
          <p:cNvPr id="4" name="Picture 3" descr="Hơn 162.300 Mục Tiêu Thể Thao Hình Minh Họa ảnh, hình chụp &amp; hình ảnh trả  phí bản quyền một lần sẵn có - iStock">
            <a:extLst>
              <a:ext uri="{FF2B5EF4-FFF2-40B4-BE49-F238E27FC236}">
                <a16:creationId xmlns:a16="http://schemas.microsoft.com/office/drawing/2014/main" id="{C37E21BC-7B9B-5439-4FB5-5CA5387E90B0}"/>
              </a:ext>
            </a:extLst>
          </p:cNvPr>
          <p:cNvPicPr>
            <a:picLocks noChangeAspect="1"/>
          </p:cNvPicPr>
          <p:nvPr/>
        </p:nvPicPr>
        <p:blipFill>
          <a:blip r:embed="rId2"/>
          <a:srcRect l="19542" r="13505" b="-1"/>
          <a:stretch>
            <a:fillRect/>
          </a:stretch>
        </p:blipFill>
        <p:spPr>
          <a:xfrm>
            <a:off x="6676044"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053032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A4877-8D50-6CC3-89F2-455B196E2B3A}"/>
              </a:ext>
            </a:extLst>
          </p:cNvPr>
          <p:cNvSpPr>
            <a:spLocks noGrp="1"/>
          </p:cNvSpPr>
          <p:nvPr>
            <p:ph type="title"/>
          </p:nvPr>
        </p:nvSpPr>
        <p:spPr>
          <a:xfrm>
            <a:off x="6417733" y="904194"/>
            <a:ext cx="5291663" cy="1628775"/>
          </a:xfrm>
        </p:spPr>
        <p:txBody>
          <a:bodyPr anchor="b">
            <a:normAutofit/>
          </a:bodyPr>
          <a:lstStyle/>
          <a:p>
            <a:r>
              <a:rPr lang="en-US" sz="3200" dirty="0">
                <a:highlight>
                  <a:srgbClr val="FFFFFF"/>
                </a:highlight>
                <a:latin typeface="Calibri"/>
                <a:ea typeface="Calibri"/>
                <a:cs typeface="Calibri"/>
              </a:rPr>
              <a:t>2. Công </a:t>
            </a:r>
            <a:r>
              <a:rPr lang="en-US" sz="3200" dirty="0" err="1">
                <a:highlight>
                  <a:srgbClr val="FFFFFF"/>
                </a:highlight>
                <a:latin typeface="Calibri"/>
                <a:ea typeface="Calibri"/>
                <a:cs typeface="Calibri"/>
              </a:rPr>
              <a:t>nghệ</a:t>
            </a:r>
            <a:r>
              <a:rPr lang="en-US" sz="3200" dirty="0">
                <a:highlight>
                  <a:srgbClr val="FFFFFF"/>
                </a:highlight>
                <a:latin typeface="Calibri"/>
                <a:ea typeface="Calibri"/>
                <a:cs typeface="Calibri"/>
              </a:rPr>
              <a:t> </a:t>
            </a:r>
            <a:r>
              <a:rPr lang="en-US" sz="3200" dirty="0" err="1">
                <a:highlight>
                  <a:srgbClr val="FFFFFF"/>
                </a:highlight>
                <a:latin typeface="Calibri"/>
                <a:ea typeface="Calibri"/>
                <a:cs typeface="Calibri"/>
              </a:rPr>
              <a:t>sử</a:t>
            </a:r>
            <a:r>
              <a:rPr lang="en-US" sz="3200" dirty="0">
                <a:highlight>
                  <a:srgbClr val="FFFFFF"/>
                </a:highlight>
                <a:latin typeface="Calibri"/>
                <a:ea typeface="Calibri"/>
                <a:cs typeface="Calibri"/>
              </a:rPr>
              <a:t> </a:t>
            </a:r>
            <a:r>
              <a:rPr lang="en-US" sz="3200" dirty="0" err="1">
                <a:highlight>
                  <a:srgbClr val="FFFFFF"/>
                </a:highlight>
                <a:latin typeface="Calibri"/>
                <a:ea typeface="Calibri"/>
                <a:cs typeface="Calibri"/>
              </a:rPr>
              <a:t>dụng</a:t>
            </a:r>
            <a:endParaRPr lang="en-US" sz="3200" dirty="0" err="1">
              <a:latin typeface="Calibri"/>
              <a:ea typeface="Calibri"/>
              <a:cs typeface="Calibri"/>
            </a:endParaRPr>
          </a:p>
          <a:p>
            <a:endParaRPr lang="en-US" sz="4000"/>
          </a:p>
        </p:txBody>
      </p:sp>
      <p:pic>
        <p:nvPicPr>
          <p:cNvPr id="4" name="Picture 3" descr="Tải miễn phí Isometric Kinh Doanh Công Nghệ Máy Tính Tài Chính Miễn Phí  Khấu Trừ Các Vector PNG Công cụ đồ họa | AI chuyên nghiệp - Pikbest">
            <a:extLst>
              <a:ext uri="{FF2B5EF4-FFF2-40B4-BE49-F238E27FC236}">
                <a16:creationId xmlns:a16="http://schemas.microsoft.com/office/drawing/2014/main" id="{D4B8D313-A586-4D8D-2486-90237DB2715A}"/>
              </a:ext>
            </a:extLst>
          </p:cNvPr>
          <p:cNvPicPr>
            <a:picLocks noChangeAspect="1"/>
          </p:cNvPicPr>
          <p:nvPr/>
        </p:nvPicPr>
        <p:blipFill>
          <a:blip r:embed="rId2"/>
          <a:srcRect l="3724" r="7366"/>
          <a:stretch>
            <a:fillRect/>
          </a:stretch>
        </p:blipFill>
        <p:spPr>
          <a:xfrm>
            <a:off x="2" y="1587"/>
            <a:ext cx="6095999" cy="6856413"/>
          </a:xfrm>
          <a:custGeom>
            <a:avLst/>
            <a:gdLst/>
            <a:ahLst/>
            <a:cxnLst/>
            <a:rect l="l" t="t" r="r" b="b"/>
            <a:pathLst>
              <a:path w="6649908" h="6856413">
                <a:moveTo>
                  <a:pt x="0" y="0"/>
                </a:moveTo>
                <a:lnTo>
                  <a:pt x="6559859" y="0"/>
                </a:lnTo>
                <a:lnTo>
                  <a:pt x="6572145" y="79394"/>
                </a:lnTo>
                <a:cubicBezTo>
                  <a:pt x="6857782" y="2230562"/>
                  <a:pt x="6243159" y="4473353"/>
                  <a:pt x="6528796" y="6624522"/>
                </a:cubicBezTo>
                <a:lnTo>
                  <a:pt x="6564680" y="6856413"/>
                </a:lnTo>
                <a:lnTo>
                  <a:pt x="0" y="6856413"/>
                </a:lnTo>
                <a:close/>
              </a:path>
            </a:pathLst>
          </a:custGeom>
        </p:spPr>
      </p:pic>
      <p:sp>
        <p:nvSpPr>
          <p:cNvPr id="3" name="Content Placeholder 2">
            <a:extLst>
              <a:ext uri="{FF2B5EF4-FFF2-40B4-BE49-F238E27FC236}">
                <a16:creationId xmlns:a16="http://schemas.microsoft.com/office/drawing/2014/main" id="{DB37EFEC-11C3-0D8B-C368-B1CA75B9E1EB}"/>
              </a:ext>
            </a:extLst>
          </p:cNvPr>
          <p:cNvSpPr>
            <a:spLocks noGrp="1"/>
          </p:cNvSpPr>
          <p:nvPr>
            <p:ph idx="1"/>
          </p:nvPr>
        </p:nvSpPr>
        <p:spPr>
          <a:xfrm>
            <a:off x="5975049" y="2549297"/>
            <a:ext cx="5734348" cy="3752849"/>
          </a:xfrm>
        </p:spPr>
        <p:txBody>
          <a:bodyPr vert="horz" lIns="91440" tIns="45720" rIns="91440" bIns="45720" rtlCol="0" anchor="t">
            <a:normAutofit/>
          </a:bodyPr>
          <a:lstStyle/>
          <a:p>
            <a:r>
              <a:rPr lang="en-US" sz="2000" b="1" dirty="0" err="1">
                <a:highlight>
                  <a:srgbClr val="FFFFFF"/>
                </a:highlight>
                <a:latin typeface="Calibri"/>
                <a:ea typeface="Calibri"/>
                <a:cs typeface="Calibri"/>
              </a:rPr>
              <a:t>Hệ</a:t>
            </a:r>
            <a:r>
              <a:rPr lang="en-US" sz="2000" b="1" dirty="0">
                <a:highlight>
                  <a:srgbClr val="FFFFFF"/>
                </a:highlight>
                <a:latin typeface="Calibri"/>
                <a:ea typeface="Calibri"/>
                <a:cs typeface="Calibri"/>
              </a:rPr>
              <a:t> </a:t>
            </a:r>
            <a:r>
              <a:rPr lang="en-US" sz="2000" b="1" dirty="0" err="1">
                <a:highlight>
                  <a:srgbClr val="FFFFFF"/>
                </a:highlight>
                <a:latin typeface="Calibri"/>
                <a:ea typeface="Calibri"/>
                <a:cs typeface="Calibri"/>
              </a:rPr>
              <a:t>thống</a:t>
            </a:r>
            <a:r>
              <a:rPr lang="en-US" sz="2000" b="1" dirty="0">
                <a:highlight>
                  <a:srgbClr val="FFFFFF"/>
                </a:highlight>
                <a:latin typeface="Calibri"/>
                <a:ea typeface="Calibri"/>
                <a:cs typeface="Calibri"/>
              </a:rPr>
              <a:t> </a:t>
            </a:r>
            <a:r>
              <a:rPr lang="en-US" sz="2000" b="1" dirty="0" err="1">
                <a:highlight>
                  <a:srgbClr val="FFFFFF"/>
                </a:highlight>
                <a:latin typeface="Calibri"/>
                <a:ea typeface="Calibri"/>
                <a:cs typeface="Calibri"/>
              </a:rPr>
              <a:t>quản</a:t>
            </a:r>
            <a:r>
              <a:rPr lang="en-US" sz="2000" b="1" dirty="0">
                <a:highlight>
                  <a:srgbClr val="FFFFFF"/>
                </a:highlight>
                <a:latin typeface="Calibri"/>
                <a:ea typeface="Calibri"/>
                <a:cs typeface="Calibri"/>
              </a:rPr>
              <a:t> </a:t>
            </a:r>
            <a:r>
              <a:rPr lang="en-US" sz="2000" b="1" dirty="0" err="1">
                <a:highlight>
                  <a:srgbClr val="FFFFFF"/>
                </a:highlight>
                <a:latin typeface="Calibri"/>
                <a:ea typeface="Calibri"/>
                <a:cs typeface="Calibri"/>
              </a:rPr>
              <a:t>lý</a:t>
            </a:r>
            <a:r>
              <a:rPr lang="en-US" sz="2000" b="1" dirty="0">
                <a:highlight>
                  <a:srgbClr val="FFFFFF"/>
                </a:highlight>
                <a:latin typeface="Calibri"/>
                <a:ea typeface="Calibri"/>
                <a:cs typeface="Calibri"/>
              </a:rPr>
              <a:t> </a:t>
            </a:r>
            <a:r>
              <a:rPr lang="en-US" sz="2000" b="1" dirty="0" err="1">
                <a:highlight>
                  <a:srgbClr val="FFFFFF"/>
                </a:highlight>
                <a:latin typeface="Calibri"/>
                <a:ea typeface="Calibri"/>
                <a:cs typeface="Calibri"/>
              </a:rPr>
              <a:t>học</a:t>
            </a:r>
            <a:r>
              <a:rPr lang="en-US" sz="2000" b="1" dirty="0">
                <a:highlight>
                  <a:srgbClr val="FFFFFF"/>
                </a:highlight>
                <a:latin typeface="Calibri"/>
                <a:ea typeface="Calibri"/>
                <a:cs typeface="Calibri"/>
              </a:rPr>
              <a:t> </a:t>
            </a:r>
            <a:r>
              <a:rPr lang="en-US" sz="2000" b="1" dirty="0" err="1">
                <a:highlight>
                  <a:srgbClr val="FFFFFF"/>
                </a:highlight>
                <a:latin typeface="Calibri"/>
                <a:ea typeface="Calibri"/>
                <a:cs typeface="Calibri"/>
              </a:rPr>
              <a:t>tập</a:t>
            </a:r>
            <a:r>
              <a:rPr lang="en-US" sz="2000" b="1" dirty="0">
                <a:highlight>
                  <a:srgbClr val="FFFFFF"/>
                </a:highlight>
                <a:latin typeface="Calibri"/>
                <a:ea typeface="Calibri"/>
                <a:cs typeface="Calibri"/>
              </a:rPr>
              <a:t>:</a:t>
            </a:r>
            <a:r>
              <a:rPr lang="en-US" sz="2000" dirty="0">
                <a:highlight>
                  <a:srgbClr val="FFFFFF"/>
                </a:highlight>
                <a:latin typeface="Calibri"/>
                <a:ea typeface="Calibri"/>
                <a:cs typeface="Calibri"/>
              </a:rPr>
              <a:t> Moodle (PHP, MySQL/MariaDB).</a:t>
            </a:r>
            <a:endParaRPr lang="en-US" sz="2000">
              <a:latin typeface="Calibri"/>
              <a:ea typeface="Calibri"/>
              <a:cs typeface="Calibri"/>
            </a:endParaRPr>
          </a:p>
          <a:p>
            <a:r>
              <a:rPr lang="en-US" sz="2000" b="1" dirty="0" err="1">
                <a:highlight>
                  <a:srgbClr val="FFFFFF"/>
                </a:highlight>
                <a:latin typeface="Calibri"/>
                <a:ea typeface="Calibri"/>
                <a:cs typeface="Calibri"/>
              </a:rPr>
              <a:t>Tầng</a:t>
            </a:r>
            <a:r>
              <a:rPr lang="en-US" sz="2000" b="1" dirty="0">
                <a:highlight>
                  <a:srgbClr val="FFFFFF"/>
                </a:highlight>
                <a:latin typeface="Calibri"/>
                <a:ea typeface="Calibri"/>
                <a:cs typeface="Calibri"/>
              </a:rPr>
              <a:t> API Gateway:</a:t>
            </a:r>
            <a:r>
              <a:rPr lang="en-US" sz="2000" dirty="0">
                <a:highlight>
                  <a:srgbClr val="FFFFFF"/>
                </a:highlight>
                <a:latin typeface="Calibri"/>
                <a:ea typeface="Calibri"/>
                <a:cs typeface="Calibri"/>
              </a:rPr>
              <a:t> Laravel (PHP) - </a:t>
            </a:r>
            <a:r>
              <a:rPr lang="en-US" sz="2000" dirty="0" err="1">
                <a:highlight>
                  <a:srgbClr val="FFFFFF"/>
                </a:highlight>
                <a:latin typeface="Calibri"/>
                <a:ea typeface="Calibri"/>
                <a:cs typeface="Calibri"/>
              </a:rPr>
              <a:t>Xử</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lý</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xác</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thực</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phân</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quyền</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gọi</a:t>
            </a:r>
            <a:r>
              <a:rPr lang="en-US" sz="2000" dirty="0">
                <a:highlight>
                  <a:srgbClr val="FFFFFF"/>
                </a:highlight>
                <a:latin typeface="Calibri"/>
                <a:ea typeface="Calibri"/>
                <a:cs typeface="Calibri"/>
              </a:rPr>
              <a:t> Moodle Web Services.</a:t>
            </a:r>
            <a:endParaRPr lang="en-US" sz="2000">
              <a:latin typeface="Calibri"/>
              <a:ea typeface="Calibri"/>
              <a:cs typeface="Calibri"/>
            </a:endParaRPr>
          </a:p>
          <a:p>
            <a:r>
              <a:rPr lang="en-US" sz="2000" b="1" dirty="0" err="1">
                <a:highlight>
                  <a:srgbClr val="FFFFFF"/>
                </a:highlight>
                <a:latin typeface="Calibri"/>
                <a:ea typeface="Calibri"/>
                <a:cs typeface="Calibri"/>
              </a:rPr>
              <a:t>Tầng</a:t>
            </a:r>
            <a:r>
              <a:rPr lang="en-US" sz="2000" b="1" dirty="0">
                <a:highlight>
                  <a:srgbClr val="FFFFFF"/>
                </a:highlight>
                <a:latin typeface="Calibri"/>
                <a:ea typeface="Calibri"/>
                <a:cs typeface="Calibri"/>
              </a:rPr>
              <a:t> Backend RAG:</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FastAPI</a:t>
            </a:r>
            <a:r>
              <a:rPr lang="en-US" sz="2000" dirty="0">
                <a:highlight>
                  <a:srgbClr val="FFFFFF"/>
                </a:highlight>
                <a:latin typeface="Calibri"/>
                <a:ea typeface="Calibri"/>
                <a:cs typeface="Calibri"/>
              </a:rPr>
              <a:t> (Python) - </a:t>
            </a:r>
            <a:r>
              <a:rPr lang="en-US" sz="2000" dirty="0" err="1">
                <a:highlight>
                  <a:srgbClr val="FFFFFF"/>
                </a:highlight>
                <a:latin typeface="Calibri"/>
                <a:ea typeface="Calibri"/>
                <a:cs typeface="Calibri"/>
              </a:rPr>
              <a:t>Phân</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loại</a:t>
            </a:r>
            <a:r>
              <a:rPr lang="en-US" sz="2000" dirty="0">
                <a:highlight>
                  <a:srgbClr val="FFFFFF"/>
                </a:highlight>
                <a:latin typeface="Calibri"/>
                <a:ea typeface="Calibri"/>
                <a:cs typeface="Calibri"/>
              </a:rPr>
              <a:t> ý </a:t>
            </a:r>
            <a:r>
              <a:rPr lang="en-US" sz="2000" dirty="0" err="1">
                <a:highlight>
                  <a:srgbClr val="FFFFFF"/>
                </a:highlight>
                <a:latin typeface="Calibri"/>
                <a:ea typeface="Calibri"/>
                <a:cs typeface="Calibri"/>
              </a:rPr>
              <a:t>định</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truy</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hồi</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ngữ</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nghĩa</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giao</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tiếp</a:t>
            </a:r>
            <a:r>
              <a:rPr lang="en-US" sz="2000" dirty="0">
                <a:highlight>
                  <a:srgbClr val="FFFFFF"/>
                </a:highlight>
                <a:latin typeface="Calibri"/>
                <a:ea typeface="Calibri"/>
                <a:cs typeface="Calibri"/>
              </a:rPr>
              <a:t> LLM.</a:t>
            </a:r>
            <a:endParaRPr lang="en-US" sz="2000">
              <a:latin typeface="Calibri"/>
              <a:ea typeface="Calibri"/>
              <a:cs typeface="Calibri"/>
            </a:endParaRPr>
          </a:p>
          <a:p>
            <a:r>
              <a:rPr lang="en-US" sz="2000" b="1" dirty="0" err="1">
                <a:highlight>
                  <a:srgbClr val="FFFFFF"/>
                </a:highlight>
                <a:latin typeface="Calibri"/>
                <a:ea typeface="Calibri"/>
                <a:cs typeface="Calibri"/>
              </a:rPr>
              <a:t>Cơ</a:t>
            </a:r>
            <a:r>
              <a:rPr lang="en-US" sz="2000" b="1" dirty="0">
                <a:highlight>
                  <a:srgbClr val="FFFFFF"/>
                </a:highlight>
                <a:latin typeface="Calibri"/>
                <a:ea typeface="Calibri"/>
                <a:cs typeface="Calibri"/>
              </a:rPr>
              <a:t> </a:t>
            </a:r>
            <a:r>
              <a:rPr lang="en-US" sz="2000" b="1" dirty="0" err="1">
                <a:highlight>
                  <a:srgbClr val="FFFFFF"/>
                </a:highlight>
                <a:latin typeface="Calibri"/>
                <a:ea typeface="Calibri"/>
                <a:cs typeface="Calibri"/>
              </a:rPr>
              <a:t>sở</a:t>
            </a:r>
            <a:r>
              <a:rPr lang="en-US" sz="2000" b="1" dirty="0">
                <a:highlight>
                  <a:srgbClr val="FFFFFF"/>
                </a:highlight>
                <a:latin typeface="Calibri"/>
                <a:ea typeface="Calibri"/>
                <a:cs typeface="Calibri"/>
              </a:rPr>
              <a:t> </a:t>
            </a:r>
            <a:r>
              <a:rPr lang="en-US" sz="2000" b="1" dirty="0" err="1">
                <a:highlight>
                  <a:srgbClr val="FFFFFF"/>
                </a:highlight>
                <a:latin typeface="Calibri"/>
                <a:ea typeface="Calibri"/>
                <a:cs typeface="Calibri"/>
              </a:rPr>
              <a:t>dữ</a:t>
            </a:r>
            <a:r>
              <a:rPr lang="en-US" sz="2000" b="1" dirty="0">
                <a:highlight>
                  <a:srgbClr val="FFFFFF"/>
                </a:highlight>
                <a:latin typeface="Calibri"/>
                <a:ea typeface="Calibri"/>
                <a:cs typeface="Calibri"/>
              </a:rPr>
              <a:t> </a:t>
            </a:r>
            <a:r>
              <a:rPr lang="en-US" sz="2000" b="1" dirty="0" err="1">
                <a:highlight>
                  <a:srgbClr val="FFFFFF"/>
                </a:highlight>
                <a:latin typeface="Calibri"/>
                <a:ea typeface="Calibri"/>
                <a:cs typeface="Calibri"/>
              </a:rPr>
              <a:t>liệu</a:t>
            </a:r>
            <a:r>
              <a:rPr lang="en-US" sz="2000" b="1" dirty="0">
                <a:highlight>
                  <a:srgbClr val="FFFFFF"/>
                </a:highlight>
                <a:latin typeface="Calibri"/>
                <a:ea typeface="Calibri"/>
                <a:cs typeface="Calibri"/>
              </a:rPr>
              <a:t> Vector:</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ChromaDB</a:t>
            </a:r>
            <a:r>
              <a:rPr lang="en-US" sz="2000" dirty="0">
                <a:highlight>
                  <a:srgbClr val="FFFFFF"/>
                </a:highlight>
                <a:latin typeface="Calibri"/>
                <a:ea typeface="Calibri"/>
                <a:cs typeface="Calibri"/>
              </a:rPr>
              <a:t>.</a:t>
            </a:r>
            <a:endParaRPr lang="en-US" sz="2000">
              <a:latin typeface="Calibri"/>
              <a:ea typeface="Calibri"/>
              <a:cs typeface="Calibri"/>
            </a:endParaRPr>
          </a:p>
          <a:p>
            <a:r>
              <a:rPr lang="en-US" sz="2000" b="1" dirty="0" err="1">
                <a:highlight>
                  <a:srgbClr val="FFFFFF"/>
                </a:highlight>
                <a:latin typeface="Calibri"/>
                <a:ea typeface="Calibri"/>
                <a:cs typeface="Calibri"/>
              </a:rPr>
              <a:t>Mô</a:t>
            </a:r>
            <a:r>
              <a:rPr lang="en-US" sz="2000" b="1" dirty="0">
                <a:highlight>
                  <a:srgbClr val="FFFFFF"/>
                </a:highlight>
                <a:latin typeface="Calibri"/>
                <a:ea typeface="Calibri"/>
                <a:cs typeface="Calibri"/>
              </a:rPr>
              <a:t> </a:t>
            </a:r>
            <a:r>
              <a:rPr lang="en-US" sz="2000" b="1" dirty="0" err="1">
                <a:highlight>
                  <a:srgbClr val="FFFFFF"/>
                </a:highlight>
                <a:latin typeface="Calibri"/>
                <a:ea typeface="Calibri"/>
                <a:cs typeface="Calibri"/>
              </a:rPr>
              <a:t>hình</a:t>
            </a:r>
            <a:r>
              <a:rPr lang="en-US" sz="2000" b="1" dirty="0">
                <a:highlight>
                  <a:srgbClr val="FFFFFF"/>
                </a:highlight>
                <a:latin typeface="Calibri"/>
                <a:ea typeface="Calibri"/>
                <a:cs typeface="Calibri"/>
              </a:rPr>
              <a:t> AI:</a:t>
            </a:r>
            <a:r>
              <a:rPr lang="en-US" sz="2000" dirty="0">
                <a:highlight>
                  <a:srgbClr val="FFFFFF"/>
                </a:highlight>
                <a:latin typeface="Calibri"/>
                <a:ea typeface="Calibri"/>
                <a:cs typeface="Calibri"/>
              </a:rPr>
              <a:t> NVIDIA NIM / Google Gemini (</a:t>
            </a:r>
            <a:r>
              <a:rPr lang="en-US" sz="2000" dirty="0" err="1">
                <a:highlight>
                  <a:srgbClr val="FFFFFF"/>
                </a:highlight>
                <a:latin typeface="Calibri"/>
                <a:ea typeface="Calibri"/>
                <a:cs typeface="Calibri"/>
              </a:rPr>
              <a:t>sinh</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văn</a:t>
            </a:r>
            <a:r>
              <a:rPr lang="en-US" sz="2000" dirty="0">
                <a:highlight>
                  <a:srgbClr val="FFFFFF"/>
                </a:highlight>
                <a:latin typeface="Calibri"/>
                <a:ea typeface="Calibri"/>
                <a:cs typeface="Calibri"/>
              </a:rPr>
              <a:t> </a:t>
            </a:r>
            <a:r>
              <a:rPr lang="en-US" sz="2000" dirty="0" err="1">
                <a:highlight>
                  <a:srgbClr val="FFFFFF"/>
                </a:highlight>
                <a:latin typeface="Calibri"/>
                <a:ea typeface="Calibri"/>
                <a:cs typeface="Calibri"/>
              </a:rPr>
              <a:t>bản</a:t>
            </a:r>
            <a:r>
              <a:rPr lang="en-US" sz="2000" dirty="0">
                <a:highlight>
                  <a:srgbClr val="FFFFFF"/>
                </a:highlight>
                <a:latin typeface="Calibri"/>
                <a:ea typeface="Calibri"/>
                <a:cs typeface="Calibri"/>
              </a:rPr>
              <a:t> &amp; </a:t>
            </a:r>
            <a:r>
              <a:rPr lang="en-US" sz="2000" dirty="0" err="1">
                <a:highlight>
                  <a:srgbClr val="FFFFFF"/>
                </a:highlight>
                <a:latin typeface="Calibri"/>
                <a:ea typeface="Calibri"/>
                <a:cs typeface="Calibri"/>
              </a:rPr>
              <a:t>tạo</a:t>
            </a:r>
            <a:r>
              <a:rPr lang="en-US" sz="2000" dirty="0">
                <a:highlight>
                  <a:srgbClr val="FFFFFF"/>
                </a:highlight>
                <a:latin typeface="Calibri"/>
                <a:ea typeface="Calibri"/>
                <a:cs typeface="Calibri"/>
              </a:rPr>
              <a:t> embedding).</a:t>
            </a:r>
            <a:endParaRPr lang="en-US" sz="2000" dirty="0">
              <a:latin typeface="Calibri"/>
              <a:ea typeface="Calibri"/>
              <a:cs typeface="Calibri"/>
            </a:endParaRPr>
          </a:p>
          <a:p>
            <a:endParaRPr lang="en-US" sz="1800"/>
          </a:p>
        </p:txBody>
      </p:sp>
    </p:spTree>
    <p:extLst>
      <p:ext uri="{BB962C8B-B14F-4D97-AF65-F5344CB8AC3E}">
        <p14:creationId xmlns:p14="http://schemas.microsoft.com/office/powerpoint/2010/main" val="674806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36BA1C-7A00-BCCE-CB9E-412774A4253A}"/>
              </a:ext>
            </a:extLst>
          </p:cNvPr>
          <p:cNvSpPr>
            <a:spLocks noGrp="1"/>
          </p:cNvSpPr>
          <p:nvPr>
            <p:ph type="title"/>
          </p:nvPr>
        </p:nvSpPr>
        <p:spPr>
          <a:xfrm>
            <a:off x="429768" y="411480"/>
            <a:ext cx="11201400" cy="1106424"/>
          </a:xfrm>
        </p:spPr>
        <p:txBody>
          <a:bodyPr>
            <a:normAutofit/>
          </a:bodyPr>
          <a:lstStyle/>
          <a:p>
            <a:r>
              <a:rPr lang="en-US" sz="3600" dirty="0" err="1">
                <a:highlight>
                  <a:srgbClr val="FFFFFF"/>
                </a:highlight>
                <a:latin typeface="Calibri"/>
                <a:ea typeface="Calibri"/>
                <a:cs typeface="Calibri"/>
              </a:rPr>
              <a:t>Tổng</a:t>
            </a:r>
            <a:r>
              <a:rPr lang="en-US" sz="3600" dirty="0">
                <a:highlight>
                  <a:srgbClr val="FFFFFF"/>
                </a:highlight>
                <a:latin typeface="Calibri"/>
                <a:ea typeface="Calibri"/>
                <a:cs typeface="Calibri"/>
              </a:rPr>
              <a:t> </a:t>
            </a:r>
            <a:r>
              <a:rPr lang="en-US" sz="3600" dirty="0" err="1">
                <a:highlight>
                  <a:srgbClr val="FFFFFF"/>
                </a:highlight>
                <a:latin typeface="Calibri"/>
                <a:ea typeface="Calibri"/>
                <a:cs typeface="Calibri"/>
              </a:rPr>
              <a:t>quan</a:t>
            </a:r>
            <a:r>
              <a:rPr lang="en-US" sz="3600" dirty="0">
                <a:highlight>
                  <a:srgbClr val="FFFFFF"/>
                </a:highlight>
                <a:latin typeface="Calibri"/>
                <a:ea typeface="Calibri"/>
                <a:cs typeface="Calibri"/>
              </a:rPr>
              <a:t> </a:t>
            </a:r>
            <a:r>
              <a:rPr lang="en-US" sz="3600" dirty="0" err="1">
                <a:highlight>
                  <a:srgbClr val="FFFFFF"/>
                </a:highlight>
                <a:latin typeface="Calibri"/>
                <a:ea typeface="Calibri"/>
                <a:cs typeface="Calibri"/>
              </a:rPr>
              <a:t>công</a:t>
            </a:r>
            <a:r>
              <a:rPr lang="en-US" sz="3600" dirty="0">
                <a:highlight>
                  <a:srgbClr val="FFFFFF"/>
                </a:highlight>
                <a:latin typeface="Calibri"/>
                <a:ea typeface="Calibri"/>
                <a:cs typeface="Calibri"/>
              </a:rPr>
              <a:t> </a:t>
            </a:r>
            <a:r>
              <a:rPr lang="en-US" sz="3600" dirty="0" err="1">
                <a:highlight>
                  <a:srgbClr val="FFFFFF"/>
                </a:highlight>
                <a:latin typeface="Calibri"/>
                <a:ea typeface="Calibri"/>
                <a:cs typeface="Calibri"/>
              </a:rPr>
              <a:t>nghệ</a:t>
            </a:r>
            <a:r>
              <a:rPr lang="en-US" sz="3600" dirty="0">
                <a:highlight>
                  <a:srgbClr val="FFFFFF"/>
                </a:highlight>
                <a:latin typeface="Calibri"/>
                <a:ea typeface="Calibri"/>
                <a:cs typeface="Calibri"/>
              </a:rPr>
              <a:t> RAG</a:t>
            </a:r>
            <a:endParaRPr lang="en-US" sz="3600" dirty="0">
              <a:latin typeface="Calibri"/>
              <a:ea typeface="Calibri"/>
              <a:cs typeface="Calibri"/>
            </a:endParaRPr>
          </a:p>
          <a:p>
            <a:endParaRPr lang="en-US" sz="3600"/>
          </a:p>
        </p:txBody>
      </p:sp>
      <p:sp>
        <p:nvSpPr>
          <p:cNvPr id="20" name="Rectangle 19">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Picture 3">
            <a:extLst>
              <a:ext uri="{FF2B5EF4-FFF2-40B4-BE49-F238E27FC236}">
                <a16:creationId xmlns:a16="http://schemas.microsoft.com/office/drawing/2014/main" id="{9D721452-8033-3C00-2AE6-AB8A8C77035F}"/>
              </a:ext>
            </a:extLst>
          </p:cNvPr>
          <p:cNvPicPr>
            <a:picLocks noChangeAspect="1"/>
          </p:cNvPicPr>
          <p:nvPr/>
        </p:nvPicPr>
        <p:blipFill>
          <a:blip r:embed="rId2"/>
          <a:stretch>
            <a:fillRect/>
          </a:stretch>
        </p:blipFill>
        <p:spPr>
          <a:xfrm>
            <a:off x="1597" y="1512979"/>
            <a:ext cx="7457294" cy="4580980"/>
          </a:xfrm>
          <a:prstGeom prst="rect">
            <a:avLst/>
          </a:prstGeom>
        </p:spPr>
      </p:pic>
      <p:sp useBgFill="1">
        <p:nvSpPr>
          <p:cNvPr id="22" name="Rectangle 21">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F8ADF75-8F23-A149-C333-FFD3AF2CEBAF}"/>
              </a:ext>
            </a:extLst>
          </p:cNvPr>
          <p:cNvSpPr>
            <a:spLocks noGrp="1"/>
          </p:cNvSpPr>
          <p:nvPr>
            <p:ph idx="1"/>
          </p:nvPr>
        </p:nvSpPr>
        <p:spPr>
          <a:xfrm>
            <a:off x="7938752" y="2020824"/>
            <a:ext cx="3716354" cy="3959352"/>
          </a:xfrm>
        </p:spPr>
        <p:txBody>
          <a:bodyPr vert="horz" lIns="91440" tIns="45720" rIns="91440" bIns="45720" rtlCol="0" anchor="ctr">
            <a:noAutofit/>
          </a:bodyPr>
          <a:lstStyle/>
          <a:p>
            <a:r>
              <a:rPr lang="en-US" sz="1800" b="1" dirty="0">
                <a:highlight>
                  <a:srgbClr val="FFFFFF"/>
                </a:highlight>
                <a:latin typeface="Calibri"/>
                <a:ea typeface="Calibri"/>
                <a:cs typeface="Calibri"/>
              </a:rPr>
              <a:t>RAG (Retrieval-Augmented Generation):</a:t>
            </a:r>
            <a:r>
              <a:rPr lang="en-US" sz="1800" dirty="0">
                <a:highlight>
                  <a:srgbClr val="FFFFFF"/>
                </a:highlight>
                <a:latin typeface="Calibri"/>
                <a:ea typeface="Calibri"/>
                <a:cs typeface="Calibri"/>
              </a:rPr>
              <a:t> Cung </a:t>
            </a:r>
            <a:r>
              <a:rPr lang="en-US" sz="1800" dirty="0" err="1">
                <a:highlight>
                  <a:srgbClr val="FFFFFF"/>
                </a:highlight>
                <a:latin typeface="Calibri"/>
                <a:ea typeface="Calibri"/>
                <a:cs typeface="Calibri"/>
              </a:rPr>
              <a:t>cấp</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ngữ</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cảnh</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thực</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tế</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cho</a:t>
            </a:r>
            <a:r>
              <a:rPr lang="en-US" sz="1800" dirty="0">
                <a:highlight>
                  <a:srgbClr val="FFFFFF"/>
                </a:highlight>
                <a:latin typeface="Calibri"/>
                <a:ea typeface="Calibri"/>
                <a:cs typeface="Calibri"/>
              </a:rPr>
              <a:t> LLM </a:t>
            </a:r>
            <a:r>
              <a:rPr lang="en-US" sz="1800" dirty="0" err="1">
                <a:highlight>
                  <a:srgbClr val="FFFFFF"/>
                </a:highlight>
                <a:latin typeface="Calibri"/>
                <a:ea typeface="Calibri"/>
                <a:cs typeface="Calibri"/>
              </a:rPr>
              <a:t>trước</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khi</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sinh</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câu</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trả</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lời</a:t>
            </a:r>
            <a:r>
              <a:rPr lang="en-US" sz="1800" dirty="0">
                <a:highlight>
                  <a:srgbClr val="FFFFFF"/>
                </a:highlight>
                <a:latin typeface="Calibri"/>
                <a:ea typeface="Calibri"/>
                <a:cs typeface="Calibri"/>
              </a:rPr>
              <a:t>.</a:t>
            </a:r>
            <a:endParaRPr lang="en-US" sz="1800">
              <a:latin typeface="Calibri"/>
              <a:ea typeface="Calibri"/>
              <a:cs typeface="Calibri"/>
            </a:endParaRPr>
          </a:p>
          <a:p>
            <a:r>
              <a:rPr lang="en-US" sz="1800" b="1" dirty="0">
                <a:highlight>
                  <a:srgbClr val="FFFFFF"/>
                </a:highlight>
                <a:latin typeface="Calibri"/>
                <a:ea typeface="Calibri"/>
                <a:cs typeface="Calibri"/>
              </a:rPr>
              <a:t>2 Giai </a:t>
            </a:r>
            <a:r>
              <a:rPr lang="en-US" sz="1800" b="1" dirty="0" err="1">
                <a:highlight>
                  <a:srgbClr val="FFFFFF"/>
                </a:highlight>
                <a:latin typeface="Calibri"/>
                <a:ea typeface="Calibri"/>
                <a:cs typeface="Calibri"/>
              </a:rPr>
              <a:t>đoạn</a:t>
            </a:r>
            <a:r>
              <a:rPr lang="en-US" sz="1800" b="1" dirty="0">
                <a:highlight>
                  <a:srgbClr val="FFFFFF"/>
                </a:highlight>
                <a:latin typeface="Calibri"/>
                <a:ea typeface="Calibri"/>
                <a:cs typeface="Calibri"/>
              </a:rPr>
              <a:t> </a:t>
            </a:r>
            <a:r>
              <a:rPr lang="en-US" sz="1800" b="1" dirty="0" err="1">
                <a:highlight>
                  <a:srgbClr val="FFFFFF"/>
                </a:highlight>
                <a:latin typeface="Calibri"/>
                <a:ea typeface="Calibri"/>
                <a:cs typeface="Calibri"/>
              </a:rPr>
              <a:t>chính</a:t>
            </a:r>
            <a:r>
              <a:rPr lang="en-US" sz="1800" b="1" dirty="0">
                <a:highlight>
                  <a:srgbClr val="FFFFFF"/>
                </a:highlight>
                <a:latin typeface="Calibri"/>
                <a:ea typeface="Calibri"/>
                <a:cs typeface="Calibri"/>
              </a:rPr>
              <a:t>:</a:t>
            </a:r>
            <a:endParaRPr lang="en-US" sz="1800">
              <a:latin typeface="Calibri"/>
              <a:ea typeface="Calibri"/>
              <a:cs typeface="Calibri"/>
            </a:endParaRPr>
          </a:p>
          <a:p>
            <a:pPr lvl="1"/>
            <a:r>
              <a:rPr lang="en-US" sz="1800" b="1" dirty="0">
                <a:highlight>
                  <a:srgbClr val="FFFFFF"/>
                </a:highlight>
                <a:latin typeface="Calibri"/>
                <a:ea typeface="Calibri"/>
                <a:cs typeface="Calibri"/>
              </a:rPr>
              <a:t>Indexing (</a:t>
            </a:r>
            <a:r>
              <a:rPr lang="en-US" sz="1800" b="1" dirty="0" err="1">
                <a:highlight>
                  <a:srgbClr val="FFFFFF"/>
                </a:highlight>
                <a:latin typeface="Calibri"/>
                <a:ea typeface="Calibri"/>
                <a:cs typeface="Calibri"/>
              </a:rPr>
              <a:t>Lập</a:t>
            </a:r>
            <a:r>
              <a:rPr lang="en-US" sz="1800" b="1" dirty="0">
                <a:highlight>
                  <a:srgbClr val="FFFFFF"/>
                </a:highlight>
                <a:latin typeface="Calibri"/>
                <a:ea typeface="Calibri"/>
                <a:cs typeface="Calibri"/>
              </a:rPr>
              <a:t> </a:t>
            </a:r>
            <a:r>
              <a:rPr lang="en-US" sz="1800" b="1" dirty="0" err="1">
                <a:highlight>
                  <a:srgbClr val="FFFFFF"/>
                </a:highlight>
                <a:latin typeface="Calibri"/>
                <a:ea typeface="Calibri"/>
                <a:cs typeface="Calibri"/>
              </a:rPr>
              <a:t>chỉ</a:t>
            </a:r>
            <a:r>
              <a:rPr lang="en-US" sz="1800" b="1" dirty="0">
                <a:highlight>
                  <a:srgbClr val="FFFFFF"/>
                </a:highlight>
                <a:latin typeface="Calibri"/>
                <a:ea typeface="Calibri"/>
                <a:cs typeface="Calibri"/>
              </a:rPr>
              <a:t> </a:t>
            </a:r>
            <a:r>
              <a:rPr lang="en-US" sz="1800" b="1" dirty="0" err="1">
                <a:highlight>
                  <a:srgbClr val="FFFFFF"/>
                </a:highlight>
                <a:latin typeface="Calibri"/>
                <a:ea typeface="Calibri"/>
                <a:cs typeface="Calibri"/>
              </a:rPr>
              <a:t>mục</a:t>
            </a:r>
            <a:r>
              <a:rPr lang="en-US" sz="1800" b="1" dirty="0">
                <a:highlight>
                  <a:srgbClr val="FFFFFF"/>
                </a:highlight>
                <a:latin typeface="Calibri"/>
                <a:ea typeface="Calibri"/>
                <a:cs typeface="Calibri"/>
              </a:rPr>
              <a:t>):</a:t>
            </a:r>
            <a:r>
              <a:rPr lang="en-US" sz="1800" dirty="0">
                <a:highlight>
                  <a:srgbClr val="FFFFFF"/>
                </a:highlight>
                <a:latin typeface="Calibri"/>
                <a:ea typeface="Calibri"/>
                <a:cs typeface="Calibri"/>
              </a:rPr>
              <a:t> Trích </a:t>
            </a:r>
            <a:r>
              <a:rPr lang="en-US" sz="1800" dirty="0" err="1">
                <a:highlight>
                  <a:srgbClr val="FFFFFF"/>
                </a:highlight>
                <a:latin typeface="Calibri"/>
                <a:ea typeface="Calibri"/>
                <a:cs typeface="Calibri"/>
              </a:rPr>
              <a:t>xuất</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văn</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bản</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từ</a:t>
            </a:r>
            <a:r>
              <a:rPr lang="en-US" sz="1800" dirty="0">
                <a:highlight>
                  <a:srgbClr val="FFFFFF"/>
                </a:highlight>
                <a:latin typeface="Calibri"/>
                <a:ea typeface="Calibri"/>
                <a:cs typeface="Calibri"/>
              </a:rPr>
              <a:t> Moodle -&gt; Chia </a:t>
            </a:r>
            <a:r>
              <a:rPr lang="en-US" sz="1800" dirty="0" err="1">
                <a:highlight>
                  <a:srgbClr val="FFFFFF"/>
                </a:highlight>
                <a:latin typeface="Calibri"/>
                <a:ea typeface="Calibri"/>
                <a:cs typeface="Calibri"/>
              </a:rPr>
              <a:t>đoạn</a:t>
            </a:r>
            <a:r>
              <a:rPr lang="en-US" sz="1800" dirty="0">
                <a:highlight>
                  <a:srgbClr val="FFFFFF"/>
                </a:highlight>
                <a:latin typeface="Calibri"/>
                <a:ea typeface="Calibri"/>
                <a:cs typeface="Calibri"/>
              </a:rPr>
              <a:t> (Chunking) -&gt; </a:t>
            </a:r>
            <a:r>
              <a:rPr lang="en-US" sz="1800" dirty="0" err="1">
                <a:highlight>
                  <a:srgbClr val="FFFFFF"/>
                </a:highlight>
                <a:latin typeface="Calibri"/>
                <a:ea typeface="Calibri"/>
                <a:cs typeface="Calibri"/>
              </a:rPr>
              <a:t>Tạo</a:t>
            </a:r>
            <a:r>
              <a:rPr lang="en-US" sz="1800" dirty="0">
                <a:highlight>
                  <a:srgbClr val="FFFFFF"/>
                </a:highlight>
                <a:latin typeface="Calibri"/>
                <a:ea typeface="Calibri"/>
                <a:cs typeface="Calibri"/>
              </a:rPr>
              <a:t> Vector Embedding -&gt; Lưu </a:t>
            </a:r>
            <a:r>
              <a:rPr lang="en-US" sz="1800" dirty="0" err="1">
                <a:highlight>
                  <a:srgbClr val="FFFFFF"/>
                </a:highlight>
                <a:latin typeface="Calibri"/>
                <a:ea typeface="Calibri"/>
                <a:cs typeface="Calibri"/>
              </a:rPr>
              <a:t>vào</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ChromaDB</a:t>
            </a:r>
            <a:r>
              <a:rPr lang="en-US" sz="1800" dirty="0">
                <a:highlight>
                  <a:srgbClr val="FFFFFF"/>
                </a:highlight>
                <a:latin typeface="Calibri"/>
                <a:ea typeface="Calibri"/>
                <a:cs typeface="Calibri"/>
              </a:rPr>
              <a:t>.</a:t>
            </a:r>
            <a:endParaRPr lang="en-US" sz="1800">
              <a:latin typeface="Calibri"/>
              <a:ea typeface="Calibri"/>
              <a:cs typeface="Calibri"/>
            </a:endParaRPr>
          </a:p>
          <a:p>
            <a:pPr lvl="1"/>
            <a:r>
              <a:rPr lang="en-US" sz="1800" b="1" dirty="0">
                <a:highlight>
                  <a:srgbClr val="FFFFFF"/>
                </a:highlight>
                <a:latin typeface="Calibri"/>
                <a:ea typeface="Calibri"/>
                <a:cs typeface="Calibri"/>
              </a:rPr>
              <a:t>Retrieval &amp; Generation (</a:t>
            </a:r>
            <a:r>
              <a:rPr lang="en-US" sz="1800" b="1" dirty="0" err="1">
                <a:highlight>
                  <a:srgbClr val="FFFFFF"/>
                </a:highlight>
                <a:latin typeface="Calibri"/>
                <a:ea typeface="Calibri"/>
                <a:cs typeface="Calibri"/>
              </a:rPr>
              <a:t>Truy</a:t>
            </a:r>
            <a:r>
              <a:rPr lang="en-US" sz="1800" b="1" dirty="0">
                <a:highlight>
                  <a:srgbClr val="FFFFFF"/>
                </a:highlight>
                <a:latin typeface="Calibri"/>
                <a:ea typeface="Calibri"/>
                <a:cs typeface="Calibri"/>
              </a:rPr>
              <a:t> </a:t>
            </a:r>
            <a:r>
              <a:rPr lang="en-US" sz="1800" b="1" dirty="0" err="1">
                <a:highlight>
                  <a:srgbClr val="FFFFFF"/>
                </a:highlight>
                <a:latin typeface="Calibri"/>
                <a:ea typeface="Calibri"/>
                <a:cs typeface="Calibri"/>
              </a:rPr>
              <a:t>vấn</a:t>
            </a:r>
            <a:r>
              <a:rPr lang="en-US" sz="1800" b="1" dirty="0">
                <a:highlight>
                  <a:srgbClr val="FFFFFF"/>
                </a:highlight>
                <a:latin typeface="Calibri"/>
                <a:ea typeface="Calibri"/>
                <a:cs typeface="Calibri"/>
              </a:rPr>
              <a:t> &amp; Sinh </a:t>
            </a:r>
            <a:r>
              <a:rPr lang="en-US" sz="1800" b="1" dirty="0" err="1">
                <a:highlight>
                  <a:srgbClr val="FFFFFF"/>
                </a:highlight>
                <a:latin typeface="Calibri"/>
                <a:ea typeface="Calibri"/>
                <a:cs typeface="Calibri"/>
              </a:rPr>
              <a:t>văn</a:t>
            </a:r>
            <a:r>
              <a:rPr lang="en-US" sz="1800" b="1" dirty="0">
                <a:highlight>
                  <a:srgbClr val="FFFFFF"/>
                </a:highlight>
                <a:latin typeface="Calibri"/>
                <a:ea typeface="Calibri"/>
                <a:cs typeface="Calibri"/>
              </a:rPr>
              <a:t> </a:t>
            </a:r>
            <a:r>
              <a:rPr lang="en-US" sz="1800" b="1" dirty="0" err="1">
                <a:highlight>
                  <a:srgbClr val="FFFFFF"/>
                </a:highlight>
                <a:latin typeface="Calibri"/>
                <a:ea typeface="Calibri"/>
                <a:cs typeface="Calibri"/>
              </a:rPr>
              <a:t>bản</a:t>
            </a:r>
            <a:r>
              <a:rPr lang="en-US" sz="1800" b="1" dirty="0">
                <a:highlight>
                  <a:srgbClr val="FFFFFF"/>
                </a:highlight>
                <a:latin typeface="Calibri"/>
                <a:ea typeface="Calibri"/>
                <a:cs typeface="Calibri"/>
              </a:rPr>
              <a:t>):</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Mã</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hóa</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câu</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hỏi</a:t>
            </a:r>
            <a:r>
              <a:rPr lang="en-US" sz="1800" dirty="0">
                <a:highlight>
                  <a:srgbClr val="FFFFFF"/>
                </a:highlight>
                <a:latin typeface="Calibri"/>
                <a:ea typeface="Calibri"/>
                <a:cs typeface="Calibri"/>
              </a:rPr>
              <a:t> -&gt; </a:t>
            </a:r>
            <a:r>
              <a:rPr lang="en-US" sz="1800" dirty="0" err="1">
                <a:highlight>
                  <a:srgbClr val="FFFFFF"/>
                </a:highlight>
                <a:latin typeface="Calibri"/>
                <a:ea typeface="Calibri"/>
                <a:cs typeface="Calibri"/>
              </a:rPr>
              <a:t>Tìm</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kiếm</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tương</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đồng</a:t>
            </a:r>
            <a:r>
              <a:rPr lang="en-US" sz="1800" dirty="0">
                <a:highlight>
                  <a:srgbClr val="FFFFFF"/>
                </a:highlight>
                <a:latin typeface="Calibri"/>
                <a:ea typeface="Calibri"/>
                <a:cs typeface="Calibri"/>
              </a:rPr>
              <a:t> (k-NN) -&gt; </a:t>
            </a:r>
            <a:r>
              <a:rPr lang="en-US" sz="1800" dirty="0" err="1">
                <a:highlight>
                  <a:srgbClr val="FFFFFF"/>
                </a:highlight>
                <a:latin typeface="Calibri"/>
                <a:ea typeface="Calibri"/>
                <a:cs typeface="Calibri"/>
              </a:rPr>
              <a:t>Gắn</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vào</a:t>
            </a:r>
            <a:r>
              <a:rPr lang="en-US" sz="1800" dirty="0">
                <a:highlight>
                  <a:srgbClr val="FFFFFF"/>
                </a:highlight>
                <a:latin typeface="Calibri"/>
                <a:ea typeface="Calibri"/>
                <a:cs typeface="Calibri"/>
              </a:rPr>
              <a:t> Prompt -&gt; LLM </a:t>
            </a:r>
            <a:r>
              <a:rPr lang="en-US" sz="1800" dirty="0" err="1">
                <a:highlight>
                  <a:srgbClr val="FFFFFF"/>
                </a:highlight>
                <a:latin typeface="Calibri"/>
                <a:ea typeface="Calibri"/>
                <a:cs typeface="Calibri"/>
              </a:rPr>
              <a:t>trả</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lời</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kèm</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trích</a:t>
            </a:r>
            <a:r>
              <a:rPr lang="en-US" sz="1800" dirty="0">
                <a:highlight>
                  <a:srgbClr val="FFFFFF"/>
                </a:highlight>
                <a:latin typeface="Calibri"/>
                <a:ea typeface="Calibri"/>
                <a:cs typeface="Calibri"/>
              </a:rPr>
              <a:t> </a:t>
            </a:r>
            <a:r>
              <a:rPr lang="en-US" sz="1800" dirty="0" err="1">
                <a:highlight>
                  <a:srgbClr val="FFFFFF"/>
                </a:highlight>
                <a:latin typeface="Calibri"/>
                <a:ea typeface="Calibri"/>
                <a:cs typeface="Calibri"/>
              </a:rPr>
              <a:t>dẫn</a:t>
            </a:r>
            <a:r>
              <a:rPr lang="en-US" sz="1800" dirty="0">
                <a:highlight>
                  <a:srgbClr val="FFFFFF"/>
                </a:highlight>
                <a:latin typeface="Calibri"/>
                <a:ea typeface="Calibri"/>
                <a:cs typeface="Calibri"/>
              </a:rPr>
              <a:t>.</a:t>
            </a:r>
            <a:endParaRPr lang="en-US" sz="1800" dirty="0">
              <a:latin typeface="Calibri"/>
              <a:ea typeface="Calibri"/>
              <a:cs typeface="Calibri"/>
            </a:endParaRPr>
          </a:p>
          <a:p>
            <a:endParaRPr lang="en-US" sz="1500"/>
          </a:p>
        </p:txBody>
      </p:sp>
    </p:spTree>
    <p:extLst>
      <p:ext uri="{BB962C8B-B14F-4D97-AF65-F5344CB8AC3E}">
        <p14:creationId xmlns:p14="http://schemas.microsoft.com/office/powerpoint/2010/main" val="801462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8" name="Freeform: Shape 27">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 name="Freeform: Shape 29">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5019EFD-3759-D573-4DDF-7C200CFF4DEB}"/>
              </a:ext>
            </a:extLst>
          </p:cNvPr>
          <p:cNvSpPr>
            <a:spLocks noGrp="1"/>
          </p:cNvSpPr>
          <p:nvPr>
            <p:ph type="title"/>
          </p:nvPr>
        </p:nvSpPr>
        <p:spPr>
          <a:xfrm>
            <a:off x="371094" y="1161288"/>
            <a:ext cx="3438144" cy="1239012"/>
          </a:xfrm>
        </p:spPr>
        <p:txBody>
          <a:bodyPr anchor="ctr">
            <a:normAutofit/>
          </a:bodyPr>
          <a:lstStyle/>
          <a:p>
            <a:r>
              <a:rPr lang="en-US" sz="2800">
                <a:highlight>
                  <a:srgbClr val="FFFFFF"/>
                </a:highlight>
                <a:latin typeface="Calibri"/>
                <a:ea typeface="Calibri"/>
                <a:cs typeface="Calibri"/>
              </a:rPr>
              <a:t>3. Thiết kế hệ thống - Sơ đồ Use Case</a:t>
            </a:r>
            <a:endParaRPr lang="en-US" sz="2800">
              <a:latin typeface="Calibri"/>
              <a:ea typeface="Calibri"/>
              <a:cs typeface="Calibri"/>
            </a:endParaRPr>
          </a:p>
          <a:p>
            <a:endParaRPr lang="en-US" sz="2800"/>
          </a:p>
        </p:txBody>
      </p:sp>
      <p:sp>
        <p:nvSpPr>
          <p:cNvPr id="32" name="Rectangle 31">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4" name="Rectangle 33">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50F5B6B-58F7-459A-B7EE-1AC897356ECC}"/>
              </a:ext>
            </a:extLst>
          </p:cNvPr>
          <p:cNvSpPr>
            <a:spLocks noGrp="1"/>
          </p:cNvSpPr>
          <p:nvPr>
            <p:ph idx="1"/>
          </p:nvPr>
        </p:nvSpPr>
        <p:spPr>
          <a:xfrm>
            <a:off x="371094" y="2718054"/>
            <a:ext cx="3438906" cy="3207258"/>
          </a:xfrm>
        </p:spPr>
        <p:txBody>
          <a:bodyPr vert="horz" lIns="91440" tIns="45720" rIns="91440" bIns="45720" rtlCol="0" anchor="t">
            <a:normAutofit/>
          </a:bodyPr>
          <a:lstStyle/>
          <a:p>
            <a:r>
              <a:rPr lang="en-US" sz="1700" b="1">
                <a:highlight>
                  <a:srgbClr val="FFFFFF"/>
                </a:highlight>
                <a:latin typeface="Calibri"/>
                <a:ea typeface="Calibri"/>
                <a:cs typeface="Calibri"/>
              </a:rPr>
              <a:t>3 Tác nhân chính:</a:t>
            </a:r>
            <a:r>
              <a:rPr lang="en-US" sz="1700">
                <a:highlight>
                  <a:srgbClr val="FFFFFF"/>
                </a:highlight>
                <a:latin typeface="Calibri"/>
                <a:ea typeface="Calibri"/>
                <a:cs typeface="Calibri"/>
              </a:rPr>
              <a:t> Sinh viên, Giảng viên, Quản trị viên.</a:t>
            </a:r>
            <a:endParaRPr lang="en-US" sz="1700">
              <a:latin typeface="Calibri"/>
              <a:ea typeface="Calibri"/>
              <a:cs typeface="Calibri"/>
            </a:endParaRPr>
          </a:p>
          <a:p>
            <a:r>
              <a:rPr lang="en-US" sz="1700" b="1">
                <a:highlight>
                  <a:srgbClr val="FFFFFF"/>
                </a:highlight>
                <a:latin typeface="Calibri"/>
                <a:ea typeface="Calibri"/>
                <a:cs typeface="Calibri"/>
              </a:rPr>
              <a:t>Nguyên tắc:</a:t>
            </a:r>
            <a:r>
              <a:rPr lang="en-US" sz="1700">
                <a:highlight>
                  <a:srgbClr val="FFFFFF"/>
                </a:highlight>
                <a:latin typeface="Calibri"/>
                <a:ea typeface="Calibri"/>
                <a:cs typeface="Calibri"/>
              </a:rPr>
              <a:t> Kế thừa quyền (Admin &gt; Giảng viên &gt; Sinh viên).</a:t>
            </a:r>
            <a:endParaRPr lang="en-US" sz="1700">
              <a:latin typeface="Calibri"/>
              <a:ea typeface="Calibri"/>
              <a:cs typeface="Calibri"/>
            </a:endParaRPr>
          </a:p>
          <a:p>
            <a:r>
              <a:rPr lang="en-US" sz="1700" b="1">
                <a:highlight>
                  <a:srgbClr val="FFFFFF"/>
                </a:highlight>
                <a:latin typeface="Calibri"/>
                <a:ea typeface="Calibri"/>
                <a:cs typeface="Calibri"/>
              </a:rPr>
              <a:t>Tính năng cốt lõi:</a:t>
            </a:r>
            <a:r>
              <a:rPr lang="en-US" sz="1700">
                <a:highlight>
                  <a:srgbClr val="FFFFFF"/>
                </a:highlight>
                <a:latin typeface="Calibri"/>
                <a:ea typeface="Calibri"/>
                <a:cs typeface="Calibri"/>
              </a:rPr>
              <a:t> Hỏi đáp RAG, Tra cứu dữ liệu Moodle, Quản lý thông báo.</a:t>
            </a:r>
          </a:p>
        </p:txBody>
      </p:sp>
      <p:pic>
        <p:nvPicPr>
          <p:cNvPr id="4" name="Picture 3">
            <a:extLst>
              <a:ext uri="{FF2B5EF4-FFF2-40B4-BE49-F238E27FC236}">
                <a16:creationId xmlns:a16="http://schemas.microsoft.com/office/drawing/2014/main" id="{09A39832-C420-5B56-7423-593B7F22B2A6}"/>
              </a:ext>
            </a:extLst>
          </p:cNvPr>
          <p:cNvPicPr>
            <a:picLocks noChangeAspect="1"/>
          </p:cNvPicPr>
          <p:nvPr/>
        </p:nvPicPr>
        <p:blipFill>
          <a:blip r:embed="rId2"/>
          <a:stretch>
            <a:fillRect/>
          </a:stretch>
        </p:blipFill>
        <p:spPr>
          <a:xfrm>
            <a:off x="4211756" y="1114915"/>
            <a:ext cx="7981550" cy="4634411"/>
          </a:xfrm>
          <a:prstGeom prst="rect">
            <a:avLst/>
          </a:prstGeom>
        </p:spPr>
      </p:pic>
    </p:spTree>
    <p:extLst>
      <p:ext uri="{BB962C8B-B14F-4D97-AF65-F5344CB8AC3E}">
        <p14:creationId xmlns:p14="http://schemas.microsoft.com/office/powerpoint/2010/main" val="2144078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9557C-AF97-40A8-664D-5ADBB1B96DA2}"/>
              </a:ext>
            </a:extLst>
          </p:cNvPr>
          <p:cNvSpPr>
            <a:spLocks noGrp="1"/>
          </p:cNvSpPr>
          <p:nvPr>
            <p:ph type="title"/>
          </p:nvPr>
        </p:nvSpPr>
        <p:spPr>
          <a:xfrm>
            <a:off x="838200" y="365125"/>
            <a:ext cx="10515600" cy="933678"/>
          </a:xfrm>
        </p:spPr>
        <p:txBody>
          <a:bodyPr/>
          <a:lstStyle/>
          <a:p>
            <a:r>
              <a:rPr lang="en-US" sz="3200" dirty="0">
                <a:solidFill>
                  <a:srgbClr val="1B1B1E"/>
                </a:solidFill>
                <a:highlight>
                  <a:srgbClr val="FFFFFF"/>
                </a:highlight>
                <a:latin typeface="Calibri"/>
                <a:ea typeface="Calibri"/>
                <a:cs typeface="Calibri"/>
              </a:rPr>
              <a:t>4. </a:t>
            </a:r>
            <a:r>
              <a:rPr lang="en-US" sz="3200" dirty="0" err="1">
                <a:solidFill>
                  <a:srgbClr val="1B1B1E"/>
                </a:solidFill>
                <a:highlight>
                  <a:srgbClr val="FFFFFF"/>
                </a:highlight>
                <a:latin typeface="Calibri"/>
                <a:ea typeface="Calibri"/>
                <a:cs typeface="Calibri"/>
              </a:rPr>
              <a:t>Kiến</a:t>
            </a:r>
            <a:r>
              <a:rPr lang="en-US" sz="3200" dirty="0">
                <a:solidFill>
                  <a:srgbClr val="1B1B1E"/>
                </a:solidFill>
                <a:highlight>
                  <a:srgbClr val="FFFFFF"/>
                </a:highlight>
                <a:latin typeface="Calibri"/>
                <a:ea typeface="Calibri"/>
                <a:cs typeface="Calibri"/>
              </a:rPr>
              <a:t> </a:t>
            </a:r>
            <a:r>
              <a:rPr lang="en-US" sz="3200" dirty="0" err="1">
                <a:solidFill>
                  <a:srgbClr val="1B1B1E"/>
                </a:solidFill>
                <a:highlight>
                  <a:srgbClr val="FFFFFF"/>
                </a:highlight>
                <a:latin typeface="Calibri"/>
                <a:ea typeface="Calibri"/>
                <a:cs typeface="Calibri"/>
              </a:rPr>
              <a:t>trúc</a:t>
            </a:r>
            <a:r>
              <a:rPr lang="en-US" sz="3200" dirty="0">
                <a:solidFill>
                  <a:srgbClr val="1B1B1E"/>
                </a:solidFill>
                <a:highlight>
                  <a:srgbClr val="FFFFFF"/>
                </a:highlight>
                <a:latin typeface="Calibri"/>
                <a:ea typeface="Calibri"/>
                <a:cs typeface="Calibri"/>
              </a:rPr>
              <a:t> </a:t>
            </a:r>
            <a:r>
              <a:rPr lang="en-US" sz="3200" dirty="0" err="1">
                <a:solidFill>
                  <a:srgbClr val="1B1B1E"/>
                </a:solidFill>
                <a:highlight>
                  <a:srgbClr val="FFFFFF"/>
                </a:highlight>
                <a:latin typeface="Calibri"/>
                <a:ea typeface="Calibri"/>
                <a:cs typeface="Calibri"/>
              </a:rPr>
              <a:t>tổng</a:t>
            </a:r>
            <a:r>
              <a:rPr lang="en-US" sz="3200" dirty="0">
                <a:solidFill>
                  <a:srgbClr val="1B1B1E"/>
                </a:solidFill>
                <a:highlight>
                  <a:srgbClr val="FFFFFF"/>
                </a:highlight>
                <a:latin typeface="Calibri"/>
                <a:ea typeface="Calibri"/>
                <a:cs typeface="Calibri"/>
              </a:rPr>
              <a:t> </a:t>
            </a:r>
            <a:r>
              <a:rPr lang="en-US" sz="3200" dirty="0" err="1">
                <a:solidFill>
                  <a:srgbClr val="1B1B1E"/>
                </a:solidFill>
                <a:highlight>
                  <a:srgbClr val="FFFFFF"/>
                </a:highlight>
                <a:latin typeface="Calibri"/>
                <a:ea typeface="Calibri"/>
                <a:cs typeface="Calibri"/>
              </a:rPr>
              <a:t>thể</a:t>
            </a:r>
            <a:r>
              <a:rPr lang="en-US" sz="3200" dirty="0">
                <a:solidFill>
                  <a:srgbClr val="1B1B1E"/>
                </a:solidFill>
                <a:highlight>
                  <a:srgbClr val="FFFFFF"/>
                </a:highlight>
                <a:latin typeface="Calibri"/>
                <a:ea typeface="Calibri"/>
                <a:cs typeface="Calibri"/>
              </a:rPr>
              <a:t> </a:t>
            </a:r>
            <a:r>
              <a:rPr lang="en-US" sz="3200" dirty="0" err="1">
                <a:solidFill>
                  <a:srgbClr val="1B1B1E"/>
                </a:solidFill>
                <a:highlight>
                  <a:srgbClr val="FFFFFF"/>
                </a:highlight>
                <a:latin typeface="Calibri"/>
                <a:ea typeface="Calibri"/>
                <a:cs typeface="Calibri"/>
              </a:rPr>
              <a:t>hệ</a:t>
            </a:r>
            <a:r>
              <a:rPr lang="en-US" sz="3200" dirty="0">
                <a:solidFill>
                  <a:srgbClr val="1B1B1E"/>
                </a:solidFill>
                <a:highlight>
                  <a:srgbClr val="FFFFFF"/>
                </a:highlight>
                <a:latin typeface="Calibri"/>
                <a:ea typeface="Calibri"/>
                <a:cs typeface="Calibri"/>
              </a:rPr>
              <a:t> </a:t>
            </a:r>
            <a:r>
              <a:rPr lang="en-US" sz="3200" dirty="0" err="1">
                <a:solidFill>
                  <a:srgbClr val="1B1B1E"/>
                </a:solidFill>
                <a:highlight>
                  <a:srgbClr val="FFFFFF"/>
                </a:highlight>
                <a:latin typeface="Calibri"/>
                <a:ea typeface="Calibri"/>
                <a:cs typeface="Calibri"/>
              </a:rPr>
              <a:t>thống</a:t>
            </a:r>
            <a:r>
              <a:rPr lang="en-US" sz="3200" dirty="0">
                <a:solidFill>
                  <a:srgbClr val="1B1B1E"/>
                </a:solidFill>
                <a:highlight>
                  <a:srgbClr val="FFFFFF"/>
                </a:highlight>
                <a:latin typeface="Calibri"/>
                <a:ea typeface="Calibri"/>
                <a:cs typeface="Calibri"/>
              </a:rPr>
              <a:t> </a:t>
            </a:r>
            <a:endParaRPr lang="en-US" sz="3200" dirty="0">
              <a:latin typeface="Calibri"/>
              <a:ea typeface="Calibri"/>
              <a:cs typeface="Calibri"/>
            </a:endParaRPr>
          </a:p>
          <a:p>
            <a:endParaRPr lang="en-US" dirty="0"/>
          </a:p>
        </p:txBody>
      </p:sp>
      <p:sp>
        <p:nvSpPr>
          <p:cNvPr id="3" name="Content Placeholder 2">
            <a:extLst>
              <a:ext uri="{FF2B5EF4-FFF2-40B4-BE49-F238E27FC236}">
                <a16:creationId xmlns:a16="http://schemas.microsoft.com/office/drawing/2014/main" id="{20384D54-5C47-6D58-A30F-7EF6FC521530}"/>
              </a:ext>
            </a:extLst>
          </p:cNvPr>
          <p:cNvSpPr>
            <a:spLocks noGrp="1"/>
          </p:cNvSpPr>
          <p:nvPr>
            <p:ph idx="1"/>
          </p:nvPr>
        </p:nvSpPr>
        <p:spPr>
          <a:xfrm>
            <a:off x="838200" y="831396"/>
            <a:ext cx="10515600" cy="4351338"/>
          </a:xfrm>
        </p:spPr>
        <p:txBody>
          <a:bodyPr vert="horz" lIns="91440" tIns="45720" rIns="91440" bIns="45720" rtlCol="0" anchor="t">
            <a:normAutofit/>
          </a:bodyPr>
          <a:lstStyle/>
          <a:p>
            <a:r>
              <a:rPr lang="en-US" sz="2000" b="1" dirty="0" err="1">
                <a:solidFill>
                  <a:srgbClr val="1B1B1E"/>
                </a:solidFill>
                <a:highlight>
                  <a:srgbClr val="FFFFFF"/>
                </a:highlight>
                <a:latin typeface="Calibri"/>
                <a:ea typeface="Calibri"/>
                <a:cs typeface="Calibri"/>
              </a:rPr>
              <a:t>Thiết</a:t>
            </a:r>
            <a:r>
              <a:rPr lang="en-US" sz="2000" b="1" dirty="0">
                <a:solidFill>
                  <a:srgbClr val="1B1B1E"/>
                </a:solidFill>
                <a:highlight>
                  <a:srgbClr val="FFFFFF"/>
                </a:highlight>
                <a:latin typeface="Calibri"/>
                <a:ea typeface="Calibri"/>
                <a:cs typeface="Calibri"/>
              </a:rPr>
              <a:t> </a:t>
            </a:r>
            <a:r>
              <a:rPr lang="en-US" sz="2000" b="1" dirty="0" err="1">
                <a:solidFill>
                  <a:srgbClr val="1B1B1E"/>
                </a:solidFill>
                <a:highlight>
                  <a:srgbClr val="FFFFFF"/>
                </a:highlight>
                <a:latin typeface="Calibri"/>
                <a:ea typeface="Calibri"/>
                <a:cs typeface="Calibri"/>
              </a:rPr>
              <a:t>kế</a:t>
            </a:r>
            <a:r>
              <a:rPr lang="en-US" sz="2000" b="1" dirty="0">
                <a:solidFill>
                  <a:srgbClr val="1B1B1E"/>
                </a:solidFill>
                <a:highlight>
                  <a:srgbClr val="FFFFFF"/>
                </a:highlight>
                <a:latin typeface="Calibri"/>
                <a:ea typeface="Calibri"/>
                <a:cs typeface="Calibri"/>
              </a:rPr>
              <a:t> </a:t>
            </a:r>
            <a:r>
              <a:rPr lang="en-US" sz="2000" b="1" dirty="0" err="1">
                <a:solidFill>
                  <a:srgbClr val="1B1B1E"/>
                </a:solidFill>
                <a:highlight>
                  <a:srgbClr val="FFFFFF"/>
                </a:highlight>
                <a:latin typeface="Calibri"/>
                <a:ea typeface="Calibri"/>
                <a:cs typeface="Calibri"/>
              </a:rPr>
              <a:t>mô</a:t>
            </a:r>
            <a:r>
              <a:rPr lang="en-US" sz="2000" b="1" dirty="0">
                <a:solidFill>
                  <a:srgbClr val="1B1B1E"/>
                </a:solidFill>
                <a:highlight>
                  <a:srgbClr val="FFFFFF"/>
                </a:highlight>
                <a:latin typeface="Calibri"/>
                <a:ea typeface="Calibri"/>
                <a:cs typeface="Calibri"/>
              </a:rPr>
              <a:t> </a:t>
            </a:r>
            <a:r>
              <a:rPr lang="en-US" sz="2000" b="1" dirty="0" err="1">
                <a:solidFill>
                  <a:srgbClr val="1B1B1E"/>
                </a:solidFill>
                <a:highlight>
                  <a:srgbClr val="FFFFFF"/>
                </a:highlight>
                <a:latin typeface="Calibri"/>
                <a:ea typeface="Calibri"/>
                <a:cs typeface="Calibri"/>
              </a:rPr>
              <a:t>hình</a:t>
            </a:r>
            <a:r>
              <a:rPr lang="en-US" sz="2000" b="1" dirty="0">
                <a:solidFill>
                  <a:srgbClr val="1B1B1E"/>
                </a:solidFill>
                <a:highlight>
                  <a:srgbClr val="FFFFFF"/>
                </a:highlight>
                <a:latin typeface="Calibri"/>
                <a:ea typeface="Calibri"/>
                <a:cs typeface="Calibri"/>
              </a:rPr>
              <a:t> 3 </a:t>
            </a:r>
            <a:r>
              <a:rPr lang="en-US" sz="2000" b="1" dirty="0" err="1">
                <a:solidFill>
                  <a:srgbClr val="1B1B1E"/>
                </a:solidFill>
                <a:highlight>
                  <a:srgbClr val="FFFFFF"/>
                </a:highlight>
                <a:latin typeface="Calibri"/>
                <a:ea typeface="Calibri"/>
                <a:cs typeface="Calibri"/>
              </a:rPr>
              <a:t>tầng</a:t>
            </a:r>
            <a:r>
              <a:rPr lang="en-US" sz="2000" b="1" dirty="0">
                <a:solidFill>
                  <a:srgbClr val="1B1B1E"/>
                </a:solidFill>
                <a:highlight>
                  <a:srgbClr val="FFFFFF"/>
                </a:highlight>
                <a:latin typeface="Calibri"/>
                <a:ea typeface="Calibri"/>
                <a:cs typeface="Calibri"/>
              </a:rPr>
              <a:t> </a:t>
            </a:r>
            <a:r>
              <a:rPr lang="en-US" sz="2000" b="1" dirty="0" err="1">
                <a:solidFill>
                  <a:srgbClr val="1B1B1E"/>
                </a:solidFill>
                <a:highlight>
                  <a:srgbClr val="FFFFFF"/>
                </a:highlight>
                <a:latin typeface="Calibri"/>
                <a:ea typeface="Calibri"/>
                <a:cs typeface="Calibri"/>
              </a:rPr>
              <a:t>độc</a:t>
            </a:r>
            <a:r>
              <a:rPr lang="en-US" sz="2000" b="1" dirty="0">
                <a:solidFill>
                  <a:srgbClr val="1B1B1E"/>
                </a:solidFill>
                <a:highlight>
                  <a:srgbClr val="FFFFFF"/>
                </a:highlight>
                <a:latin typeface="Calibri"/>
                <a:ea typeface="Calibri"/>
                <a:cs typeface="Calibri"/>
              </a:rPr>
              <a:t> </a:t>
            </a:r>
            <a:r>
              <a:rPr lang="en-US" sz="2000" b="1" dirty="0" err="1">
                <a:solidFill>
                  <a:srgbClr val="1B1B1E"/>
                </a:solidFill>
                <a:highlight>
                  <a:srgbClr val="FFFFFF"/>
                </a:highlight>
                <a:latin typeface="Calibri"/>
                <a:ea typeface="Calibri"/>
                <a:cs typeface="Calibri"/>
              </a:rPr>
              <a:t>lập</a:t>
            </a:r>
            <a:r>
              <a:rPr lang="en-US" sz="2000" b="1" dirty="0">
                <a:solidFill>
                  <a:srgbClr val="1B1B1E"/>
                </a:solidFill>
                <a:highlight>
                  <a:srgbClr val="FFFFFF"/>
                </a:highlight>
                <a:latin typeface="Calibri"/>
                <a:ea typeface="Calibri"/>
                <a:cs typeface="Calibri"/>
              </a:rPr>
              <a:t>:</a:t>
            </a:r>
            <a:endParaRPr lang="en-US" sz="2000">
              <a:latin typeface="Calibri"/>
              <a:ea typeface="Calibri"/>
              <a:cs typeface="Calibri"/>
            </a:endParaRPr>
          </a:p>
          <a:p>
            <a:pPr lvl="1"/>
            <a:r>
              <a:rPr lang="en-US" sz="2000" b="1" dirty="0">
                <a:solidFill>
                  <a:srgbClr val="1B1B1E"/>
                </a:solidFill>
                <a:highlight>
                  <a:srgbClr val="FFFFFF"/>
                </a:highlight>
                <a:latin typeface="Calibri"/>
                <a:ea typeface="Calibri"/>
                <a:cs typeface="Calibri"/>
              </a:rPr>
              <a:t>Tầng </a:t>
            </a:r>
            <a:r>
              <a:rPr lang="en-US" sz="2000" b="1" dirty="0" err="1">
                <a:solidFill>
                  <a:srgbClr val="1B1B1E"/>
                </a:solidFill>
                <a:highlight>
                  <a:srgbClr val="FFFFFF"/>
                </a:highlight>
                <a:latin typeface="Calibri"/>
                <a:ea typeface="Calibri"/>
                <a:cs typeface="Calibri"/>
              </a:rPr>
              <a:t>tích</a:t>
            </a:r>
            <a:r>
              <a:rPr lang="en-US" sz="2000" b="1" dirty="0">
                <a:solidFill>
                  <a:srgbClr val="1B1B1E"/>
                </a:solidFill>
                <a:highlight>
                  <a:srgbClr val="FFFFFF"/>
                </a:highlight>
                <a:latin typeface="Calibri"/>
                <a:ea typeface="Calibri"/>
                <a:cs typeface="Calibri"/>
              </a:rPr>
              <a:t> </a:t>
            </a:r>
            <a:r>
              <a:rPr lang="en-US" sz="2000" b="1" dirty="0" err="1">
                <a:solidFill>
                  <a:srgbClr val="1B1B1E"/>
                </a:solidFill>
                <a:highlight>
                  <a:srgbClr val="FFFFFF"/>
                </a:highlight>
                <a:latin typeface="Calibri"/>
                <a:ea typeface="Calibri"/>
                <a:cs typeface="Calibri"/>
              </a:rPr>
              <a:t>hợp</a:t>
            </a:r>
            <a:r>
              <a:rPr lang="en-US" sz="2000" b="1" dirty="0">
                <a:solidFill>
                  <a:srgbClr val="1B1B1E"/>
                </a:solidFill>
                <a:highlight>
                  <a:srgbClr val="FFFFFF"/>
                </a:highlight>
                <a:latin typeface="Calibri"/>
                <a:ea typeface="Calibri"/>
                <a:cs typeface="Calibri"/>
              </a:rPr>
              <a:t> Moodle:</a:t>
            </a:r>
            <a:r>
              <a:rPr lang="en-US" sz="2000" dirty="0">
                <a:solidFill>
                  <a:srgbClr val="1B1B1E"/>
                </a:solidFill>
                <a:highlight>
                  <a:srgbClr val="FFFFFF"/>
                </a:highlight>
                <a:latin typeface="Calibri"/>
                <a:ea typeface="Calibri"/>
                <a:cs typeface="Calibri"/>
              </a:rPr>
              <a:t> Plugin </a:t>
            </a:r>
            <a:r>
              <a:rPr lang="en-US" sz="2000" dirty="0" err="1">
                <a:solidFill>
                  <a:srgbClr val="2B2D31"/>
                </a:solidFill>
                <a:highlight>
                  <a:srgbClr val="FCFCFC"/>
                </a:highlight>
                <a:latin typeface="Calibri"/>
                <a:ea typeface="Calibri"/>
                <a:cs typeface="Calibri"/>
              </a:rPr>
              <a:t>local_chatbot</a:t>
            </a:r>
            <a:r>
              <a:rPr lang="en-US" sz="2000" dirty="0">
                <a:solidFill>
                  <a:srgbClr val="1B1B1E"/>
                </a:solidFill>
                <a:highlight>
                  <a:srgbClr val="FFFFFF"/>
                </a:highlight>
                <a:latin typeface="Calibri"/>
                <a:ea typeface="Calibri"/>
                <a:cs typeface="Calibri"/>
              </a:rPr>
              <a:t> (Giao </a:t>
            </a:r>
            <a:r>
              <a:rPr lang="en-US" sz="2000" dirty="0" err="1">
                <a:solidFill>
                  <a:srgbClr val="1B1B1E"/>
                </a:solidFill>
                <a:highlight>
                  <a:srgbClr val="FFFFFF"/>
                </a:highlight>
                <a:latin typeface="Calibri"/>
                <a:ea typeface="Calibri"/>
                <a:cs typeface="Calibri"/>
              </a:rPr>
              <a:t>diện</a:t>
            </a:r>
            <a:r>
              <a:rPr lang="en-US" sz="2000" dirty="0">
                <a:solidFill>
                  <a:srgbClr val="1B1B1E"/>
                </a:solidFill>
                <a:highlight>
                  <a:srgbClr val="FFFFFF"/>
                </a:highlight>
                <a:latin typeface="Calibri"/>
                <a:ea typeface="Calibri"/>
                <a:cs typeface="Calibri"/>
              </a:rPr>
              <a:t> UI &amp; Thông </a:t>
            </a:r>
            <a:r>
              <a:rPr lang="en-US" sz="2000" dirty="0" err="1">
                <a:solidFill>
                  <a:srgbClr val="1B1B1E"/>
                </a:solidFill>
                <a:highlight>
                  <a:srgbClr val="FFFFFF"/>
                </a:highlight>
                <a:latin typeface="Calibri"/>
                <a:ea typeface="Calibri"/>
                <a:cs typeface="Calibri"/>
              </a:rPr>
              <a:t>báo</a:t>
            </a:r>
            <a:r>
              <a:rPr lang="en-US" sz="2000" dirty="0">
                <a:solidFill>
                  <a:srgbClr val="1B1B1E"/>
                </a:solidFill>
                <a:highlight>
                  <a:srgbClr val="FFFFFF"/>
                </a:highlight>
                <a:latin typeface="Calibri"/>
                <a:ea typeface="Calibri"/>
                <a:cs typeface="Calibri"/>
              </a:rPr>
              <a:t> Email).</a:t>
            </a:r>
            <a:endParaRPr lang="en-US" sz="2000">
              <a:latin typeface="Calibri"/>
              <a:ea typeface="Calibri"/>
              <a:cs typeface="Calibri"/>
            </a:endParaRPr>
          </a:p>
          <a:p>
            <a:pPr lvl="1"/>
            <a:r>
              <a:rPr lang="en-US" sz="2000" b="1" dirty="0" err="1">
                <a:solidFill>
                  <a:srgbClr val="1B1B1E"/>
                </a:solidFill>
                <a:highlight>
                  <a:srgbClr val="FFFFFF"/>
                </a:highlight>
                <a:latin typeface="Calibri"/>
                <a:ea typeface="Calibri"/>
                <a:cs typeface="Calibri"/>
              </a:rPr>
              <a:t>Tầng</a:t>
            </a:r>
            <a:r>
              <a:rPr lang="en-US" sz="2000" b="1" dirty="0">
                <a:solidFill>
                  <a:srgbClr val="1B1B1E"/>
                </a:solidFill>
                <a:highlight>
                  <a:srgbClr val="FFFFFF"/>
                </a:highlight>
                <a:latin typeface="Calibri"/>
                <a:ea typeface="Calibri"/>
                <a:cs typeface="Calibri"/>
              </a:rPr>
              <a:t> API Gateway (Laravel):</a:t>
            </a:r>
            <a:r>
              <a:rPr lang="en-US" sz="2000" dirty="0">
                <a:solidFill>
                  <a:srgbClr val="1B1B1E"/>
                </a:solidFill>
                <a:highlight>
                  <a:srgbClr val="FFFFFF"/>
                </a:highlight>
                <a:latin typeface="Calibri"/>
                <a:ea typeface="Calibri"/>
                <a:cs typeface="Calibri"/>
              </a:rPr>
              <a:t> Trung </a:t>
            </a:r>
            <a:r>
              <a:rPr lang="en-US" sz="2000" dirty="0" err="1">
                <a:solidFill>
                  <a:srgbClr val="1B1B1E"/>
                </a:solidFill>
                <a:highlight>
                  <a:srgbClr val="FFFFFF"/>
                </a:highlight>
                <a:latin typeface="Calibri"/>
                <a:ea typeface="Calibri"/>
                <a:cs typeface="Calibri"/>
              </a:rPr>
              <a:t>gian</a:t>
            </a:r>
            <a:r>
              <a:rPr lang="en-US" sz="2000" dirty="0">
                <a:solidFill>
                  <a:srgbClr val="1B1B1E"/>
                </a:solidFill>
                <a:highlight>
                  <a:srgbClr val="FFFFFF"/>
                </a:highlight>
                <a:latin typeface="Calibri"/>
                <a:ea typeface="Calibri"/>
                <a:cs typeface="Calibri"/>
              </a:rPr>
              <a:t> </a:t>
            </a:r>
            <a:r>
              <a:rPr lang="en-US" sz="2000" dirty="0" err="1">
                <a:solidFill>
                  <a:srgbClr val="1B1B1E"/>
                </a:solidFill>
                <a:highlight>
                  <a:srgbClr val="FFFFFF"/>
                </a:highlight>
                <a:latin typeface="Calibri"/>
                <a:ea typeface="Calibri"/>
                <a:cs typeface="Calibri"/>
              </a:rPr>
              <a:t>xác</a:t>
            </a:r>
            <a:r>
              <a:rPr lang="en-US" sz="2000" dirty="0">
                <a:solidFill>
                  <a:srgbClr val="1B1B1E"/>
                </a:solidFill>
                <a:highlight>
                  <a:srgbClr val="FFFFFF"/>
                </a:highlight>
                <a:latin typeface="Calibri"/>
                <a:ea typeface="Calibri"/>
                <a:cs typeface="Calibri"/>
              </a:rPr>
              <a:t> </a:t>
            </a:r>
            <a:r>
              <a:rPr lang="en-US" sz="2000" dirty="0" err="1">
                <a:solidFill>
                  <a:srgbClr val="1B1B1E"/>
                </a:solidFill>
                <a:highlight>
                  <a:srgbClr val="FFFFFF"/>
                </a:highlight>
                <a:latin typeface="Calibri"/>
                <a:ea typeface="Calibri"/>
                <a:cs typeface="Calibri"/>
              </a:rPr>
              <a:t>thực</a:t>
            </a:r>
            <a:r>
              <a:rPr lang="en-US" sz="2000" dirty="0">
                <a:solidFill>
                  <a:srgbClr val="1B1B1E"/>
                </a:solidFill>
                <a:highlight>
                  <a:srgbClr val="FFFFFF"/>
                </a:highlight>
                <a:latin typeface="Calibri"/>
                <a:ea typeface="Calibri"/>
                <a:cs typeface="Calibri"/>
              </a:rPr>
              <a:t> (API Key), Rate Limit, </a:t>
            </a:r>
            <a:r>
              <a:rPr lang="en-US" sz="2000" dirty="0" err="1">
                <a:solidFill>
                  <a:srgbClr val="1B1B1E"/>
                </a:solidFill>
                <a:highlight>
                  <a:srgbClr val="FFFFFF"/>
                </a:highlight>
                <a:latin typeface="Calibri"/>
                <a:ea typeface="Calibri"/>
                <a:cs typeface="Calibri"/>
              </a:rPr>
              <a:t>làm</a:t>
            </a:r>
            <a:r>
              <a:rPr lang="en-US" sz="2000" dirty="0">
                <a:solidFill>
                  <a:srgbClr val="1B1B1E"/>
                </a:solidFill>
                <a:highlight>
                  <a:srgbClr val="FFFFFF"/>
                </a:highlight>
                <a:latin typeface="Calibri"/>
                <a:ea typeface="Calibri"/>
                <a:cs typeface="Calibri"/>
              </a:rPr>
              <a:t> </a:t>
            </a:r>
            <a:r>
              <a:rPr lang="en-US" sz="2000" dirty="0" err="1">
                <a:solidFill>
                  <a:srgbClr val="1B1B1E"/>
                </a:solidFill>
                <a:highlight>
                  <a:srgbClr val="FFFFFF"/>
                </a:highlight>
                <a:latin typeface="Calibri"/>
                <a:ea typeface="Calibri"/>
                <a:cs typeface="Calibri"/>
              </a:rPr>
              <a:t>sạch</a:t>
            </a:r>
            <a:r>
              <a:rPr lang="en-US" sz="2000" dirty="0">
                <a:solidFill>
                  <a:srgbClr val="1B1B1E"/>
                </a:solidFill>
                <a:highlight>
                  <a:srgbClr val="FFFFFF"/>
                </a:highlight>
                <a:latin typeface="Calibri"/>
                <a:ea typeface="Calibri"/>
                <a:cs typeface="Calibri"/>
              </a:rPr>
              <a:t> </a:t>
            </a:r>
            <a:r>
              <a:rPr lang="en-US" sz="2000" dirty="0" err="1">
                <a:solidFill>
                  <a:srgbClr val="1B1B1E"/>
                </a:solidFill>
                <a:highlight>
                  <a:srgbClr val="FFFFFF"/>
                </a:highlight>
                <a:latin typeface="Calibri"/>
                <a:ea typeface="Calibri"/>
                <a:cs typeface="Calibri"/>
              </a:rPr>
              <a:t>đầu</a:t>
            </a:r>
            <a:r>
              <a:rPr lang="en-US" sz="2000" dirty="0">
                <a:solidFill>
                  <a:srgbClr val="1B1B1E"/>
                </a:solidFill>
                <a:highlight>
                  <a:srgbClr val="FFFFFF"/>
                </a:highlight>
                <a:latin typeface="Calibri"/>
                <a:ea typeface="Calibri"/>
                <a:cs typeface="Calibri"/>
              </a:rPr>
              <a:t> </a:t>
            </a:r>
            <a:r>
              <a:rPr lang="en-US" sz="2000" dirty="0" err="1">
                <a:solidFill>
                  <a:srgbClr val="1B1B1E"/>
                </a:solidFill>
                <a:highlight>
                  <a:srgbClr val="FFFFFF"/>
                </a:highlight>
                <a:latin typeface="Calibri"/>
                <a:ea typeface="Calibri"/>
                <a:cs typeface="Calibri"/>
              </a:rPr>
              <a:t>vào</a:t>
            </a:r>
            <a:r>
              <a:rPr lang="en-US" sz="2000" dirty="0">
                <a:solidFill>
                  <a:srgbClr val="1B1B1E"/>
                </a:solidFill>
                <a:highlight>
                  <a:srgbClr val="FFFFFF"/>
                </a:highlight>
                <a:latin typeface="Calibri"/>
                <a:ea typeface="Calibri"/>
                <a:cs typeface="Calibri"/>
              </a:rPr>
              <a:t>, </a:t>
            </a:r>
            <a:r>
              <a:rPr lang="en-US" sz="2000" dirty="0" err="1">
                <a:solidFill>
                  <a:srgbClr val="1B1B1E"/>
                </a:solidFill>
                <a:highlight>
                  <a:srgbClr val="FFFFFF"/>
                </a:highlight>
                <a:latin typeface="Calibri"/>
                <a:ea typeface="Calibri"/>
                <a:cs typeface="Calibri"/>
              </a:rPr>
              <a:t>truy</a:t>
            </a:r>
            <a:r>
              <a:rPr lang="en-US" sz="2000" dirty="0">
                <a:solidFill>
                  <a:srgbClr val="1B1B1E"/>
                </a:solidFill>
                <a:highlight>
                  <a:srgbClr val="FFFFFF"/>
                </a:highlight>
                <a:latin typeface="Calibri"/>
                <a:ea typeface="Calibri"/>
                <a:cs typeface="Calibri"/>
              </a:rPr>
              <a:t> </a:t>
            </a:r>
            <a:r>
              <a:rPr lang="en-US" sz="2000" dirty="0" err="1">
                <a:solidFill>
                  <a:srgbClr val="1B1B1E"/>
                </a:solidFill>
                <a:highlight>
                  <a:srgbClr val="FFFFFF"/>
                </a:highlight>
                <a:latin typeface="Calibri"/>
                <a:ea typeface="Calibri"/>
                <a:cs typeface="Calibri"/>
              </a:rPr>
              <a:t>xuất</a:t>
            </a:r>
            <a:r>
              <a:rPr lang="en-US" sz="2000" dirty="0">
                <a:solidFill>
                  <a:srgbClr val="1B1B1E"/>
                </a:solidFill>
                <a:highlight>
                  <a:srgbClr val="FFFFFF"/>
                </a:highlight>
                <a:latin typeface="Calibri"/>
                <a:ea typeface="Calibri"/>
                <a:cs typeface="Calibri"/>
              </a:rPr>
              <a:t> Moodle.</a:t>
            </a:r>
            <a:endParaRPr lang="en-US" sz="2000">
              <a:latin typeface="Calibri"/>
              <a:ea typeface="Calibri"/>
              <a:cs typeface="Calibri"/>
            </a:endParaRPr>
          </a:p>
          <a:p>
            <a:pPr lvl="1"/>
            <a:r>
              <a:rPr lang="en-US" sz="2000" b="1" dirty="0" err="1">
                <a:solidFill>
                  <a:srgbClr val="1B1B1E"/>
                </a:solidFill>
                <a:highlight>
                  <a:srgbClr val="FFFFFF"/>
                </a:highlight>
                <a:latin typeface="Calibri"/>
                <a:ea typeface="Calibri"/>
                <a:cs typeface="Calibri"/>
              </a:rPr>
              <a:t>Tầng</a:t>
            </a:r>
            <a:r>
              <a:rPr lang="en-US" sz="2000" b="1" dirty="0">
                <a:solidFill>
                  <a:srgbClr val="1B1B1E"/>
                </a:solidFill>
                <a:highlight>
                  <a:srgbClr val="FFFFFF"/>
                </a:highlight>
                <a:latin typeface="Calibri"/>
                <a:ea typeface="Calibri"/>
                <a:cs typeface="Calibri"/>
              </a:rPr>
              <a:t> Backend RAG (</a:t>
            </a:r>
            <a:r>
              <a:rPr lang="en-US" sz="2000" b="1" dirty="0" err="1">
                <a:solidFill>
                  <a:srgbClr val="1B1B1E"/>
                </a:solidFill>
                <a:highlight>
                  <a:srgbClr val="FFFFFF"/>
                </a:highlight>
                <a:latin typeface="Calibri"/>
                <a:ea typeface="Calibri"/>
                <a:cs typeface="Calibri"/>
              </a:rPr>
              <a:t>FastAPI</a:t>
            </a:r>
            <a:r>
              <a:rPr lang="en-US" sz="2000" b="1" dirty="0">
                <a:solidFill>
                  <a:srgbClr val="1B1B1E"/>
                </a:solidFill>
                <a:highlight>
                  <a:srgbClr val="FFFFFF"/>
                </a:highlight>
                <a:latin typeface="Calibri"/>
                <a:ea typeface="Calibri"/>
                <a:cs typeface="Calibri"/>
              </a:rPr>
              <a:t>):</a:t>
            </a:r>
            <a:r>
              <a:rPr lang="en-US" sz="2000" dirty="0">
                <a:solidFill>
                  <a:srgbClr val="1B1B1E"/>
                </a:solidFill>
                <a:highlight>
                  <a:srgbClr val="FFFFFF"/>
                </a:highlight>
                <a:latin typeface="Calibri"/>
                <a:ea typeface="Calibri"/>
                <a:cs typeface="Calibri"/>
              </a:rPr>
              <a:t> </a:t>
            </a:r>
            <a:r>
              <a:rPr lang="en-US" sz="2000" dirty="0" err="1">
                <a:solidFill>
                  <a:srgbClr val="1B1B1E"/>
                </a:solidFill>
                <a:highlight>
                  <a:srgbClr val="FFFFFF"/>
                </a:highlight>
                <a:latin typeface="Calibri"/>
                <a:ea typeface="Calibri"/>
                <a:cs typeface="Calibri"/>
              </a:rPr>
              <a:t>Lõi</a:t>
            </a:r>
            <a:r>
              <a:rPr lang="en-US" sz="2000" dirty="0">
                <a:solidFill>
                  <a:srgbClr val="1B1B1E"/>
                </a:solidFill>
                <a:highlight>
                  <a:srgbClr val="FFFFFF"/>
                </a:highlight>
                <a:latin typeface="Calibri"/>
                <a:ea typeface="Calibri"/>
                <a:cs typeface="Calibri"/>
              </a:rPr>
              <a:t> </a:t>
            </a:r>
            <a:r>
              <a:rPr lang="en-US" sz="2000" dirty="0" err="1">
                <a:solidFill>
                  <a:srgbClr val="1B1B1E"/>
                </a:solidFill>
                <a:highlight>
                  <a:srgbClr val="FFFFFF"/>
                </a:highlight>
                <a:latin typeface="Calibri"/>
                <a:ea typeface="Calibri"/>
                <a:cs typeface="Calibri"/>
              </a:rPr>
              <a:t>xử</a:t>
            </a:r>
            <a:r>
              <a:rPr lang="en-US" sz="2000" dirty="0">
                <a:solidFill>
                  <a:srgbClr val="1B1B1E"/>
                </a:solidFill>
                <a:highlight>
                  <a:srgbClr val="FFFFFF"/>
                </a:highlight>
                <a:latin typeface="Calibri"/>
                <a:ea typeface="Calibri"/>
                <a:cs typeface="Calibri"/>
              </a:rPr>
              <a:t> </a:t>
            </a:r>
            <a:r>
              <a:rPr lang="en-US" sz="2000" dirty="0" err="1">
                <a:solidFill>
                  <a:srgbClr val="1B1B1E"/>
                </a:solidFill>
                <a:highlight>
                  <a:srgbClr val="FFFFFF"/>
                </a:highlight>
                <a:latin typeface="Calibri"/>
                <a:ea typeface="Calibri"/>
                <a:cs typeface="Calibri"/>
              </a:rPr>
              <a:t>lý</a:t>
            </a:r>
            <a:r>
              <a:rPr lang="en-US" sz="2000" dirty="0">
                <a:solidFill>
                  <a:srgbClr val="1B1B1E"/>
                </a:solidFill>
                <a:highlight>
                  <a:srgbClr val="FFFFFF"/>
                </a:highlight>
                <a:latin typeface="Calibri"/>
                <a:ea typeface="Calibri"/>
                <a:cs typeface="Calibri"/>
              </a:rPr>
              <a:t> AI, </a:t>
            </a:r>
            <a:r>
              <a:rPr lang="en-US" sz="2000" dirty="0" err="1">
                <a:solidFill>
                  <a:srgbClr val="1B1B1E"/>
                </a:solidFill>
                <a:highlight>
                  <a:srgbClr val="FFFFFF"/>
                </a:highlight>
                <a:latin typeface="Calibri"/>
                <a:ea typeface="Calibri"/>
                <a:cs typeface="Calibri"/>
              </a:rPr>
              <a:t>ChromaDB</a:t>
            </a:r>
            <a:r>
              <a:rPr lang="en-US" sz="2000" dirty="0">
                <a:solidFill>
                  <a:srgbClr val="1B1B1E"/>
                </a:solidFill>
                <a:highlight>
                  <a:srgbClr val="FFFFFF"/>
                </a:highlight>
                <a:latin typeface="Calibri"/>
                <a:ea typeface="Calibri"/>
                <a:cs typeface="Calibri"/>
              </a:rPr>
              <a:t>, </a:t>
            </a:r>
            <a:r>
              <a:rPr lang="en-US" sz="2000" dirty="0" err="1">
                <a:solidFill>
                  <a:srgbClr val="1B1B1E"/>
                </a:solidFill>
                <a:highlight>
                  <a:srgbClr val="FFFFFF"/>
                </a:highlight>
                <a:latin typeface="Calibri"/>
                <a:ea typeface="Calibri"/>
                <a:cs typeface="Calibri"/>
              </a:rPr>
              <a:t>kết</a:t>
            </a:r>
            <a:r>
              <a:rPr lang="en-US" sz="2000" dirty="0">
                <a:solidFill>
                  <a:srgbClr val="1B1B1E"/>
                </a:solidFill>
                <a:highlight>
                  <a:srgbClr val="FFFFFF"/>
                </a:highlight>
                <a:latin typeface="Calibri"/>
                <a:ea typeface="Calibri"/>
                <a:cs typeface="Calibri"/>
              </a:rPr>
              <a:t> </a:t>
            </a:r>
            <a:r>
              <a:rPr lang="en-US" sz="2000" dirty="0" err="1">
                <a:solidFill>
                  <a:srgbClr val="1B1B1E"/>
                </a:solidFill>
                <a:highlight>
                  <a:srgbClr val="FFFFFF"/>
                </a:highlight>
                <a:latin typeface="Calibri"/>
                <a:ea typeface="Calibri"/>
                <a:cs typeface="Calibri"/>
              </a:rPr>
              <a:t>nối</a:t>
            </a:r>
            <a:r>
              <a:rPr lang="en-US" sz="2000" dirty="0">
                <a:solidFill>
                  <a:srgbClr val="1B1B1E"/>
                </a:solidFill>
                <a:highlight>
                  <a:srgbClr val="FFFFFF"/>
                </a:highlight>
                <a:latin typeface="Calibri"/>
                <a:ea typeface="Calibri"/>
                <a:cs typeface="Calibri"/>
              </a:rPr>
              <a:t> LLM.</a:t>
            </a:r>
            <a:endParaRPr lang="en-US" sz="2000" dirty="0">
              <a:latin typeface="Calibri"/>
              <a:ea typeface="Calibri"/>
              <a:cs typeface="Calibri"/>
            </a:endParaRPr>
          </a:p>
          <a:p>
            <a:endParaRPr lang="en-US" dirty="0"/>
          </a:p>
        </p:txBody>
      </p:sp>
      <p:pic>
        <p:nvPicPr>
          <p:cNvPr id="5" name="Picture 4">
            <a:extLst>
              <a:ext uri="{FF2B5EF4-FFF2-40B4-BE49-F238E27FC236}">
                <a16:creationId xmlns:a16="http://schemas.microsoft.com/office/drawing/2014/main" id="{AD59DB92-2A25-EDF2-DEFD-0B0C68A63366}"/>
              </a:ext>
            </a:extLst>
          </p:cNvPr>
          <p:cNvPicPr>
            <a:picLocks noChangeAspect="1"/>
          </p:cNvPicPr>
          <p:nvPr/>
        </p:nvPicPr>
        <p:blipFill>
          <a:blip r:embed="rId2"/>
          <a:stretch>
            <a:fillRect/>
          </a:stretch>
        </p:blipFill>
        <p:spPr>
          <a:xfrm>
            <a:off x="1998323" y="2496456"/>
            <a:ext cx="7411581" cy="4361544"/>
          </a:xfrm>
          <a:prstGeom prst="rect">
            <a:avLst/>
          </a:prstGeom>
        </p:spPr>
      </p:pic>
    </p:spTree>
    <p:extLst>
      <p:ext uri="{BB962C8B-B14F-4D97-AF65-F5344CB8AC3E}">
        <p14:creationId xmlns:p14="http://schemas.microsoft.com/office/powerpoint/2010/main" val="1145176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180944-3047-4756-B8CC-55ECD18D4AE0}"/>
              </a:ext>
            </a:extLst>
          </p:cNvPr>
          <p:cNvSpPr>
            <a:spLocks noGrp="1"/>
          </p:cNvSpPr>
          <p:nvPr>
            <p:ph type="title"/>
          </p:nvPr>
        </p:nvSpPr>
        <p:spPr>
          <a:xfrm>
            <a:off x="630936" y="1177109"/>
            <a:ext cx="4818888" cy="1481328"/>
          </a:xfrm>
        </p:spPr>
        <p:txBody>
          <a:bodyPr anchor="b">
            <a:normAutofit/>
          </a:bodyPr>
          <a:lstStyle/>
          <a:p>
            <a:r>
              <a:rPr lang="en-US" sz="3200" err="1">
                <a:highlight>
                  <a:srgbClr val="FFFFFF"/>
                </a:highlight>
              </a:rPr>
              <a:t>Luồng</a:t>
            </a:r>
            <a:r>
              <a:rPr lang="en-US" sz="3200" dirty="0">
                <a:highlight>
                  <a:srgbClr val="FFFFFF"/>
                </a:highlight>
              </a:rPr>
              <a:t> </a:t>
            </a:r>
            <a:r>
              <a:rPr lang="en-US" sz="3200" err="1">
                <a:highlight>
                  <a:srgbClr val="FFFFFF"/>
                </a:highlight>
              </a:rPr>
              <a:t>xử</a:t>
            </a:r>
            <a:r>
              <a:rPr lang="en-US" sz="3200" dirty="0">
                <a:highlight>
                  <a:srgbClr val="FFFFFF"/>
                </a:highlight>
              </a:rPr>
              <a:t> </a:t>
            </a:r>
            <a:r>
              <a:rPr lang="en-US" sz="3200" err="1">
                <a:highlight>
                  <a:srgbClr val="FFFFFF"/>
                </a:highlight>
              </a:rPr>
              <a:t>lý</a:t>
            </a:r>
            <a:r>
              <a:rPr lang="en-US" sz="3200" dirty="0">
                <a:highlight>
                  <a:srgbClr val="FFFFFF"/>
                </a:highlight>
              </a:rPr>
              <a:t> </a:t>
            </a:r>
            <a:r>
              <a:rPr lang="en-US" sz="3200" err="1">
                <a:highlight>
                  <a:srgbClr val="FFFFFF"/>
                </a:highlight>
              </a:rPr>
              <a:t>phân</a:t>
            </a:r>
            <a:r>
              <a:rPr lang="en-US" sz="3200" dirty="0">
                <a:highlight>
                  <a:srgbClr val="FFFFFF"/>
                </a:highlight>
              </a:rPr>
              <a:t> </a:t>
            </a:r>
            <a:r>
              <a:rPr lang="en-US" sz="3200" err="1">
                <a:highlight>
                  <a:srgbClr val="FFFFFF"/>
                </a:highlight>
              </a:rPr>
              <a:t>loại</a:t>
            </a:r>
            <a:r>
              <a:rPr lang="en-US" sz="3200">
                <a:highlight>
                  <a:srgbClr val="FFFFFF"/>
                </a:highlight>
              </a:rPr>
              <a:t> ý </a:t>
            </a:r>
            <a:r>
              <a:rPr lang="en-US" sz="3200" err="1">
                <a:highlight>
                  <a:srgbClr val="FFFFFF"/>
                </a:highlight>
              </a:rPr>
              <a:t>định</a:t>
            </a:r>
            <a:endParaRPr lang="en-US" sz="3200" err="1"/>
          </a:p>
          <a:p>
            <a:endParaRPr lang="en-US" sz="5000"/>
          </a:p>
        </p:txBody>
      </p:sp>
      <p:sp>
        <p:nvSpPr>
          <p:cNvPr id="11"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3AA6128-A335-EB29-0470-8B803F4F4BA8}"/>
              </a:ext>
            </a:extLst>
          </p:cNvPr>
          <p:cNvSpPr>
            <a:spLocks noGrp="1"/>
          </p:cNvSpPr>
          <p:nvPr>
            <p:ph idx="1"/>
          </p:nvPr>
        </p:nvSpPr>
        <p:spPr>
          <a:xfrm>
            <a:off x="630936" y="2660904"/>
            <a:ext cx="4818888" cy="3547872"/>
          </a:xfrm>
        </p:spPr>
        <p:txBody>
          <a:bodyPr vert="horz" lIns="91440" tIns="45720" rIns="91440" bIns="45720" rtlCol="0" anchor="t">
            <a:normAutofit/>
          </a:bodyPr>
          <a:lstStyle/>
          <a:p>
            <a:r>
              <a:rPr lang="en-US" sz="2200">
                <a:highlight>
                  <a:srgbClr val="FFFFFF"/>
                </a:highlight>
                <a:ea typeface="+mn-lt"/>
                <a:cs typeface="+mn-lt"/>
              </a:rPr>
              <a:t>Chatbot cần phân biệt câu hỏi để xử lý đúng cách:</a:t>
            </a:r>
            <a:endParaRPr lang="en-US" sz="2200"/>
          </a:p>
          <a:p>
            <a:pPr lvl="1"/>
            <a:r>
              <a:rPr lang="en-US" sz="2200" b="1">
                <a:highlight>
                  <a:srgbClr val="FFFFFF"/>
                </a:highlight>
                <a:ea typeface="+mn-lt"/>
                <a:cs typeface="+mn-lt"/>
              </a:rPr>
              <a:t>Chào hỏi:</a:t>
            </a:r>
            <a:r>
              <a:rPr lang="en-US" sz="2200">
                <a:highlight>
                  <a:srgbClr val="FFFFFF"/>
                </a:highlight>
                <a:ea typeface="+mn-lt"/>
                <a:cs typeface="+mn-lt"/>
              </a:rPr>
              <a:t> LLM trả lời trực tiếp.</a:t>
            </a:r>
            <a:endParaRPr lang="en-US" sz="2200"/>
          </a:p>
          <a:p>
            <a:pPr lvl="1"/>
            <a:r>
              <a:rPr lang="en-US" sz="2200" b="1">
                <a:highlight>
                  <a:srgbClr val="FFFFFF"/>
                </a:highlight>
                <a:ea typeface="+mn-lt"/>
                <a:cs typeface="+mn-lt"/>
              </a:rPr>
              <a:t>Hỏi dữ liệu (Điểm, Deadline, Danh sách):</a:t>
            </a:r>
            <a:r>
              <a:rPr lang="en-US" sz="2200">
                <a:highlight>
                  <a:srgbClr val="FFFFFF"/>
                </a:highlight>
                <a:ea typeface="+mn-lt"/>
                <a:cs typeface="+mn-lt"/>
              </a:rPr>
              <a:t> Gọi API Gateway để lấy số liệu thực tế (Chính xác 100%, không qua AI).</a:t>
            </a:r>
            <a:endParaRPr lang="en-US" sz="2200"/>
          </a:p>
          <a:p>
            <a:pPr lvl="1"/>
            <a:r>
              <a:rPr lang="en-US" sz="2200" b="1">
                <a:highlight>
                  <a:srgbClr val="FFFFFF"/>
                </a:highlight>
                <a:ea typeface="+mn-lt"/>
                <a:cs typeface="+mn-lt"/>
              </a:rPr>
              <a:t>Hỏi nội dung khóa học:</a:t>
            </a:r>
            <a:r>
              <a:rPr lang="en-US" sz="2200">
                <a:highlight>
                  <a:srgbClr val="FFFFFF"/>
                </a:highlight>
                <a:ea typeface="+mn-lt"/>
                <a:cs typeface="+mn-lt"/>
              </a:rPr>
              <a:t> Chạy qua pipeline RAG để tìm tài liệu và trả lời.</a:t>
            </a:r>
            <a:endParaRPr lang="en-US" sz="2200"/>
          </a:p>
          <a:p>
            <a:pPr marL="0" indent="0">
              <a:buNone/>
            </a:pPr>
            <a:endParaRPr lang="en-US" sz="2200"/>
          </a:p>
        </p:txBody>
      </p:sp>
      <p:pic>
        <p:nvPicPr>
          <p:cNvPr id="4" name="Picture 3">
            <a:extLst>
              <a:ext uri="{FF2B5EF4-FFF2-40B4-BE49-F238E27FC236}">
                <a16:creationId xmlns:a16="http://schemas.microsoft.com/office/drawing/2014/main" id="{761B07BF-0E24-732E-D257-39841E305C3D}"/>
              </a:ext>
            </a:extLst>
          </p:cNvPr>
          <p:cNvPicPr>
            <a:picLocks noChangeAspect="1"/>
          </p:cNvPicPr>
          <p:nvPr/>
        </p:nvPicPr>
        <p:blipFill>
          <a:blip r:embed="rId2"/>
          <a:stretch>
            <a:fillRect/>
          </a:stretch>
        </p:blipFill>
        <p:spPr>
          <a:xfrm>
            <a:off x="6093805" y="153851"/>
            <a:ext cx="5070310" cy="6550297"/>
          </a:xfrm>
          <a:prstGeom prst="rect">
            <a:avLst/>
          </a:prstGeom>
        </p:spPr>
      </p:pic>
    </p:spTree>
    <p:extLst>
      <p:ext uri="{BB962C8B-B14F-4D97-AF65-F5344CB8AC3E}">
        <p14:creationId xmlns:p14="http://schemas.microsoft.com/office/powerpoint/2010/main" val="3294641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846A4-152D-7465-DE00-4B825CFFC926}"/>
              </a:ext>
            </a:extLst>
          </p:cNvPr>
          <p:cNvSpPr>
            <a:spLocks noGrp="1"/>
          </p:cNvSpPr>
          <p:nvPr>
            <p:ph type="title"/>
          </p:nvPr>
        </p:nvSpPr>
        <p:spPr>
          <a:xfrm>
            <a:off x="671286" y="684439"/>
            <a:ext cx="10515600" cy="1325563"/>
          </a:xfrm>
        </p:spPr>
        <p:txBody>
          <a:bodyPr>
            <a:normAutofit fontScale="90000"/>
          </a:bodyPr>
          <a:lstStyle/>
          <a:p>
            <a:r>
              <a:rPr lang="en-US" sz="3200" dirty="0" err="1">
                <a:solidFill>
                  <a:srgbClr val="1B1B1E"/>
                </a:solidFill>
                <a:highlight>
                  <a:srgbClr val="FFFFFF"/>
                </a:highlight>
              </a:rPr>
              <a:t>Tầng</a:t>
            </a:r>
            <a:r>
              <a:rPr lang="en-US" sz="3200" dirty="0">
                <a:solidFill>
                  <a:srgbClr val="1B1B1E"/>
                </a:solidFill>
                <a:highlight>
                  <a:srgbClr val="FFFFFF"/>
                </a:highlight>
              </a:rPr>
              <a:t> API Gateway &amp; </a:t>
            </a:r>
            <a:r>
              <a:rPr lang="en-US" sz="3200" dirty="0" err="1">
                <a:solidFill>
                  <a:srgbClr val="1B1B1E"/>
                </a:solidFill>
                <a:highlight>
                  <a:srgbClr val="FFFFFF"/>
                </a:highlight>
              </a:rPr>
              <a:t>Cơ</a:t>
            </a:r>
            <a:r>
              <a:rPr lang="en-US" sz="3200" dirty="0">
                <a:solidFill>
                  <a:srgbClr val="1B1B1E"/>
                </a:solidFill>
                <a:highlight>
                  <a:srgbClr val="FFFFFF"/>
                </a:highlight>
              </a:rPr>
              <a:t> </a:t>
            </a:r>
            <a:r>
              <a:rPr lang="en-US" sz="3200" dirty="0" err="1">
                <a:solidFill>
                  <a:srgbClr val="1B1B1E"/>
                </a:solidFill>
                <a:highlight>
                  <a:srgbClr val="FFFFFF"/>
                </a:highlight>
              </a:rPr>
              <a:t>chế</a:t>
            </a:r>
            <a:r>
              <a:rPr lang="en-US" sz="3200" dirty="0">
                <a:solidFill>
                  <a:srgbClr val="1B1B1E"/>
                </a:solidFill>
                <a:highlight>
                  <a:srgbClr val="FFFFFF"/>
                </a:highlight>
              </a:rPr>
              <a:t> </a:t>
            </a:r>
            <a:r>
              <a:rPr lang="en-US" sz="3200" dirty="0" err="1">
                <a:solidFill>
                  <a:srgbClr val="1B1B1E"/>
                </a:solidFill>
                <a:highlight>
                  <a:srgbClr val="FFFFFF"/>
                </a:highlight>
              </a:rPr>
              <a:t>phân</a:t>
            </a:r>
            <a:r>
              <a:rPr lang="en-US" sz="3200" dirty="0">
                <a:solidFill>
                  <a:srgbClr val="1B1B1E"/>
                </a:solidFill>
                <a:highlight>
                  <a:srgbClr val="FFFFFF"/>
                </a:highlight>
              </a:rPr>
              <a:t> </a:t>
            </a:r>
            <a:r>
              <a:rPr lang="en-US" sz="3200" dirty="0" err="1">
                <a:solidFill>
                  <a:srgbClr val="1B1B1E"/>
                </a:solidFill>
                <a:highlight>
                  <a:srgbClr val="FFFFFF"/>
                </a:highlight>
              </a:rPr>
              <a:t>quyền</a:t>
            </a:r>
            <a:r>
              <a:rPr lang="en-US" sz="3200" dirty="0">
                <a:solidFill>
                  <a:srgbClr val="1B1B1E"/>
                </a:solidFill>
                <a:highlight>
                  <a:srgbClr val="FFFFFF"/>
                </a:highlight>
              </a:rPr>
              <a:t> (RBAC)</a:t>
            </a:r>
            <a:endParaRPr lang="en-US" sz="3200" dirty="0"/>
          </a:p>
          <a:p>
            <a:endParaRPr lang="en-US"/>
          </a:p>
          <a:p>
            <a:br>
              <a:rPr lang="en-US" dirty="0"/>
            </a:br>
            <a:endParaRPr lang="en-US" dirty="0"/>
          </a:p>
        </p:txBody>
      </p:sp>
      <p:sp>
        <p:nvSpPr>
          <p:cNvPr id="3" name="Content Placeholder 2">
            <a:extLst>
              <a:ext uri="{FF2B5EF4-FFF2-40B4-BE49-F238E27FC236}">
                <a16:creationId xmlns:a16="http://schemas.microsoft.com/office/drawing/2014/main" id="{8328CCDB-6B1B-2E40-4674-EAB2FDF32160}"/>
              </a:ext>
            </a:extLst>
          </p:cNvPr>
          <p:cNvSpPr>
            <a:spLocks noGrp="1"/>
          </p:cNvSpPr>
          <p:nvPr>
            <p:ph idx="1"/>
          </p:nvPr>
        </p:nvSpPr>
        <p:spPr>
          <a:xfrm>
            <a:off x="671286" y="954768"/>
            <a:ext cx="10515600" cy="1521053"/>
          </a:xfrm>
        </p:spPr>
        <p:txBody>
          <a:bodyPr vert="horz" lIns="91440" tIns="45720" rIns="91440" bIns="45720" rtlCol="0" anchor="t">
            <a:normAutofit/>
          </a:bodyPr>
          <a:lstStyle/>
          <a:p>
            <a:r>
              <a:rPr lang="en-US" sz="2000" b="1" dirty="0" err="1">
                <a:solidFill>
                  <a:srgbClr val="1B1B1E"/>
                </a:solidFill>
                <a:highlight>
                  <a:srgbClr val="FFFFFF"/>
                </a:highlight>
                <a:ea typeface="+mn-lt"/>
                <a:cs typeface="+mn-lt"/>
              </a:rPr>
              <a:t>Xác</a:t>
            </a:r>
            <a:r>
              <a:rPr lang="en-US" sz="2000" b="1" dirty="0">
                <a:solidFill>
                  <a:srgbClr val="1B1B1E"/>
                </a:solidFill>
                <a:highlight>
                  <a:srgbClr val="FFFFFF"/>
                </a:highlight>
                <a:ea typeface="+mn-lt"/>
                <a:cs typeface="+mn-lt"/>
              </a:rPr>
              <a:t> </a:t>
            </a:r>
            <a:r>
              <a:rPr lang="en-US" sz="2000" b="1" dirty="0" err="1">
                <a:solidFill>
                  <a:srgbClr val="1B1B1E"/>
                </a:solidFill>
                <a:highlight>
                  <a:srgbClr val="FFFFFF"/>
                </a:highlight>
                <a:ea typeface="+mn-lt"/>
                <a:cs typeface="+mn-lt"/>
              </a:rPr>
              <a:t>thực</a:t>
            </a:r>
            <a:r>
              <a:rPr lang="en-US" sz="2000" b="1" dirty="0">
                <a:solidFill>
                  <a:srgbClr val="1B1B1E"/>
                </a:solidFill>
                <a:highlight>
                  <a:srgbClr val="FFFFFF"/>
                </a:highlight>
                <a:ea typeface="+mn-lt"/>
                <a:cs typeface="+mn-lt"/>
              </a:rPr>
              <a:t>:</a:t>
            </a:r>
            <a:r>
              <a:rPr lang="en-US" sz="2000" dirty="0">
                <a:solidFill>
                  <a:srgbClr val="1B1B1E"/>
                </a:solidFill>
                <a:highlight>
                  <a:srgbClr val="FFFFFF"/>
                </a:highlight>
                <a:ea typeface="+mn-lt"/>
                <a:cs typeface="+mn-lt"/>
              </a:rPr>
              <a:t> </a:t>
            </a:r>
            <a:r>
              <a:rPr lang="en-US" sz="2000" dirty="0" err="1">
                <a:solidFill>
                  <a:srgbClr val="1B1B1E"/>
                </a:solidFill>
                <a:highlight>
                  <a:srgbClr val="FFFFFF"/>
                </a:highlight>
                <a:ea typeface="+mn-lt"/>
                <a:cs typeface="+mn-lt"/>
              </a:rPr>
              <a:t>Mọi</a:t>
            </a:r>
            <a:r>
              <a:rPr lang="en-US" sz="2000" dirty="0">
                <a:solidFill>
                  <a:srgbClr val="1B1B1E"/>
                </a:solidFill>
                <a:highlight>
                  <a:srgbClr val="FFFFFF"/>
                </a:highlight>
                <a:ea typeface="+mn-lt"/>
                <a:cs typeface="+mn-lt"/>
              </a:rPr>
              <a:t> </a:t>
            </a:r>
            <a:r>
              <a:rPr lang="en-US" sz="2000" dirty="0" err="1">
                <a:solidFill>
                  <a:srgbClr val="1B1B1E"/>
                </a:solidFill>
                <a:highlight>
                  <a:srgbClr val="FFFFFF"/>
                </a:highlight>
                <a:ea typeface="+mn-lt"/>
                <a:cs typeface="+mn-lt"/>
              </a:rPr>
              <a:t>yêu</a:t>
            </a:r>
            <a:r>
              <a:rPr lang="en-US" sz="2000" dirty="0">
                <a:solidFill>
                  <a:srgbClr val="1B1B1E"/>
                </a:solidFill>
                <a:highlight>
                  <a:srgbClr val="FFFFFF"/>
                </a:highlight>
                <a:ea typeface="+mn-lt"/>
                <a:cs typeface="+mn-lt"/>
              </a:rPr>
              <a:t> </a:t>
            </a:r>
            <a:r>
              <a:rPr lang="en-US" sz="2000" dirty="0" err="1">
                <a:solidFill>
                  <a:srgbClr val="1B1B1E"/>
                </a:solidFill>
                <a:highlight>
                  <a:srgbClr val="FFFFFF"/>
                </a:highlight>
                <a:ea typeface="+mn-lt"/>
                <a:cs typeface="+mn-lt"/>
              </a:rPr>
              <a:t>cầu</a:t>
            </a:r>
            <a:r>
              <a:rPr lang="en-US" sz="2000" dirty="0">
                <a:solidFill>
                  <a:srgbClr val="1B1B1E"/>
                </a:solidFill>
                <a:highlight>
                  <a:srgbClr val="FFFFFF"/>
                </a:highlight>
                <a:ea typeface="+mn-lt"/>
                <a:cs typeface="+mn-lt"/>
              </a:rPr>
              <a:t> </a:t>
            </a:r>
            <a:r>
              <a:rPr lang="en-US" sz="2000" dirty="0" err="1">
                <a:solidFill>
                  <a:srgbClr val="1B1B1E"/>
                </a:solidFill>
                <a:highlight>
                  <a:srgbClr val="FFFFFF"/>
                </a:highlight>
                <a:ea typeface="+mn-lt"/>
                <a:cs typeface="+mn-lt"/>
              </a:rPr>
              <a:t>phải</a:t>
            </a:r>
            <a:r>
              <a:rPr lang="en-US" sz="2000" dirty="0">
                <a:solidFill>
                  <a:srgbClr val="1B1B1E"/>
                </a:solidFill>
                <a:highlight>
                  <a:srgbClr val="FFFFFF"/>
                </a:highlight>
                <a:ea typeface="+mn-lt"/>
                <a:cs typeface="+mn-lt"/>
              </a:rPr>
              <a:t> </a:t>
            </a:r>
            <a:r>
              <a:rPr lang="en-US" sz="2000" dirty="0" err="1">
                <a:solidFill>
                  <a:srgbClr val="1B1B1E"/>
                </a:solidFill>
                <a:highlight>
                  <a:srgbClr val="FFFFFF"/>
                </a:highlight>
                <a:ea typeface="+mn-lt"/>
                <a:cs typeface="+mn-lt"/>
              </a:rPr>
              <a:t>có</a:t>
            </a:r>
            <a:r>
              <a:rPr lang="en-US" sz="2000" dirty="0">
                <a:solidFill>
                  <a:srgbClr val="1B1B1E"/>
                </a:solidFill>
                <a:highlight>
                  <a:srgbClr val="FFFFFF"/>
                </a:highlight>
                <a:ea typeface="+mn-lt"/>
                <a:cs typeface="+mn-lt"/>
              </a:rPr>
              <a:t> </a:t>
            </a:r>
            <a:r>
              <a:rPr lang="en-US" sz="2000" dirty="0">
                <a:solidFill>
                  <a:srgbClr val="2B2D31"/>
                </a:solidFill>
                <a:highlight>
                  <a:srgbClr val="FCFCFC"/>
                </a:highlight>
                <a:latin typeface="DM Mono"/>
              </a:rPr>
              <a:t>X-API-Key</a:t>
            </a:r>
            <a:r>
              <a:rPr lang="en-US" sz="2000" dirty="0">
                <a:solidFill>
                  <a:srgbClr val="1B1B1E"/>
                </a:solidFill>
                <a:highlight>
                  <a:srgbClr val="FFFFFF"/>
                </a:highlight>
                <a:ea typeface="+mn-lt"/>
                <a:cs typeface="+mn-lt"/>
              </a:rPr>
              <a:t>.</a:t>
            </a:r>
            <a:endParaRPr lang="en-US" sz="2000" dirty="0"/>
          </a:p>
          <a:p>
            <a:r>
              <a:rPr lang="en-US" sz="2000" b="1" dirty="0" err="1">
                <a:solidFill>
                  <a:srgbClr val="1B1B1E"/>
                </a:solidFill>
                <a:highlight>
                  <a:srgbClr val="FFFFFF"/>
                </a:highlight>
                <a:ea typeface="+mn-lt"/>
                <a:cs typeface="+mn-lt"/>
              </a:rPr>
              <a:t>Phân</a:t>
            </a:r>
            <a:r>
              <a:rPr lang="en-US" sz="2000" b="1" dirty="0">
                <a:solidFill>
                  <a:srgbClr val="1B1B1E"/>
                </a:solidFill>
                <a:highlight>
                  <a:srgbClr val="FFFFFF"/>
                </a:highlight>
                <a:ea typeface="+mn-lt"/>
                <a:cs typeface="+mn-lt"/>
              </a:rPr>
              <a:t> </a:t>
            </a:r>
            <a:r>
              <a:rPr lang="en-US" sz="2000" b="1" dirty="0" err="1">
                <a:solidFill>
                  <a:srgbClr val="1B1B1E"/>
                </a:solidFill>
                <a:highlight>
                  <a:srgbClr val="FFFFFF"/>
                </a:highlight>
                <a:ea typeface="+mn-lt"/>
                <a:cs typeface="+mn-lt"/>
              </a:rPr>
              <a:t>quyền</a:t>
            </a:r>
            <a:r>
              <a:rPr lang="en-US" sz="2000" b="1" dirty="0">
                <a:solidFill>
                  <a:srgbClr val="1B1B1E"/>
                </a:solidFill>
                <a:highlight>
                  <a:srgbClr val="FFFFFF"/>
                </a:highlight>
                <a:ea typeface="+mn-lt"/>
                <a:cs typeface="+mn-lt"/>
              </a:rPr>
              <a:t> (RBAC):</a:t>
            </a:r>
            <a:r>
              <a:rPr lang="en-US" sz="2000" dirty="0">
                <a:solidFill>
                  <a:srgbClr val="1B1B1E"/>
                </a:solidFill>
                <a:highlight>
                  <a:srgbClr val="FFFFFF"/>
                </a:highlight>
                <a:ea typeface="+mn-lt"/>
                <a:cs typeface="+mn-lt"/>
              </a:rPr>
              <a:t> Admin (3) &gt; Teacher (2) &gt; Student (1).</a:t>
            </a:r>
            <a:endParaRPr lang="en-US" sz="2000" dirty="0"/>
          </a:p>
          <a:p>
            <a:r>
              <a:rPr lang="en-US" sz="2000" b="1" dirty="0">
                <a:solidFill>
                  <a:srgbClr val="1B1B1E"/>
                </a:solidFill>
                <a:highlight>
                  <a:srgbClr val="FFFFFF"/>
                </a:highlight>
                <a:ea typeface="+mn-lt"/>
                <a:cs typeface="+mn-lt"/>
              </a:rPr>
              <a:t>Bảo </a:t>
            </a:r>
            <a:r>
              <a:rPr lang="en-US" sz="2000" b="1" dirty="0" err="1">
                <a:solidFill>
                  <a:srgbClr val="1B1B1E"/>
                </a:solidFill>
                <a:highlight>
                  <a:srgbClr val="FFFFFF"/>
                </a:highlight>
                <a:ea typeface="+mn-lt"/>
                <a:cs typeface="+mn-lt"/>
              </a:rPr>
              <a:t>mật</a:t>
            </a:r>
            <a:r>
              <a:rPr lang="en-US" sz="2000" b="1" dirty="0">
                <a:solidFill>
                  <a:srgbClr val="1B1B1E"/>
                </a:solidFill>
                <a:highlight>
                  <a:srgbClr val="FFFFFF"/>
                </a:highlight>
                <a:ea typeface="+mn-lt"/>
                <a:cs typeface="+mn-lt"/>
              </a:rPr>
              <a:t>:</a:t>
            </a:r>
            <a:r>
              <a:rPr lang="en-US" sz="2000" dirty="0">
                <a:solidFill>
                  <a:srgbClr val="1B1B1E"/>
                </a:solidFill>
                <a:highlight>
                  <a:srgbClr val="FFFFFF"/>
                </a:highlight>
                <a:ea typeface="+mn-lt"/>
                <a:cs typeface="+mn-lt"/>
              </a:rPr>
              <a:t> Middleware Laravel </a:t>
            </a:r>
            <a:r>
              <a:rPr lang="en-US" sz="2000" dirty="0" err="1">
                <a:solidFill>
                  <a:srgbClr val="1B1B1E"/>
                </a:solidFill>
                <a:highlight>
                  <a:srgbClr val="FFFFFF"/>
                </a:highlight>
                <a:ea typeface="+mn-lt"/>
                <a:cs typeface="+mn-lt"/>
              </a:rPr>
              <a:t>xử</a:t>
            </a:r>
            <a:r>
              <a:rPr lang="en-US" sz="2000" dirty="0">
                <a:solidFill>
                  <a:srgbClr val="1B1B1E"/>
                </a:solidFill>
                <a:highlight>
                  <a:srgbClr val="FFFFFF"/>
                </a:highlight>
                <a:ea typeface="+mn-lt"/>
                <a:cs typeface="+mn-lt"/>
              </a:rPr>
              <a:t> </a:t>
            </a:r>
            <a:r>
              <a:rPr lang="en-US" sz="2000" dirty="0" err="1">
                <a:solidFill>
                  <a:srgbClr val="1B1B1E"/>
                </a:solidFill>
                <a:highlight>
                  <a:srgbClr val="FFFFFF"/>
                </a:highlight>
                <a:ea typeface="+mn-lt"/>
                <a:cs typeface="+mn-lt"/>
              </a:rPr>
              <a:t>lý</a:t>
            </a:r>
            <a:r>
              <a:rPr lang="en-US" sz="2000" dirty="0">
                <a:solidFill>
                  <a:srgbClr val="1B1B1E"/>
                </a:solidFill>
                <a:highlight>
                  <a:srgbClr val="FFFFFF"/>
                </a:highlight>
                <a:ea typeface="+mn-lt"/>
                <a:cs typeface="+mn-lt"/>
              </a:rPr>
              <a:t> </a:t>
            </a:r>
            <a:r>
              <a:rPr lang="en-US" sz="2000" dirty="0" err="1">
                <a:solidFill>
                  <a:srgbClr val="1B1B1E"/>
                </a:solidFill>
                <a:highlight>
                  <a:srgbClr val="FFFFFF"/>
                </a:highlight>
                <a:ea typeface="+mn-lt"/>
                <a:cs typeface="+mn-lt"/>
              </a:rPr>
              <a:t>chống</a:t>
            </a:r>
            <a:r>
              <a:rPr lang="en-US" sz="2000" dirty="0">
                <a:solidFill>
                  <a:srgbClr val="1B1B1E"/>
                </a:solidFill>
                <a:highlight>
                  <a:srgbClr val="FFFFFF"/>
                </a:highlight>
                <a:ea typeface="+mn-lt"/>
                <a:cs typeface="+mn-lt"/>
              </a:rPr>
              <a:t> XSS/SQL Injection, </a:t>
            </a:r>
            <a:r>
              <a:rPr lang="en-US" sz="2000" dirty="0" err="1">
                <a:solidFill>
                  <a:srgbClr val="1B1B1E"/>
                </a:solidFill>
                <a:highlight>
                  <a:srgbClr val="FFFFFF"/>
                </a:highlight>
                <a:ea typeface="+mn-lt"/>
                <a:cs typeface="+mn-lt"/>
              </a:rPr>
              <a:t>giới</a:t>
            </a:r>
            <a:r>
              <a:rPr lang="en-US" sz="2000" dirty="0">
                <a:solidFill>
                  <a:srgbClr val="1B1B1E"/>
                </a:solidFill>
                <a:highlight>
                  <a:srgbClr val="FFFFFF"/>
                </a:highlight>
                <a:ea typeface="+mn-lt"/>
                <a:cs typeface="+mn-lt"/>
              </a:rPr>
              <a:t> </a:t>
            </a:r>
            <a:r>
              <a:rPr lang="en-US" sz="2000" dirty="0" err="1">
                <a:solidFill>
                  <a:srgbClr val="1B1B1E"/>
                </a:solidFill>
                <a:highlight>
                  <a:srgbClr val="FFFFFF"/>
                </a:highlight>
                <a:ea typeface="+mn-lt"/>
                <a:cs typeface="+mn-lt"/>
              </a:rPr>
              <a:t>hạn</a:t>
            </a:r>
            <a:r>
              <a:rPr lang="en-US" sz="2000" dirty="0">
                <a:solidFill>
                  <a:srgbClr val="1B1B1E"/>
                </a:solidFill>
                <a:highlight>
                  <a:srgbClr val="FFFFFF"/>
                </a:highlight>
                <a:ea typeface="+mn-lt"/>
                <a:cs typeface="+mn-lt"/>
              </a:rPr>
              <a:t> </a:t>
            </a:r>
            <a:r>
              <a:rPr lang="en-US" sz="2000" dirty="0" err="1">
                <a:solidFill>
                  <a:srgbClr val="1B1B1E"/>
                </a:solidFill>
                <a:highlight>
                  <a:srgbClr val="FFFFFF"/>
                </a:highlight>
                <a:ea typeface="+mn-lt"/>
                <a:cs typeface="+mn-lt"/>
              </a:rPr>
              <a:t>tần</a:t>
            </a:r>
            <a:r>
              <a:rPr lang="en-US" sz="2000" dirty="0">
                <a:solidFill>
                  <a:srgbClr val="1B1B1E"/>
                </a:solidFill>
                <a:highlight>
                  <a:srgbClr val="FFFFFF"/>
                </a:highlight>
                <a:ea typeface="+mn-lt"/>
                <a:cs typeface="+mn-lt"/>
              </a:rPr>
              <a:t> </a:t>
            </a:r>
            <a:r>
              <a:rPr lang="en-US" sz="2000" dirty="0" err="1">
                <a:solidFill>
                  <a:srgbClr val="1B1B1E"/>
                </a:solidFill>
                <a:highlight>
                  <a:srgbClr val="FFFFFF"/>
                </a:highlight>
                <a:ea typeface="+mn-lt"/>
                <a:cs typeface="+mn-lt"/>
              </a:rPr>
              <a:t>suất</a:t>
            </a:r>
            <a:r>
              <a:rPr lang="en-US" sz="2000" dirty="0">
                <a:solidFill>
                  <a:srgbClr val="1B1B1E"/>
                </a:solidFill>
                <a:highlight>
                  <a:srgbClr val="FFFFFF"/>
                </a:highlight>
                <a:ea typeface="+mn-lt"/>
                <a:cs typeface="+mn-lt"/>
              </a:rPr>
              <a:t> (Rate limit) </a:t>
            </a:r>
            <a:r>
              <a:rPr lang="en-US" sz="2000" dirty="0" err="1">
                <a:solidFill>
                  <a:srgbClr val="1B1B1E"/>
                </a:solidFill>
                <a:highlight>
                  <a:srgbClr val="FFFFFF"/>
                </a:highlight>
                <a:ea typeface="+mn-lt"/>
                <a:cs typeface="+mn-lt"/>
              </a:rPr>
              <a:t>chống</a:t>
            </a:r>
            <a:r>
              <a:rPr lang="en-US" sz="2000" dirty="0">
                <a:solidFill>
                  <a:srgbClr val="1B1B1E"/>
                </a:solidFill>
                <a:highlight>
                  <a:srgbClr val="FFFFFF"/>
                </a:highlight>
                <a:ea typeface="+mn-lt"/>
                <a:cs typeface="+mn-lt"/>
              </a:rPr>
              <a:t> DDoS.</a:t>
            </a:r>
            <a:endParaRPr lang="en-US" sz="2000" dirty="0"/>
          </a:p>
          <a:p>
            <a:endParaRPr lang="en-US" sz="2000" dirty="0"/>
          </a:p>
        </p:txBody>
      </p:sp>
      <p:pic>
        <p:nvPicPr>
          <p:cNvPr id="4" name="Picture 3">
            <a:extLst>
              <a:ext uri="{FF2B5EF4-FFF2-40B4-BE49-F238E27FC236}">
                <a16:creationId xmlns:a16="http://schemas.microsoft.com/office/drawing/2014/main" id="{47EB2FE0-53D6-AC3C-F801-D7C9D595B86D}"/>
              </a:ext>
            </a:extLst>
          </p:cNvPr>
          <p:cNvPicPr>
            <a:picLocks noChangeAspect="1"/>
          </p:cNvPicPr>
          <p:nvPr/>
        </p:nvPicPr>
        <p:blipFill>
          <a:blip r:embed="rId2"/>
          <a:stretch>
            <a:fillRect/>
          </a:stretch>
        </p:blipFill>
        <p:spPr>
          <a:xfrm>
            <a:off x="2436132" y="2252436"/>
            <a:ext cx="8517165" cy="4602843"/>
          </a:xfrm>
          <a:prstGeom prst="rect">
            <a:avLst/>
          </a:prstGeom>
        </p:spPr>
      </p:pic>
    </p:spTree>
    <p:extLst>
      <p:ext uri="{BB962C8B-B14F-4D97-AF65-F5344CB8AC3E}">
        <p14:creationId xmlns:p14="http://schemas.microsoft.com/office/powerpoint/2010/main" val="2460136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4" name="Rectangle 2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27">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862515-ECB9-1A90-AF8A-1F60EF95FF40}"/>
              </a:ext>
            </a:extLst>
          </p:cNvPr>
          <p:cNvSpPr>
            <a:spLocks noGrp="1"/>
          </p:cNvSpPr>
          <p:nvPr>
            <p:ph type="title"/>
          </p:nvPr>
        </p:nvSpPr>
        <p:spPr>
          <a:xfrm>
            <a:off x="840431" y="1107441"/>
            <a:ext cx="9942716" cy="1554480"/>
          </a:xfrm>
        </p:spPr>
        <p:txBody>
          <a:bodyPr anchor="ctr">
            <a:normAutofit/>
          </a:bodyPr>
          <a:lstStyle/>
          <a:p>
            <a:r>
              <a:rPr lang="en-US" sz="3200" dirty="0">
                <a:highlight>
                  <a:srgbClr val="FFFFFF"/>
                </a:highlight>
              </a:rPr>
              <a:t>Điểm </a:t>
            </a:r>
            <a:r>
              <a:rPr lang="en-US" sz="3200" dirty="0" err="1">
                <a:highlight>
                  <a:srgbClr val="FFFFFF"/>
                </a:highlight>
              </a:rPr>
              <a:t>nhấn</a:t>
            </a:r>
            <a:r>
              <a:rPr lang="en-US" sz="3200" dirty="0">
                <a:highlight>
                  <a:srgbClr val="FFFFFF"/>
                </a:highlight>
              </a:rPr>
              <a:t> </a:t>
            </a:r>
            <a:r>
              <a:rPr lang="en-US" sz="3200" dirty="0" err="1">
                <a:highlight>
                  <a:srgbClr val="FFFFFF"/>
                </a:highlight>
              </a:rPr>
              <a:t>kỹ</a:t>
            </a:r>
            <a:r>
              <a:rPr lang="en-US" sz="3200" dirty="0">
                <a:highlight>
                  <a:srgbClr val="FFFFFF"/>
                </a:highlight>
              </a:rPr>
              <a:t> </a:t>
            </a:r>
            <a:r>
              <a:rPr lang="en-US" sz="3200" dirty="0" err="1">
                <a:highlight>
                  <a:srgbClr val="FFFFFF"/>
                </a:highlight>
              </a:rPr>
              <a:t>thuật</a:t>
            </a:r>
            <a:r>
              <a:rPr lang="en-US" sz="3200" dirty="0">
                <a:highlight>
                  <a:srgbClr val="FFFFFF"/>
                </a:highlight>
              </a:rPr>
              <a:t>: </a:t>
            </a:r>
            <a:r>
              <a:rPr lang="en-US" sz="3200" dirty="0" err="1">
                <a:highlight>
                  <a:srgbClr val="FFFFFF"/>
                </a:highlight>
              </a:rPr>
              <a:t>Cơ</a:t>
            </a:r>
            <a:r>
              <a:rPr lang="en-US" sz="3200" dirty="0">
                <a:highlight>
                  <a:srgbClr val="FFFFFF"/>
                </a:highlight>
              </a:rPr>
              <a:t> </a:t>
            </a:r>
            <a:r>
              <a:rPr lang="en-US" sz="3200" dirty="0" err="1">
                <a:highlight>
                  <a:srgbClr val="FFFFFF"/>
                </a:highlight>
              </a:rPr>
              <a:t>sở</a:t>
            </a:r>
            <a:r>
              <a:rPr lang="en-US" sz="3200" dirty="0">
                <a:highlight>
                  <a:srgbClr val="FFFFFF"/>
                </a:highlight>
              </a:rPr>
              <a:t> </a:t>
            </a:r>
            <a:r>
              <a:rPr lang="en-US" sz="3200" dirty="0" err="1">
                <a:highlight>
                  <a:srgbClr val="FFFFFF"/>
                </a:highlight>
              </a:rPr>
              <a:t>dữ</a:t>
            </a:r>
            <a:r>
              <a:rPr lang="en-US" sz="3200" dirty="0">
                <a:highlight>
                  <a:srgbClr val="FFFFFF"/>
                </a:highlight>
              </a:rPr>
              <a:t> </a:t>
            </a:r>
            <a:r>
              <a:rPr lang="en-US" sz="3200" dirty="0" err="1">
                <a:highlight>
                  <a:srgbClr val="FFFFFF"/>
                </a:highlight>
              </a:rPr>
              <a:t>liệu</a:t>
            </a:r>
            <a:r>
              <a:rPr lang="en-US" sz="3200" dirty="0">
                <a:highlight>
                  <a:srgbClr val="FFFFFF"/>
                </a:highlight>
              </a:rPr>
              <a:t> </a:t>
            </a:r>
            <a:r>
              <a:rPr lang="en-US" sz="3200" dirty="0" err="1">
                <a:highlight>
                  <a:srgbClr val="FFFFFF"/>
                </a:highlight>
              </a:rPr>
              <a:t>linh</a:t>
            </a:r>
            <a:r>
              <a:rPr lang="en-US" sz="3200" dirty="0">
                <a:highlight>
                  <a:srgbClr val="FFFFFF"/>
                </a:highlight>
              </a:rPr>
              <a:t> </a:t>
            </a:r>
            <a:r>
              <a:rPr lang="en-US" sz="3200" dirty="0" err="1">
                <a:highlight>
                  <a:srgbClr val="FFFFFF"/>
                </a:highlight>
              </a:rPr>
              <a:t>hoạt</a:t>
            </a:r>
            <a:endParaRPr lang="en-US" sz="3200" dirty="0" err="1"/>
          </a:p>
          <a:p>
            <a:endParaRPr lang="en-US" sz="4800"/>
          </a:p>
        </p:txBody>
      </p:sp>
      <p:sp>
        <p:nvSpPr>
          <p:cNvPr id="29" name="Content Placeholder 2">
            <a:extLst>
              <a:ext uri="{FF2B5EF4-FFF2-40B4-BE49-F238E27FC236}">
                <a16:creationId xmlns:a16="http://schemas.microsoft.com/office/drawing/2014/main" id="{38EF8EA1-5343-3AAC-B9CC-E56BB39CFB37}"/>
              </a:ext>
            </a:extLst>
          </p:cNvPr>
          <p:cNvSpPr>
            <a:spLocks noGrp="1"/>
          </p:cNvSpPr>
          <p:nvPr>
            <p:ph idx="1"/>
          </p:nvPr>
        </p:nvSpPr>
        <p:spPr>
          <a:xfrm>
            <a:off x="1045028" y="3017522"/>
            <a:ext cx="9941319" cy="3124658"/>
          </a:xfrm>
        </p:spPr>
        <p:txBody>
          <a:bodyPr vert="horz" lIns="91440" tIns="45720" rIns="91440" bIns="45720" rtlCol="0" anchor="ctr">
            <a:normAutofit/>
          </a:bodyPr>
          <a:lstStyle/>
          <a:p>
            <a:r>
              <a:rPr lang="en-US" sz="2400" dirty="0" err="1">
                <a:highlight>
                  <a:srgbClr val="FFFFFF"/>
                </a:highlight>
                <a:latin typeface="Calibri"/>
                <a:ea typeface="Calibri"/>
                <a:cs typeface="Calibri"/>
              </a:rPr>
              <a:t>Hệ</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thống</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thiết</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kế</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giao</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diện</a:t>
            </a:r>
            <a:r>
              <a:rPr lang="en-US" sz="2400" dirty="0">
                <a:highlight>
                  <a:srgbClr val="FFFFFF"/>
                </a:highlight>
                <a:latin typeface="Calibri"/>
                <a:ea typeface="Calibri"/>
                <a:cs typeface="Calibri"/>
              </a:rPr>
              <a:t> </a:t>
            </a:r>
            <a:r>
              <a:rPr lang="en-US" sz="2400" dirty="0" err="1">
                <a:highlight>
                  <a:srgbClr val="FCFCFC"/>
                </a:highlight>
                <a:latin typeface="Calibri"/>
                <a:ea typeface="Calibri"/>
                <a:cs typeface="Calibri"/>
              </a:rPr>
              <a:t>MoodleDataSourceInterface</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cho</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phép</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chuyển</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đổi</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tức</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thời</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giữa</a:t>
            </a:r>
            <a:r>
              <a:rPr lang="en-US" sz="2400" dirty="0">
                <a:highlight>
                  <a:srgbClr val="FFFFFF"/>
                </a:highlight>
                <a:latin typeface="Calibri"/>
                <a:ea typeface="Calibri"/>
                <a:cs typeface="Calibri"/>
              </a:rPr>
              <a:t>:</a:t>
            </a:r>
            <a:endParaRPr lang="en-US" sz="2400">
              <a:latin typeface="Calibri"/>
              <a:ea typeface="Calibri"/>
              <a:cs typeface="Calibri"/>
            </a:endParaRPr>
          </a:p>
          <a:p>
            <a:pPr lvl="1"/>
            <a:r>
              <a:rPr lang="en-US" dirty="0" err="1">
                <a:highlight>
                  <a:srgbClr val="FCFCFC"/>
                </a:highlight>
                <a:latin typeface="Calibri"/>
                <a:ea typeface="Calibri"/>
                <a:cs typeface="Calibri"/>
              </a:rPr>
              <a:t>DatabaseSource</a:t>
            </a:r>
            <a:r>
              <a:rPr lang="en-US" dirty="0">
                <a:highlight>
                  <a:srgbClr val="FFFFFF"/>
                </a:highlight>
                <a:latin typeface="Calibri"/>
                <a:ea typeface="Calibri"/>
                <a:cs typeface="Calibri"/>
              </a:rPr>
              <a:t>: </a:t>
            </a:r>
            <a:r>
              <a:rPr lang="en-US" dirty="0" err="1">
                <a:highlight>
                  <a:srgbClr val="FFFFFF"/>
                </a:highlight>
                <a:latin typeface="Calibri"/>
                <a:ea typeface="Calibri"/>
                <a:cs typeface="Calibri"/>
              </a:rPr>
              <a:t>Truy</a:t>
            </a:r>
            <a:r>
              <a:rPr lang="en-US" dirty="0">
                <a:highlight>
                  <a:srgbClr val="FFFFFF"/>
                </a:highlight>
                <a:latin typeface="Calibri"/>
                <a:ea typeface="Calibri"/>
                <a:cs typeface="Calibri"/>
              </a:rPr>
              <a:t> </a:t>
            </a:r>
            <a:r>
              <a:rPr lang="en-US" dirty="0" err="1">
                <a:highlight>
                  <a:srgbClr val="FFFFFF"/>
                </a:highlight>
                <a:latin typeface="Calibri"/>
                <a:ea typeface="Calibri"/>
                <a:cs typeface="Calibri"/>
              </a:rPr>
              <a:t>vấn</a:t>
            </a:r>
            <a:r>
              <a:rPr lang="en-US" dirty="0">
                <a:highlight>
                  <a:srgbClr val="FFFFFF"/>
                </a:highlight>
                <a:latin typeface="Calibri"/>
                <a:ea typeface="Calibri"/>
                <a:cs typeface="Calibri"/>
              </a:rPr>
              <a:t> </a:t>
            </a:r>
            <a:r>
              <a:rPr lang="en-US" dirty="0" err="1">
                <a:highlight>
                  <a:srgbClr val="FFFFFF"/>
                </a:highlight>
                <a:latin typeface="Calibri"/>
                <a:ea typeface="Calibri"/>
                <a:cs typeface="Calibri"/>
              </a:rPr>
              <a:t>trực</a:t>
            </a:r>
            <a:r>
              <a:rPr lang="en-US" dirty="0">
                <a:highlight>
                  <a:srgbClr val="FFFFFF"/>
                </a:highlight>
                <a:latin typeface="Calibri"/>
                <a:ea typeface="Calibri"/>
                <a:cs typeface="Calibri"/>
              </a:rPr>
              <a:t> </a:t>
            </a:r>
            <a:r>
              <a:rPr lang="en-US" dirty="0" err="1">
                <a:highlight>
                  <a:srgbClr val="FFFFFF"/>
                </a:highlight>
                <a:latin typeface="Calibri"/>
                <a:ea typeface="Calibri"/>
                <a:cs typeface="Calibri"/>
              </a:rPr>
              <a:t>tiếp</a:t>
            </a:r>
            <a:r>
              <a:rPr lang="en-US" dirty="0">
                <a:highlight>
                  <a:srgbClr val="FFFFFF"/>
                </a:highlight>
                <a:latin typeface="Calibri"/>
                <a:ea typeface="Calibri"/>
                <a:cs typeface="Calibri"/>
              </a:rPr>
              <a:t> CSDL Moodle (</a:t>
            </a:r>
            <a:r>
              <a:rPr lang="en-US" dirty="0" err="1">
                <a:highlight>
                  <a:srgbClr val="FFFFFF"/>
                </a:highlight>
                <a:latin typeface="Calibri"/>
                <a:ea typeface="Calibri"/>
                <a:cs typeface="Calibri"/>
              </a:rPr>
              <a:t>Tối</a:t>
            </a:r>
            <a:r>
              <a:rPr lang="en-US" dirty="0">
                <a:highlight>
                  <a:srgbClr val="FFFFFF"/>
                </a:highlight>
                <a:latin typeface="Calibri"/>
                <a:ea typeface="Calibri"/>
                <a:cs typeface="Calibri"/>
              </a:rPr>
              <a:t> </a:t>
            </a:r>
            <a:r>
              <a:rPr lang="en-US" dirty="0" err="1">
                <a:highlight>
                  <a:srgbClr val="FFFFFF"/>
                </a:highlight>
                <a:latin typeface="Calibri"/>
                <a:ea typeface="Calibri"/>
                <a:cs typeface="Calibri"/>
              </a:rPr>
              <a:t>ưu</a:t>
            </a:r>
            <a:r>
              <a:rPr lang="en-US" dirty="0">
                <a:highlight>
                  <a:srgbClr val="FFFFFF"/>
                </a:highlight>
                <a:latin typeface="Calibri"/>
                <a:ea typeface="Calibri"/>
                <a:cs typeface="Calibri"/>
              </a:rPr>
              <a:t> </a:t>
            </a:r>
            <a:r>
              <a:rPr lang="en-US" dirty="0" err="1">
                <a:highlight>
                  <a:srgbClr val="FFFFFF"/>
                </a:highlight>
                <a:latin typeface="Calibri"/>
                <a:ea typeface="Calibri"/>
                <a:cs typeface="Calibri"/>
              </a:rPr>
              <a:t>hiệu</a:t>
            </a:r>
            <a:r>
              <a:rPr lang="en-US" dirty="0">
                <a:highlight>
                  <a:srgbClr val="FFFFFF"/>
                </a:highlight>
                <a:latin typeface="Calibri"/>
                <a:ea typeface="Calibri"/>
                <a:cs typeface="Calibri"/>
              </a:rPr>
              <a:t> </a:t>
            </a:r>
            <a:r>
              <a:rPr lang="en-US" dirty="0" err="1">
                <a:highlight>
                  <a:srgbClr val="FFFFFF"/>
                </a:highlight>
                <a:latin typeface="Calibri"/>
                <a:ea typeface="Calibri"/>
                <a:cs typeface="Calibri"/>
              </a:rPr>
              <a:t>năng</a:t>
            </a:r>
            <a:r>
              <a:rPr lang="en-US" dirty="0">
                <a:highlight>
                  <a:srgbClr val="FFFFFF"/>
                </a:highlight>
                <a:latin typeface="Calibri"/>
                <a:ea typeface="Calibri"/>
                <a:cs typeface="Calibri"/>
              </a:rPr>
              <a:t>).</a:t>
            </a:r>
            <a:endParaRPr lang="en-US">
              <a:latin typeface="Calibri"/>
              <a:ea typeface="Calibri"/>
              <a:cs typeface="Calibri"/>
            </a:endParaRPr>
          </a:p>
          <a:p>
            <a:pPr lvl="1"/>
            <a:r>
              <a:rPr lang="en-US" dirty="0" err="1">
                <a:highlight>
                  <a:srgbClr val="FCFCFC"/>
                </a:highlight>
                <a:latin typeface="Calibri"/>
                <a:ea typeface="Calibri"/>
                <a:cs typeface="Calibri"/>
              </a:rPr>
              <a:t>WebServiceSource</a:t>
            </a:r>
            <a:r>
              <a:rPr lang="en-US" dirty="0">
                <a:highlight>
                  <a:srgbClr val="FFFFFF"/>
                </a:highlight>
                <a:latin typeface="Calibri"/>
                <a:ea typeface="Calibri"/>
                <a:cs typeface="Calibri"/>
              </a:rPr>
              <a:t>: </a:t>
            </a:r>
            <a:r>
              <a:rPr lang="en-US" dirty="0" err="1">
                <a:highlight>
                  <a:srgbClr val="FFFFFF"/>
                </a:highlight>
                <a:latin typeface="Calibri"/>
                <a:ea typeface="Calibri"/>
                <a:cs typeface="Calibri"/>
              </a:rPr>
              <a:t>Gọi</a:t>
            </a:r>
            <a:r>
              <a:rPr lang="en-US" dirty="0">
                <a:highlight>
                  <a:srgbClr val="FFFFFF"/>
                </a:highlight>
                <a:latin typeface="Calibri"/>
                <a:ea typeface="Calibri"/>
                <a:cs typeface="Calibri"/>
              </a:rPr>
              <a:t> qua Moodle Web Services </a:t>
            </a:r>
            <a:r>
              <a:rPr lang="en-US" dirty="0" err="1">
                <a:highlight>
                  <a:srgbClr val="FFFFFF"/>
                </a:highlight>
                <a:latin typeface="Calibri"/>
                <a:ea typeface="Calibri"/>
                <a:cs typeface="Calibri"/>
              </a:rPr>
              <a:t>chuẩn</a:t>
            </a:r>
            <a:r>
              <a:rPr lang="en-US" dirty="0">
                <a:highlight>
                  <a:srgbClr val="FFFFFF"/>
                </a:highlight>
                <a:latin typeface="Calibri"/>
                <a:ea typeface="Calibri"/>
                <a:cs typeface="Calibri"/>
              </a:rPr>
              <a:t>.</a:t>
            </a:r>
            <a:endParaRPr lang="en-US">
              <a:latin typeface="Calibri"/>
              <a:ea typeface="Calibri"/>
              <a:cs typeface="Calibri"/>
            </a:endParaRPr>
          </a:p>
          <a:p>
            <a:r>
              <a:rPr lang="en-US" sz="2400" b="1" dirty="0" err="1">
                <a:highlight>
                  <a:srgbClr val="FFFFFF"/>
                </a:highlight>
                <a:latin typeface="Calibri"/>
                <a:ea typeface="Calibri"/>
                <a:cs typeface="Calibri"/>
              </a:rPr>
              <a:t>Ưu</a:t>
            </a:r>
            <a:r>
              <a:rPr lang="en-US" sz="2400" b="1" dirty="0">
                <a:highlight>
                  <a:srgbClr val="FFFFFF"/>
                </a:highlight>
                <a:latin typeface="Calibri"/>
                <a:ea typeface="Calibri"/>
                <a:cs typeface="Calibri"/>
              </a:rPr>
              <a:t> </a:t>
            </a:r>
            <a:r>
              <a:rPr lang="en-US" sz="2400" b="1" dirty="0" err="1">
                <a:highlight>
                  <a:srgbClr val="FFFFFF"/>
                </a:highlight>
                <a:latin typeface="Calibri"/>
                <a:ea typeface="Calibri"/>
                <a:cs typeface="Calibri"/>
              </a:rPr>
              <a:t>điểm</a:t>
            </a:r>
            <a:r>
              <a:rPr lang="en-US" sz="2400" b="1" dirty="0">
                <a:highlight>
                  <a:srgbClr val="FFFFFF"/>
                </a:highlight>
                <a:latin typeface="Calibri"/>
                <a:ea typeface="Calibri"/>
                <a:cs typeface="Calibri"/>
              </a:rPr>
              <a:t>:</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Khắc</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phục</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tình</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trạng</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treo</a:t>
            </a:r>
            <a:r>
              <a:rPr lang="en-US" sz="2400" dirty="0">
                <a:highlight>
                  <a:srgbClr val="FFFFFF"/>
                </a:highlight>
                <a:latin typeface="Calibri"/>
                <a:ea typeface="Calibri"/>
                <a:cs typeface="Calibri"/>
              </a:rPr>
              <a:t> server PHP </a:t>
            </a:r>
            <a:r>
              <a:rPr lang="en-US" sz="2400" dirty="0" err="1">
                <a:highlight>
                  <a:srgbClr val="FFFFFF"/>
                </a:highlight>
                <a:latin typeface="Calibri"/>
                <a:ea typeface="Calibri"/>
                <a:cs typeface="Calibri"/>
              </a:rPr>
              <a:t>đơn</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luồng</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linh</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hoạt</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cấu</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hình</a:t>
            </a:r>
            <a:r>
              <a:rPr lang="en-US" sz="2400" dirty="0">
                <a:highlight>
                  <a:srgbClr val="FFFFFF"/>
                </a:highlight>
                <a:latin typeface="Calibri"/>
                <a:ea typeface="Calibri"/>
                <a:cs typeface="Calibri"/>
              </a:rPr>
              <a:t> qua </a:t>
            </a:r>
            <a:r>
              <a:rPr lang="en-US" sz="2400" dirty="0" err="1">
                <a:highlight>
                  <a:srgbClr val="FFFFFF"/>
                </a:highlight>
                <a:latin typeface="Calibri"/>
                <a:ea typeface="Calibri"/>
                <a:cs typeface="Calibri"/>
              </a:rPr>
              <a:t>biến</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môi</a:t>
            </a:r>
            <a:r>
              <a:rPr lang="en-US" sz="2400" dirty="0">
                <a:highlight>
                  <a:srgbClr val="FFFFFF"/>
                </a:highlight>
                <a:latin typeface="Calibri"/>
                <a:ea typeface="Calibri"/>
                <a:cs typeface="Calibri"/>
              </a:rPr>
              <a:t> </a:t>
            </a:r>
            <a:r>
              <a:rPr lang="en-US" sz="2400" dirty="0" err="1">
                <a:highlight>
                  <a:srgbClr val="FFFFFF"/>
                </a:highlight>
                <a:latin typeface="Calibri"/>
                <a:ea typeface="Calibri"/>
                <a:cs typeface="Calibri"/>
              </a:rPr>
              <a:t>trường</a:t>
            </a:r>
            <a:r>
              <a:rPr lang="en-US" sz="2400" dirty="0">
                <a:highlight>
                  <a:srgbClr val="FFFFFF"/>
                </a:highlight>
                <a:latin typeface="Calibri"/>
                <a:ea typeface="Calibri"/>
                <a:cs typeface="Calibri"/>
              </a:rPr>
              <a:t>.</a:t>
            </a:r>
            <a:endParaRPr lang="en-US" sz="2400" dirty="0">
              <a:latin typeface="Calibri"/>
              <a:ea typeface="Calibri"/>
              <a:cs typeface="Calibri"/>
            </a:endParaRPr>
          </a:p>
        </p:txBody>
      </p:sp>
      <p:cxnSp>
        <p:nvCxnSpPr>
          <p:cNvPr id="30" name="Straight Connector 2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7707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EB4D99-94EB-E627-6532-310F1074C285}"/>
              </a:ext>
            </a:extLst>
          </p:cNvPr>
          <p:cNvSpPr>
            <a:spLocks noGrp="1"/>
          </p:cNvSpPr>
          <p:nvPr>
            <p:ph type="title"/>
          </p:nvPr>
        </p:nvSpPr>
        <p:spPr>
          <a:xfrm>
            <a:off x="6338402" y="547099"/>
            <a:ext cx="5204416" cy="2023494"/>
          </a:xfrm>
        </p:spPr>
        <p:txBody>
          <a:bodyPr anchor="b">
            <a:normAutofit/>
          </a:bodyPr>
          <a:lstStyle/>
          <a:p>
            <a:r>
              <a:rPr lang="en-US" sz="3200" err="1">
                <a:highlight>
                  <a:srgbClr val="FFFFFF"/>
                </a:highlight>
              </a:rPr>
              <a:t>Hệ</a:t>
            </a:r>
            <a:r>
              <a:rPr lang="en-US" sz="3200" dirty="0">
                <a:highlight>
                  <a:srgbClr val="FFFFFF"/>
                </a:highlight>
              </a:rPr>
              <a:t> </a:t>
            </a:r>
            <a:r>
              <a:rPr lang="en-US" sz="3200" err="1">
                <a:highlight>
                  <a:srgbClr val="FFFFFF"/>
                </a:highlight>
              </a:rPr>
              <a:t>thống</a:t>
            </a:r>
            <a:r>
              <a:rPr lang="en-US" sz="3200" dirty="0">
                <a:highlight>
                  <a:srgbClr val="FFFFFF"/>
                </a:highlight>
              </a:rPr>
              <a:t> </a:t>
            </a:r>
            <a:r>
              <a:rPr lang="en-US" sz="3200" err="1">
                <a:highlight>
                  <a:srgbClr val="FFFFFF"/>
                </a:highlight>
              </a:rPr>
              <a:t>thông</a:t>
            </a:r>
            <a:r>
              <a:rPr lang="en-US" sz="3200" dirty="0">
                <a:highlight>
                  <a:srgbClr val="FFFFFF"/>
                </a:highlight>
              </a:rPr>
              <a:t> </a:t>
            </a:r>
            <a:r>
              <a:rPr lang="en-US" sz="3200" err="1">
                <a:highlight>
                  <a:srgbClr val="FFFFFF"/>
                </a:highlight>
              </a:rPr>
              <a:t>báo</a:t>
            </a:r>
            <a:r>
              <a:rPr lang="en-US" sz="3200" dirty="0">
                <a:highlight>
                  <a:srgbClr val="FFFFFF"/>
                </a:highlight>
              </a:rPr>
              <a:t> </a:t>
            </a:r>
            <a:r>
              <a:rPr lang="en-US" sz="3200" err="1">
                <a:highlight>
                  <a:srgbClr val="FFFFFF"/>
                </a:highlight>
              </a:rPr>
              <a:t>chủ</a:t>
            </a:r>
            <a:r>
              <a:rPr lang="en-US" sz="3200" dirty="0">
                <a:highlight>
                  <a:srgbClr val="FFFFFF"/>
                </a:highlight>
              </a:rPr>
              <a:t> </a:t>
            </a:r>
            <a:r>
              <a:rPr lang="en-US" sz="3200" err="1">
                <a:highlight>
                  <a:srgbClr val="FFFFFF"/>
                </a:highlight>
              </a:rPr>
              <a:t>động</a:t>
            </a:r>
            <a:r>
              <a:rPr lang="en-US" sz="3200" dirty="0">
                <a:highlight>
                  <a:srgbClr val="FFFFFF"/>
                </a:highlight>
              </a:rPr>
              <a:t> </a:t>
            </a:r>
            <a:endParaRPr lang="en-US" sz="3200" dirty="0"/>
          </a:p>
          <a:p>
            <a:endParaRPr lang="en-US" sz="5200"/>
          </a:p>
        </p:txBody>
      </p:sp>
      <p:sp>
        <p:nvSpPr>
          <p:cNvPr id="11" name="Oval 10">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Hơn 312.600 Thông Báo ảnh, hình chụp &amp; hình ảnh trả phí bản quyền một lần  sẵn có - iStock">
            <a:extLst>
              <a:ext uri="{FF2B5EF4-FFF2-40B4-BE49-F238E27FC236}">
                <a16:creationId xmlns:a16="http://schemas.microsoft.com/office/drawing/2014/main" id="{9F38B81D-3C14-4F13-EEF1-0D55F4379A8F}"/>
              </a:ext>
            </a:extLst>
          </p:cNvPr>
          <p:cNvPicPr>
            <a:picLocks noChangeAspect="1"/>
          </p:cNvPicPr>
          <p:nvPr/>
        </p:nvPicPr>
        <p:blipFill>
          <a:blip r:embed="rId2"/>
          <a:srcRect r="-3" b="-3"/>
          <a:stretch>
            <a:fillRect/>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13"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15"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5F939389-262D-1A47-F1E0-CD8231EB1AEF}"/>
              </a:ext>
            </a:extLst>
          </p:cNvPr>
          <p:cNvSpPr>
            <a:spLocks noGrp="1"/>
          </p:cNvSpPr>
          <p:nvPr>
            <p:ph idx="1"/>
          </p:nvPr>
        </p:nvSpPr>
        <p:spPr>
          <a:xfrm>
            <a:off x="6476287" y="2569904"/>
            <a:ext cx="4935901" cy="2913872"/>
          </a:xfrm>
        </p:spPr>
        <p:txBody>
          <a:bodyPr vert="horz" lIns="91440" tIns="45720" rIns="91440" bIns="45720" rtlCol="0" anchor="t">
            <a:noAutofit/>
          </a:bodyPr>
          <a:lstStyle/>
          <a:p>
            <a:r>
              <a:rPr lang="en-US" sz="2000" dirty="0" err="1">
                <a:solidFill>
                  <a:schemeClr val="tx1">
                    <a:alpha val="80000"/>
                  </a:schemeClr>
                </a:solidFill>
                <a:highlight>
                  <a:srgbClr val="FFFFFF"/>
                </a:highlight>
                <a:ea typeface="+mn-lt"/>
                <a:cs typeface="+mn-lt"/>
              </a:rPr>
              <a:t>Khắc</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phục</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nhược</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điểm</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sinh</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viên</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lười</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vào</a:t>
            </a:r>
            <a:r>
              <a:rPr lang="en-US" sz="2000" dirty="0">
                <a:solidFill>
                  <a:schemeClr val="tx1">
                    <a:alpha val="80000"/>
                  </a:schemeClr>
                </a:solidFill>
                <a:highlight>
                  <a:srgbClr val="FFFFFF"/>
                </a:highlight>
                <a:ea typeface="+mn-lt"/>
                <a:cs typeface="+mn-lt"/>
              </a:rPr>
              <a:t> Moodle </a:t>
            </a:r>
            <a:r>
              <a:rPr lang="en-US" sz="2000" dirty="0" err="1">
                <a:solidFill>
                  <a:schemeClr val="tx1">
                    <a:alpha val="80000"/>
                  </a:schemeClr>
                </a:solidFill>
                <a:highlight>
                  <a:srgbClr val="FFFFFF"/>
                </a:highlight>
                <a:ea typeface="+mn-lt"/>
                <a:cs typeface="+mn-lt"/>
              </a:rPr>
              <a:t>kiểm</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tra</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bằng</a:t>
            </a:r>
            <a:r>
              <a:rPr lang="en-US" sz="2000" dirty="0">
                <a:solidFill>
                  <a:schemeClr val="tx1">
                    <a:alpha val="80000"/>
                  </a:schemeClr>
                </a:solidFill>
                <a:highlight>
                  <a:srgbClr val="FFFFFF"/>
                </a:highlight>
                <a:ea typeface="+mn-lt"/>
                <a:cs typeface="+mn-lt"/>
              </a:rPr>
              <a:t> 3 </a:t>
            </a:r>
            <a:r>
              <a:rPr lang="en-US" sz="2000" dirty="0" err="1">
                <a:solidFill>
                  <a:schemeClr val="tx1">
                    <a:alpha val="80000"/>
                  </a:schemeClr>
                </a:solidFill>
                <a:highlight>
                  <a:srgbClr val="FFFFFF"/>
                </a:highlight>
                <a:ea typeface="+mn-lt"/>
                <a:cs typeface="+mn-lt"/>
              </a:rPr>
              <a:t>cơ</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chế</a:t>
            </a:r>
            <a:r>
              <a:rPr lang="en-US" sz="2000" dirty="0">
                <a:solidFill>
                  <a:schemeClr val="tx1">
                    <a:alpha val="80000"/>
                  </a:schemeClr>
                </a:solidFill>
                <a:highlight>
                  <a:srgbClr val="FFFFFF"/>
                </a:highlight>
                <a:ea typeface="+mn-lt"/>
                <a:cs typeface="+mn-lt"/>
              </a:rPr>
              <a:t>:</a:t>
            </a:r>
            <a:endParaRPr lang="en-US" sz="2000" dirty="0">
              <a:solidFill>
                <a:schemeClr val="tx1">
                  <a:alpha val="80000"/>
                </a:schemeClr>
              </a:solidFill>
            </a:endParaRPr>
          </a:p>
          <a:p>
            <a:r>
              <a:rPr lang="en-US" sz="2000" b="1" dirty="0" err="1">
                <a:solidFill>
                  <a:schemeClr val="tx1">
                    <a:alpha val="80000"/>
                  </a:schemeClr>
                </a:solidFill>
                <a:highlight>
                  <a:srgbClr val="FFFFFF"/>
                </a:highlight>
                <a:ea typeface="+mn-lt"/>
                <a:cs typeface="+mn-lt"/>
              </a:rPr>
              <a:t>Tức</a:t>
            </a:r>
            <a:r>
              <a:rPr lang="en-US" sz="2000" b="1" dirty="0">
                <a:solidFill>
                  <a:schemeClr val="tx1">
                    <a:alpha val="80000"/>
                  </a:schemeClr>
                </a:solidFill>
                <a:highlight>
                  <a:srgbClr val="FFFFFF"/>
                </a:highlight>
                <a:ea typeface="+mn-lt"/>
                <a:cs typeface="+mn-lt"/>
              </a:rPr>
              <a:t> </a:t>
            </a:r>
            <a:r>
              <a:rPr lang="en-US" sz="2000" b="1" dirty="0" err="1">
                <a:solidFill>
                  <a:schemeClr val="tx1">
                    <a:alpha val="80000"/>
                  </a:schemeClr>
                </a:solidFill>
                <a:highlight>
                  <a:srgbClr val="FFFFFF"/>
                </a:highlight>
                <a:ea typeface="+mn-lt"/>
                <a:cs typeface="+mn-lt"/>
              </a:rPr>
              <a:t>thì</a:t>
            </a:r>
            <a:r>
              <a:rPr lang="en-US" sz="2000" b="1" dirty="0">
                <a:solidFill>
                  <a:schemeClr val="tx1">
                    <a:alpha val="80000"/>
                  </a:schemeClr>
                </a:solidFill>
                <a:highlight>
                  <a:srgbClr val="FFFFFF"/>
                </a:highlight>
                <a:ea typeface="+mn-lt"/>
                <a:cs typeface="+mn-lt"/>
              </a:rPr>
              <a:t> (Event Observer):</a:t>
            </a:r>
            <a:r>
              <a:rPr lang="en-US" sz="2000" dirty="0">
                <a:solidFill>
                  <a:schemeClr val="tx1">
                    <a:alpha val="80000"/>
                  </a:schemeClr>
                </a:solidFill>
                <a:highlight>
                  <a:srgbClr val="FFFFFF"/>
                </a:highlight>
                <a:ea typeface="+mn-lt"/>
                <a:cs typeface="+mn-lt"/>
              </a:rPr>
              <a:t> Báo </a:t>
            </a:r>
            <a:r>
              <a:rPr lang="en-US" sz="2000" dirty="0" err="1">
                <a:solidFill>
                  <a:schemeClr val="tx1">
                    <a:alpha val="80000"/>
                  </a:schemeClr>
                </a:solidFill>
                <a:highlight>
                  <a:srgbClr val="FFFFFF"/>
                </a:highlight>
                <a:ea typeface="+mn-lt"/>
                <a:cs typeface="+mn-lt"/>
              </a:rPr>
              <a:t>ngay</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khi</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có</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hoạt</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động</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mới</a:t>
            </a:r>
            <a:r>
              <a:rPr lang="en-US" sz="2000" dirty="0">
                <a:solidFill>
                  <a:schemeClr val="tx1">
                    <a:alpha val="80000"/>
                  </a:schemeClr>
                </a:solidFill>
                <a:highlight>
                  <a:srgbClr val="FFFFFF"/>
                </a:highlight>
                <a:ea typeface="+mn-lt"/>
                <a:cs typeface="+mn-lt"/>
              </a:rPr>
              <a:t> (Bài </a:t>
            </a:r>
            <a:r>
              <a:rPr lang="en-US" sz="2000" dirty="0" err="1">
                <a:solidFill>
                  <a:schemeClr val="tx1">
                    <a:alpha val="80000"/>
                  </a:schemeClr>
                </a:solidFill>
                <a:highlight>
                  <a:srgbClr val="FFFFFF"/>
                </a:highlight>
                <a:ea typeface="+mn-lt"/>
                <a:cs typeface="+mn-lt"/>
              </a:rPr>
              <a:t>tập</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phân</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công</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lớp</a:t>
            </a:r>
            <a:r>
              <a:rPr lang="en-US" sz="2000" dirty="0">
                <a:solidFill>
                  <a:schemeClr val="tx1">
                    <a:alpha val="80000"/>
                  </a:schemeClr>
                </a:solidFill>
                <a:highlight>
                  <a:srgbClr val="FFFFFF"/>
                </a:highlight>
                <a:ea typeface="+mn-lt"/>
                <a:cs typeface="+mn-lt"/>
              </a:rPr>
              <a:t>).</a:t>
            </a:r>
            <a:endParaRPr lang="en-US" sz="2000" dirty="0">
              <a:solidFill>
                <a:schemeClr val="tx1">
                  <a:alpha val="80000"/>
                </a:schemeClr>
              </a:solidFill>
            </a:endParaRPr>
          </a:p>
          <a:p>
            <a:r>
              <a:rPr lang="en-US" sz="2000" b="1" dirty="0">
                <a:solidFill>
                  <a:schemeClr val="tx1">
                    <a:alpha val="80000"/>
                  </a:schemeClr>
                </a:solidFill>
                <a:highlight>
                  <a:srgbClr val="FFFFFF"/>
                </a:highlight>
                <a:ea typeface="+mn-lt"/>
                <a:cs typeface="+mn-lt"/>
              </a:rPr>
              <a:t>Định </a:t>
            </a:r>
            <a:r>
              <a:rPr lang="en-US" sz="2000" b="1" dirty="0" err="1">
                <a:solidFill>
                  <a:schemeClr val="tx1">
                    <a:alpha val="80000"/>
                  </a:schemeClr>
                </a:solidFill>
                <a:highlight>
                  <a:srgbClr val="FFFFFF"/>
                </a:highlight>
                <a:ea typeface="+mn-lt"/>
                <a:cs typeface="+mn-lt"/>
              </a:rPr>
              <a:t>kỳ</a:t>
            </a:r>
            <a:r>
              <a:rPr lang="en-US" sz="2000" b="1" dirty="0">
                <a:solidFill>
                  <a:schemeClr val="tx1">
                    <a:alpha val="80000"/>
                  </a:schemeClr>
                </a:solidFill>
                <a:highlight>
                  <a:srgbClr val="FFFFFF"/>
                </a:highlight>
                <a:ea typeface="+mn-lt"/>
                <a:cs typeface="+mn-lt"/>
              </a:rPr>
              <a:t> (Scheduled Task):</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Nhắc</a:t>
            </a:r>
            <a:r>
              <a:rPr lang="en-US" sz="2000" dirty="0">
                <a:solidFill>
                  <a:schemeClr val="tx1">
                    <a:alpha val="80000"/>
                  </a:schemeClr>
                </a:solidFill>
                <a:highlight>
                  <a:srgbClr val="FFFFFF"/>
                </a:highlight>
                <a:ea typeface="+mn-lt"/>
                <a:cs typeface="+mn-lt"/>
              </a:rPr>
              <a:t> deadline </a:t>
            </a:r>
            <a:r>
              <a:rPr lang="en-US" sz="2000" dirty="0" err="1">
                <a:solidFill>
                  <a:schemeClr val="tx1">
                    <a:alpha val="80000"/>
                  </a:schemeClr>
                </a:solidFill>
                <a:highlight>
                  <a:srgbClr val="FFFFFF"/>
                </a:highlight>
                <a:ea typeface="+mn-lt"/>
                <a:cs typeface="+mn-lt"/>
              </a:rPr>
              <a:t>hằng</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ngày</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nhắc</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bài</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trễ</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hạn</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mỗi</a:t>
            </a:r>
            <a:r>
              <a:rPr lang="en-US" sz="2000" dirty="0">
                <a:solidFill>
                  <a:schemeClr val="tx1">
                    <a:alpha val="80000"/>
                  </a:schemeClr>
                </a:solidFill>
                <a:highlight>
                  <a:srgbClr val="FFFFFF"/>
                </a:highlight>
                <a:ea typeface="+mn-lt"/>
                <a:cs typeface="+mn-lt"/>
              </a:rPr>
              <a:t> 5 </a:t>
            </a:r>
            <a:r>
              <a:rPr lang="en-US" sz="2000" dirty="0" err="1">
                <a:solidFill>
                  <a:schemeClr val="tx1">
                    <a:alpha val="80000"/>
                  </a:schemeClr>
                </a:solidFill>
                <a:highlight>
                  <a:srgbClr val="FFFFFF"/>
                </a:highlight>
                <a:ea typeface="+mn-lt"/>
                <a:cs typeface="+mn-lt"/>
              </a:rPr>
              <a:t>phút</a:t>
            </a:r>
            <a:r>
              <a:rPr lang="en-US" sz="2000" dirty="0">
                <a:solidFill>
                  <a:schemeClr val="tx1">
                    <a:alpha val="80000"/>
                  </a:schemeClr>
                </a:solidFill>
                <a:highlight>
                  <a:srgbClr val="FFFFFF"/>
                </a:highlight>
                <a:ea typeface="+mn-lt"/>
                <a:cs typeface="+mn-lt"/>
              </a:rPr>
              <a:t>.</a:t>
            </a:r>
            <a:endParaRPr lang="en-US" sz="2000" dirty="0">
              <a:solidFill>
                <a:schemeClr val="tx1">
                  <a:alpha val="80000"/>
                </a:schemeClr>
              </a:solidFill>
            </a:endParaRPr>
          </a:p>
          <a:p>
            <a:r>
              <a:rPr lang="en-US" sz="2000" b="1" dirty="0" err="1">
                <a:solidFill>
                  <a:schemeClr val="tx1">
                    <a:alpha val="80000"/>
                  </a:schemeClr>
                </a:solidFill>
                <a:highlight>
                  <a:srgbClr val="FFFFFF"/>
                </a:highlight>
                <a:ea typeface="+mn-lt"/>
                <a:cs typeface="+mn-lt"/>
              </a:rPr>
              <a:t>Trễ</a:t>
            </a:r>
            <a:r>
              <a:rPr lang="en-US" sz="2000" b="1" dirty="0">
                <a:solidFill>
                  <a:schemeClr val="tx1">
                    <a:alpha val="80000"/>
                  </a:schemeClr>
                </a:solidFill>
                <a:highlight>
                  <a:srgbClr val="FFFFFF"/>
                </a:highlight>
                <a:ea typeface="+mn-lt"/>
                <a:cs typeface="+mn-lt"/>
              </a:rPr>
              <a:t> </a:t>
            </a:r>
            <a:r>
              <a:rPr lang="en-US" sz="2000" b="1" dirty="0" err="1">
                <a:solidFill>
                  <a:schemeClr val="tx1">
                    <a:alpha val="80000"/>
                  </a:schemeClr>
                </a:solidFill>
                <a:highlight>
                  <a:srgbClr val="FFFFFF"/>
                </a:highlight>
                <a:ea typeface="+mn-lt"/>
                <a:cs typeface="+mn-lt"/>
              </a:rPr>
              <a:t>hẹn</a:t>
            </a:r>
            <a:r>
              <a:rPr lang="en-US" sz="2000" b="1" dirty="0">
                <a:solidFill>
                  <a:schemeClr val="tx1">
                    <a:alpha val="80000"/>
                  </a:schemeClr>
                </a:solidFill>
                <a:highlight>
                  <a:srgbClr val="FFFFFF"/>
                </a:highlight>
                <a:ea typeface="+mn-lt"/>
                <a:cs typeface="+mn-lt"/>
              </a:rPr>
              <a:t> (</a:t>
            </a:r>
            <a:r>
              <a:rPr lang="en-US" sz="2000" b="1" dirty="0" err="1">
                <a:solidFill>
                  <a:schemeClr val="tx1">
                    <a:alpha val="80000"/>
                  </a:schemeClr>
                </a:solidFill>
                <a:highlight>
                  <a:srgbClr val="FFFFFF"/>
                </a:highlight>
                <a:ea typeface="+mn-lt"/>
                <a:cs typeface="+mn-lt"/>
              </a:rPr>
              <a:t>Adhoc</a:t>
            </a:r>
            <a:r>
              <a:rPr lang="en-US" sz="2000" b="1" dirty="0">
                <a:solidFill>
                  <a:schemeClr val="tx1">
                    <a:alpha val="80000"/>
                  </a:schemeClr>
                </a:solidFill>
                <a:highlight>
                  <a:srgbClr val="FFFFFF"/>
                </a:highlight>
                <a:ea typeface="+mn-lt"/>
                <a:cs typeface="+mn-lt"/>
              </a:rPr>
              <a:t> Task):</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Đặt</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lịch</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nhắc</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nhở</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giảng</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viên</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sau</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khi</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được</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phân</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công</a:t>
            </a:r>
            <a:r>
              <a:rPr lang="en-US" sz="2000" dirty="0">
                <a:solidFill>
                  <a:schemeClr val="tx1">
                    <a:alpha val="80000"/>
                  </a:schemeClr>
                </a:solidFill>
                <a:highlight>
                  <a:srgbClr val="FFFFFF"/>
                </a:highlight>
                <a:ea typeface="+mn-lt"/>
                <a:cs typeface="+mn-lt"/>
              </a:rPr>
              <a:t> </a:t>
            </a:r>
            <a:r>
              <a:rPr lang="en-US" sz="2000" dirty="0" err="1">
                <a:solidFill>
                  <a:schemeClr val="tx1">
                    <a:alpha val="80000"/>
                  </a:schemeClr>
                </a:solidFill>
                <a:highlight>
                  <a:srgbClr val="FFFFFF"/>
                </a:highlight>
                <a:ea typeface="+mn-lt"/>
                <a:cs typeface="+mn-lt"/>
              </a:rPr>
              <a:t>lớp</a:t>
            </a:r>
            <a:endParaRPr lang="en-US" sz="2000" dirty="0" err="1">
              <a:solidFill>
                <a:schemeClr val="tx1">
                  <a:alpha val="80000"/>
                </a:schemeClr>
              </a:solidFill>
            </a:endParaRPr>
          </a:p>
        </p:txBody>
      </p:sp>
      <p:sp>
        <p:nvSpPr>
          <p:cNvPr id="17"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p>
        </p:txBody>
      </p:sp>
      <p:cxnSp>
        <p:nvCxnSpPr>
          <p:cNvPr id="19"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3036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Báo cáo kết quả kinh doanh là gì? Hướng dẫn đọc và phân tích">
            <a:extLst>
              <a:ext uri="{FF2B5EF4-FFF2-40B4-BE49-F238E27FC236}">
                <a16:creationId xmlns:a16="http://schemas.microsoft.com/office/drawing/2014/main" id="{6DC4C29A-2216-37D6-E183-A4A44AB0B545}"/>
              </a:ext>
            </a:extLst>
          </p:cNvPr>
          <p:cNvPicPr>
            <a:picLocks noChangeAspect="1"/>
          </p:cNvPicPr>
          <p:nvPr/>
        </p:nvPicPr>
        <p:blipFill>
          <a:blip r:embed="rId2"/>
          <a:srcRect l="13573" r="7468"/>
          <a:stretch>
            <a:fillRect/>
          </a:stretch>
        </p:blipFill>
        <p:spPr>
          <a:xfrm>
            <a:off x="2522356" y="10"/>
            <a:ext cx="9669642" cy="6857990"/>
          </a:xfrm>
          <a:prstGeom prst="rect">
            <a:avLst/>
          </a:prstGeom>
        </p:spPr>
      </p:pic>
      <p:sp>
        <p:nvSpPr>
          <p:cNvPr id="11" name="Rectangle 1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42EE88C-8F62-D42C-1476-67EDBFB80C30}"/>
              </a:ext>
            </a:extLst>
          </p:cNvPr>
          <p:cNvSpPr>
            <a:spLocks noGrp="1"/>
          </p:cNvSpPr>
          <p:nvPr>
            <p:ph type="title"/>
          </p:nvPr>
        </p:nvSpPr>
        <p:spPr>
          <a:xfrm>
            <a:off x="410029" y="365125"/>
            <a:ext cx="4250360" cy="1914426"/>
          </a:xfrm>
        </p:spPr>
        <p:txBody>
          <a:bodyPr>
            <a:normAutofit fontScale="90000"/>
          </a:bodyPr>
          <a:lstStyle/>
          <a:p>
            <a:r>
              <a:rPr lang="en-US" sz="3200" dirty="0">
                <a:highlight>
                  <a:srgbClr val="FFFFFF"/>
                </a:highlight>
              </a:rPr>
              <a:t>5. </a:t>
            </a:r>
            <a:r>
              <a:rPr lang="en-US" sz="3200" dirty="0" err="1">
                <a:highlight>
                  <a:srgbClr val="FFFFFF"/>
                </a:highlight>
              </a:rPr>
              <a:t>Kết</a:t>
            </a:r>
            <a:r>
              <a:rPr lang="en-US" sz="3200" dirty="0">
                <a:highlight>
                  <a:srgbClr val="FFFFFF"/>
                </a:highlight>
              </a:rPr>
              <a:t> </a:t>
            </a:r>
            <a:r>
              <a:rPr lang="en-US" sz="3200" dirty="0" err="1">
                <a:highlight>
                  <a:srgbClr val="FFFFFF"/>
                </a:highlight>
              </a:rPr>
              <a:t>quả</a:t>
            </a:r>
            <a:r>
              <a:rPr lang="en-US" sz="3200" dirty="0">
                <a:highlight>
                  <a:srgbClr val="FFFFFF"/>
                </a:highlight>
              </a:rPr>
              <a:t> </a:t>
            </a:r>
            <a:r>
              <a:rPr lang="en-US" sz="3200" dirty="0" err="1">
                <a:highlight>
                  <a:srgbClr val="FFFFFF"/>
                </a:highlight>
              </a:rPr>
              <a:t>thực</a:t>
            </a:r>
            <a:r>
              <a:rPr lang="en-US" sz="3200" dirty="0">
                <a:highlight>
                  <a:srgbClr val="FFFFFF"/>
                </a:highlight>
              </a:rPr>
              <a:t> </a:t>
            </a:r>
            <a:r>
              <a:rPr lang="en-US" sz="3200" dirty="0" err="1">
                <a:highlight>
                  <a:srgbClr val="FFFFFF"/>
                </a:highlight>
              </a:rPr>
              <a:t>nghiệm</a:t>
            </a:r>
            <a:r>
              <a:rPr lang="en-US" sz="3200" dirty="0">
                <a:highlight>
                  <a:srgbClr val="FFFFFF"/>
                </a:highlight>
              </a:rPr>
              <a:t> - </a:t>
            </a:r>
            <a:r>
              <a:rPr lang="en-US" sz="3200" dirty="0" err="1">
                <a:highlight>
                  <a:srgbClr val="FFFFFF"/>
                </a:highlight>
              </a:rPr>
              <a:t>Hỏi</a:t>
            </a:r>
            <a:r>
              <a:rPr lang="en-US" sz="3200" dirty="0">
                <a:highlight>
                  <a:srgbClr val="FFFFFF"/>
                </a:highlight>
              </a:rPr>
              <a:t> </a:t>
            </a:r>
            <a:r>
              <a:rPr lang="en-US" sz="3200" dirty="0" err="1">
                <a:highlight>
                  <a:srgbClr val="FFFFFF"/>
                </a:highlight>
              </a:rPr>
              <a:t>đáp</a:t>
            </a:r>
            <a:r>
              <a:rPr lang="en-US" sz="3200" dirty="0">
                <a:highlight>
                  <a:srgbClr val="FFFFFF"/>
                </a:highlight>
              </a:rPr>
              <a:t> RAG</a:t>
            </a:r>
            <a:endParaRPr lang="en-US" sz="3200" dirty="0"/>
          </a:p>
          <a:p>
            <a:endParaRPr lang="en-US" sz="2500"/>
          </a:p>
          <a:p>
            <a:br>
              <a:rPr lang="en-US" sz="2500" dirty="0"/>
            </a:br>
            <a:endParaRPr lang="en-US" sz="2500"/>
          </a:p>
        </p:txBody>
      </p:sp>
      <p:sp>
        <p:nvSpPr>
          <p:cNvPr id="3" name="Content Placeholder 2">
            <a:extLst>
              <a:ext uri="{FF2B5EF4-FFF2-40B4-BE49-F238E27FC236}">
                <a16:creationId xmlns:a16="http://schemas.microsoft.com/office/drawing/2014/main" id="{214F0CB7-0065-4508-5A30-B3D50445CAD3}"/>
              </a:ext>
            </a:extLst>
          </p:cNvPr>
          <p:cNvSpPr>
            <a:spLocks noGrp="1"/>
          </p:cNvSpPr>
          <p:nvPr>
            <p:ph idx="1"/>
          </p:nvPr>
        </p:nvSpPr>
        <p:spPr>
          <a:xfrm>
            <a:off x="286658" y="1853630"/>
            <a:ext cx="4504360" cy="3742762"/>
          </a:xfrm>
        </p:spPr>
        <p:txBody>
          <a:bodyPr vert="horz" lIns="91440" tIns="45720" rIns="91440" bIns="45720" rtlCol="0">
            <a:normAutofit/>
          </a:bodyPr>
          <a:lstStyle/>
          <a:p>
            <a:r>
              <a:rPr lang="en-US" sz="2000" b="1">
                <a:highlight>
                  <a:srgbClr val="FFFFFF"/>
                </a:highlight>
                <a:ea typeface="+mn-lt"/>
                <a:cs typeface="+mn-lt"/>
              </a:rPr>
              <a:t>Đạt:</a:t>
            </a:r>
            <a:r>
              <a:rPr lang="en-US" sz="2000">
                <a:highlight>
                  <a:srgbClr val="FFFFFF"/>
                </a:highlight>
                <a:ea typeface="+mn-lt"/>
                <a:cs typeface="+mn-lt"/>
              </a:rPr>
              <a:t> Truy hồi đúng tài liệu, câu trả lời bám sát khóa học, </a:t>
            </a:r>
            <a:r>
              <a:rPr lang="en-US" sz="2000" b="1">
                <a:highlight>
                  <a:srgbClr val="FFFFFF"/>
                </a:highlight>
                <a:ea typeface="+mn-lt"/>
                <a:cs typeface="+mn-lt"/>
              </a:rPr>
              <a:t>có kèm trích dẫn nguồn</a:t>
            </a:r>
            <a:r>
              <a:rPr lang="en-US" sz="2000">
                <a:highlight>
                  <a:srgbClr val="FFFFFF"/>
                </a:highlight>
                <a:ea typeface="+mn-lt"/>
                <a:cs typeface="+mn-lt"/>
              </a:rPr>
              <a:t>.</a:t>
            </a:r>
            <a:endParaRPr lang="en-US" sz="2000"/>
          </a:p>
          <a:p>
            <a:r>
              <a:rPr lang="en-US" sz="2000" b="1">
                <a:highlight>
                  <a:srgbClr val="FFFFFF"/>
                </a:highlight>
                <a:ea typeface="+mn-lt"/>
                <a:cs typeface="+mn-lt"/>
              </a:rPr>
              <a:t>Fail-closed:</a:t>
            </a:r>
            <a:r>
              <a:rPr lang="en-US" sz="2000">
                <a:highlight>
                  <a:srgbClr val="FFFFFF"/>
                </a:highlight>
                <a:ea typeface="+mn-lt"/>
                <a:cs typeface="+mn-lt"/>
              </a:rPr>
              <a:t> Xử lý tốt các câu hỏi ngoài lề (hệ thống từ chối trả lời, không bịa đặt).</a:t>
            </a:r>
            <a:endParaRPr lang="en-US" sz="2000"/>
          </a:p>
          <a:p>
            <a:r>
              <a:rPr lang="en-US" sz="2000" b="1">
                <a:highlight>
                  <a:srgbClr val="FFFFFF"/>
                </a:highlight>
                <a:ea typeface="+mn-lt"/>
                <a:cs typeface="+mn-lt"/>
              </a:rPr>
              <a:t>Bảo mật cấp RAG:</a:t>
            </a:r>
            <a:r>
              <a:rPr lang="en-US" sz="2000">
                <a:highlight>
                  <a:srgbClr val="FFFFFF"/>
                </a:highlight>
                <a:ea typeface="+mn-lt"/>
                <a:cs typeface="+mn-lt"/>
              </a:rPr>
              <a:t> Chỉ truy hồi dữ liệu các khóa học mà sinh viên đó đã ghi danh.</a:t>
            </a:r>
            <a:endParaRPr lang="en-US" sz="2000"/>
          </a:p>
        </p:txBody>
      </p:sp>
    </p:spTree>
    <p:extLst>
      <p:ext uri="{BB962C8B-B14F-4D97-AF65-F5344CB8AC3E}">
        <p14:creationId xmlns:p14="http://schemas.microsoft.com/office/powerpoint/2010/main" val="3197719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E0909A-140B-C448-175B-8F2575D77A24}"/>
              </a:ext>
            </a:extLst>
          </p:cNvPr>
          <p:cNvSpPr>
            <a:spLocks noGrp="1"/>
          </p:cNvSpPr>
          <p:nvPr>
            <p:ph type="title"/>
          </p:nvPr>
        </p:nvSpPr>
        <p:spPr>
          <a:xfrm>
            <a:off x="638881" y="670218"/>
            <a:ext cx="10909640" cy="1065836"/>
          </a:xfrm>
        </p:spPr>
        <p:txBody>
          <a:bodyPr vert="horz" lIns="91440" tIns="45720" rIns="91440" bIns="45720" rtlCol="0" anchor="ctr">
            <a:normAutofit/>
          </a:bodyPr>
          <a:lstStyle/>
          <a:p>
            <a:pPr algn="ctr"/>
            <a:r>
              <a:rPr lang="en-US" sz="4600">
                <a:highlight>
                  <a:srgbClr val="FFFFFF"/>
                </a:highlight>
              </a:rPr>
              <a:t>Kết quả thực nghiệm - Tra cứu dữ liệu Moodle</a:t>
            </a:r>
            <a:endParaRPr lang="en-US" sz="4600"/>
          </a:p>
          <a:p>
            <a:pPr algn="ctr"/>
            <a:endParaRPr lang="en-US" sz="4600"/>
          </a:p>
        </p:txBody>
      </p:sp>
      <p:sp>
        <p:nvSpPr>
          <p:cNvPr id="13"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4D033F9-73A8-8D16-1155-AF55D132957D}"/>
              </a:ext>
            </a:extLst>
          </p:cNvPr>
          <p:cNvPicPr>
            <a:picLocks noChangeAspect="1"/>
          </p:cNvPicPr>
          <p:nvPr/>
        </p:nvPicPr>
        <p:blipFill>
          <a:blip r:embed="rId2"/>
          <a:stretch>
            <a:fillRect/>
          </a:stretch>
        </p:blipFill>
        <p:spPr>
          <a:xfrm>
            <a:off x="292608" y="3005788"/>
            <a:ext cx="3758184" cy="2828033"/>
          </a:xfrm>
          <a:prstGeom prst="rect">
            <a:avLst/>
          </a:prstGeom>
        </p:spPr>
      </p:pic>
      <p:pic>
        <p:nvPicPr>
          <p:cNvPr id="4" name="Content Placeholder 3">
            <a:extLst>
              <a:ext uri="{FF2B5EF4-FFF2-40B4-BE49-F238E27FC236}">
                <a16:creationId xmlns:a16="http://schemas.microsoft.com/office/drawing/2014/main" id="{713C17C2-8A9F-083A-6562-84B9E900DC40}"/>
              </a:ext>
            </a:extLst>
          </p:cNvPr>
          <p:cNvPicPr>
            <a:picLocks noGrp="1" noChangeAspect="1"/>
          </p:cNvPicPr>
          <p:nvPr>
            <p:ph idx="1"/>
          </p:nvPr>
        </p:nvPicPr>
        <p:blipFill>
          <a:blip r:embed="rId3"/>
          <a:stretch>
            <a:fillRect/>
          </a:stretch>
        </p:blipFill>
        <p:spPr>
          <a:xfrm>
            <a:off x="4216908" y="3015183"/>
            <a:ext cx="3758184" cy="2809242"/>
          </a:xfrm>
          <a:prstGeom prst="rect">
            <a:avLst/>
          </a:prstGeom>
        </p:spPr>
      </p:pic>
      <p:pic>
        <p:nvPicPr>
          <p:cNvPr id="6" name="Picture 5">
            <a:extLst>
              <a:ext uri="{FF2B5EF4-FFF2-40B4-BE49-F238E27FC236}">
                <a16:creationId xmlns:a16="http://schemas.microsoft.com/office/drawing/2014/main" id="{B6C28EE0-D987-96C1-D2CD-673AAF6CBF25}"/>
              </a:ext>
            </a:extLst>
          </p:cNvPr>
          <p:cNvPicPr>
            <a:picLocks noChangeAspect="1"/>
          </p:cNvPicPr>
          <p:nvPr/>
        </p:nvPicPr>
        <p:blipFill>
          <a:blip r:embed="rId4"/>
          <a:stretch>
            <a:fillRect/>
          </a:stretch>
        </p:blipFill>
        <p:spPr>
          <a:xfrm>
            <a:off x="7916237" y="3415820"/>
            <a:ext cx="3983155" cy="1891855"/>
          </a:xfrm>
          <a:prstGeom prst="rect">
            <a:avLst/>
          </a:prstGeom>
        </p:spPr>
      </p:pic>
    </p:spTree>
    <p:extLst>
      <p:ext uri="{BB962C8B-B14F-4D97-AF65-F5344CB8AC3E}">
        <p14:creationId xmlns:p14="http://schemas.microsoft.com/office/powerpoint/2010/main" val="12634683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AE81CF-CFA6-AA24-9A39-F14854CFCCFC}"/>
              </a:ext>
            </a:extLst>
          </p:cNvPr>
          <p:cNvSpPr>
            <a:spLocks noGrp="1"/>
          </p:cNvSpPr>
          <p:nvPr>
            <p:ph type="title"/>
          </p:nvPr>
        </p:nvSpPr>
        <p:spPr>
          <a:xfrm>
            <a:off x="630936" y="1089463"/>
            <a:ext cx="3864428" cy="1719072"/>
          </a:xfrm>
        </p:spPr>
        <p:txBody>
          <a:bodyPr anchor="b">
            <a:normAutofit/>
          </a:bodyPr>
          <a:lstStyle/>
          <a:p>
            <a:r>
              <a:rPr lang="en-US" sz="3200" err="1">
                <a:highlight>
                  <a:srgbClr val="FFFFFF"/>
                </a:highlight>
              </a:rPr>
              <a:t>Kết</a:t>
            </a:r>
            <a:r>
              <a:rPr lang="en-US" sz="3200" dirty="0">
                <a:highlight>
                  <a:srgbClr val="FFFFFF"/>
                </a:highlight>
              </a:rPr>
              <a:t> </a:t>
            </a:r>
            <a:r>
              <a:rPr lang="en-US" sz="3200" err="1">
                <a:highlight>
                  <a:srgbClr val="FFFFFF"/>
                </a:highlight>
              </a:rPr>
              <a:t>quả</a:t>
            </a:r>
            <a:r>
              <a:rPr lang="en-US" sz="3200" dirty="0">
                <a:highlight>
                  <a:srgbClr val="FFFFFF"/>
                </a:highlight>
              </a:rPr>
              <a:t> </a:t>
            </a:r>
            <a:r>
              <a:rPr lang="en-US" sz="3200" err="1">
                <a:highlight>
                  <a:srgbClr val="FFFFFF"/>
                </a:highlight>
              </a:rPr>
              <a:t>thực</a:t>
            </a:r>
            <a:r>
              <a:rPr lang="en-US" sz="3200" dirty="0">
                <a:highlight>
                  <a:srgbClr val="FFFFFF"/>
                </a:highlight>
              </a:rPr>
              <a:t> </a:t>
            </a:r>
            <a:r>
              <a:rPr lang="en-US" sz="3200" err="1">
                <a:highlight>
                  <a:srgbClr val="FFFFFF"/>
                </a:highlight>
              </a:rPr>
              <a:t>nghiệm</a:t>
            </a:r>
            <a:r>
              <a:rPr lang="en-US" sz="3200">
                <a:highlight>
                  <a:srgbClr val="FFFFFF"/>
                </a:highlight>
              </a:rPr>
              <a:t> - </a:t>
            </a:r>
            <a:r>
              <a:rPr lang="en-US" sz="3200" err="1">
                <a:highlight>
                  <a:srgbClr val="FFFFFF"/>
                </a:highlight>
              </a:rPr>
              <a:t>Phân</a:t>
            </a:r>
            <a:r>
              <a:rPr lang="en-US" sz="3200" dirty="0">
                <a:highlight>
                  <a:srgbClr val="FFFFFF"/>
                </a:highlight>
              </a:rPr>
              <a:t> </a:t>
            </a:r>
            <a:r>
              <a:rPr lang="en-US" sz="3200" err="1">
                <a:highlight>
                  <a:srgbClr val="FFFFFF"/>
                </a:highlight>
              </a:rPr>
              <a:t>quyền</a:t>
            </a:r>
            <a:r>
              <a:rPr lang="en-US" sz="3200">
                <a:highlight>
                  <a:srgbClr val="FFFFFF"/>
                </a:highlight>
              </a:rPr>
              <a:t> API</a:t>
            </a:r>
            <a:endParaRPr lang="en-US" sz="3200"/>
          </a:p>
          <a:p>
            <a:endParaRPr lang="en-US" sz="3800"/>
          </a:p>
        </p:txBody>
      </p:sp>
      <p:sp>
        <p:nvSpPr>
          <p:cNvPr id="11"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8D6AA1A-21E1-7E9B-ADEC-D28E98F72038}"/>
              </a:ext>
            </a:extLst>
          </p:cNvPr>
          <p:cNvSpPr>
            <a:spLocks noGrp="1"/>
          </p:cNvSpPr>
          <p:nvPr>
            <p:ph idx="1"/>
          </p:nvPr>
        </p:nvSpPr>
        <p:spPr>
          <a:xfrm>
            <a:off x="630936" y="2807208"/>
            <a:ext cx="3429000" cy="3410712"/>
          </a:xfrm>
        </p:spPr>
        <p:txBody>
          <a:bodyPr vert="horz" lIns="91440" tIns="45720" rIns="91440" bIns="45720" rtlCol="0" anchor="t">
            <a:normAutofit/>
          </a:bodyPr>
          <a:lstStyle/>
          <a:p>
            <a:r>
              <a:rPr lang="en-US" sz="2200">
                <a:highlight>
                  <a:srgbClr val="FFFFFF"/>
                </a:highlight>
                <a:ea typeface="+mn-lt"/>
                <a:cs typeface="+mn-lt"/>
              </a:rPr>
              <a:t>Kiểm thử bằng Postman chứng minh RBAC hoạt động chính xác:</a:t>
            </a:r>
            <a:endParaRPr lang="en-US" sz="2200"/>
          </a:p>
          <a:p>
            <a:pPr lvl="1"/>
            <a:r>
              <a:rPr lang="en-US" sz="2200">
                <a:highlight>
                  <a:srgbClr val="FFFFFF"/>
                </a:highlight>
                <a:ea typeface="+mn-lt"/>
                <a:cs typeface="+mn-lt"/>
              </a:rPr>
              <a:t>Key sinh viên truy cập API giảng viên -&gt; </a:t>
            </a:r>
            <a:r>
              <a:rPr lang="en-US" sz="2200" b="1">
                <a:highlight>
                  <a:srgbClr val="FFFFFF"/>
                </a:highlight>
                <a:ea typeface="+mn-lt"/>
                <a:cs typeface="+mn-lt"/>
              </a:rPr>
              <a:t>Lỗi 403 Forbidden</a:t>
            </a:r>
            <a:r>
              <a:rPr lang="en-US" sz="2200">
                <a:highlight>
                  <a:srgbClr val="FFFFFF"/>
                </a:highlight>
                <a:ea typeface="+mn-lt"/>
                <a:cs typeface="+mn-lt"/>
              </a:rPr>
              <a:t>.</a:t>
            </a:r>
            <a:endParaRPr lang="en-US" sz="2200"/>
          </a:p>
          <a:p>
            <a:pPr lvl="1"/>
            <a:r>
              <a:rPr lang="en-US" sz="2200">
                <a:highlight>
                  <a:srgbClr val="FFFFFF"/>
                </a:highlight>
                <a:ea typeface="+mn-lt"/>
                <a:cs typeface="+mn-lt"/>
              </a:rPr>
              <a:t>Không có Key -&gt; </a:t>
            </a:r>
            <a:r>
              <a:rPr lang="en-US" sz="2200" b="1">
                <a:highlight>
                  <a:srgbClr val="FFFFFF"/>
                </a:highlight>
                <a:ea typeface="+mn-lt"/>
                <a:cs typeface="+mn-lt"/>
              </a:rPr>
              <a:t>Lỗi 401 Unauthorized</a:t>
            </a:r>
            <a:r>
              <a:rPr lang="en-US" sz="2200">
                <a:highlight>
                  <a:srgbClr val="FFFFFF"/>
                </a:highlight>
                <a:ea typeface="+mn-lt"/>
                <a:cs typeface="+mn-lt"/>
              </a:rPr>
              <a:t>.</a:t>
            </a:r>
            <a:endParaRPr lang="en-US" sz="2200"/>
          </a:p>
          <a:p>
            <a:pPr lvl="1"/>
            <a:r>
              <a:rPr lang="en-US" sz="2200">
                <a:highlight>
                  <a:srgbClr val="FFFFFF"/>
                </a:highlight>
                <a:ea typeface="+mn-lt"/>
                <a:cs typeface="+mn-lt"/>
              </a:rPr>
              <a:t>Key hợp lệ -&gt; </a:t>
            </a:r>
            <a:r>
              <a:rPr lang="en-US" sz="2200" b="1">
                <a:highlight>
                  <a:srgbClr val="FFFFFF"/>
                </a:highlight>
                <a:ea typeface="+mn-lt"/>
                <a:cs typeface="+mn-lt"/>
              </a:rPr>
              <a:t>200 OK</a:t>
            </a:r>
            <a:r>
              <a:rPr lang="en-US" sz="2200">
                <a:highlight>
                  <a:srgbClr val="FFFFFF"/>
                </a:highlight>
                <a:ea typeface="+mn-lt"/>
                <a:cs typeface="+mn-lt"/>
              </a:rPr>
              <a:t> (trả về JSON).</a:t>
            </a:r>
            <a:endParaRPr lang="en-US" sz="2200"/>
          </a:p>
          <a:p>
            <a:endParaRPr lang="en-US" sz="2200"/>
          </a:p>
        </p:txBody>
      </p:sp>
      <p:pic>
        <p:nvPicPr>
          <p:cNvPr id="4" name="Picture 3">
            <a:extLst>
              <a:ext uri="{FF2B5EF4-FFF2-40B4-BE49-F238E27FC236}">
                <a16:creationId xmlns:a16="http://schemas.microsoft.com/office/drawing/2014/main" id="{12CB3D51-E58A-01E2-9BF4-AB02BF34A792}"/>
              </a:ext>
            </a:extLst>
          </p:cNvPr>
          <p:cNvPicPr>
            <a:picLocks noChangeAspect="1"/>
          </p:cNvPicPr>
          <p:nvPr/>
        </p:nvPicPr>
        <p:blipFill>
          <a:blip r:embed="rId2"/>
          <a:stretch>
            <a:fillRect/>
          </a:stretch>
        </p:blipFill>
        <p:spPr>
          <a:xfrm>
            <a:off x="4051954" y="1951391"/>
            <a:ext cx="8101147" cy="4457445"/>
          </a:xfrm>
          <a:prstGeom prst="rect">
            <a:avLst/>
          </a:prstGeom>
        </p:spPr>
      </p:pic>
    </p:spTree>
    <p:extLst>
      <p:ext uri="{BB962C8B-B14F-4D97-AF65-F5344CB8AC3E}">
        <p14:creationId xmlns:p14="http://schemas.microsoft.com/office/powerpoint/2010/main" val="1651608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84C260-44D1-D098-D1FC-27E3873711BE}"/>
              </a:ext>
            </a:extLst>
          </p:cNvPr>
          <p:cNvSpPr>
            <a:spLocks noGrp="1"/>
          </p:cNvSpPr>
          <p:nvPr>
            <p:ph type="title"/>
          </p:nvPr>
        </p:nvSpPr>
        <p:spPr>
          <a:xfrm>
            <a:off x="531223" y="1486512"/>
            <a:ext cx="4368602" cy="1528670"/>
          </a:xfrm>
        </p:spPr>
        <p:txBody>
          <a:bodyPr anchor="b">
            <a:normAutofit/>
          </a:bodyPr>
          <a:lstStyle/>
          <a:p>
            <a:r>
              <a:rPr lang="en-US" sz="3200">
                <a:highlight>
                  <a:srgbClr val="FFFFFF"/>
                </a:highlight>
              </a:rPr>
              <a:t>6. </a:t>
            </a:r>
            <a:r>
              <a:rPr lang="en-US" sz="3200" err="1">
                <a:highlight>
                  <a:srgbClr val="FFFFFF"/>
                </a:highlight>
              </a:rPr>
              <a:t>Đánh</a:t>
            </a:r>
            <a:r>
              <a:rPr lang="en-US" sz="3200" dirty="0">
                <a:highlight>
                  <a:srgbClr val="FFFFFF"/>
                </a:highlight>
              </a:rPr>
              <a:t> </a:t>
            </a:r>
            <a:r>
              <a:rPr lang="en-US" sz="3200" err="1">
                <a:highlight>
                  <a:srgbClr val="FFFFFF"/>
                </a:highlight>
              </a:rPr>
              <a:t>giá</a:t>
            </a:r>
            <a:r>
              <a:rPr lang="en-US" sz="3200" dirty="0">
                <a:highlight>
                  <a:srgbClr val="FFFFFF"/>
                </a:highlight>
              </a:rPr>
              <a:t> </a:t>
            </a:r>
            <a:r>
              <a:rPr lang="en-US" sz="3200" err="1">
                <a:highlight>
                  <a:srgbClr val="FFFFFF"/>
                </a:highlight>
              </a:rPr>
              <a:t>và</a:t>
            </a:r>
            <a:r>
              <a:rPr lang="en-US" sz="3200" dirty="0">
                <a:highlight>
                  <a:srgbClr val="FFFFFF"/>
                </a:highlight>
              </a:rPr>
              <a:t> </a:t>
            </a:r>
            <a:r>
              <a:rPr lang="en-US" sz="3200" err="1">
                <a:highlight>
                  <a:srgbClr val="FFFFFF"/>
                </a:highlight>
              </a:rPr>
              <a:t>Hạn</a:t>
            </a:r>
            <a:r>
              <a:rPr lang="en-US" sz="3200" dirty="0">
                <a:highlight>
                  <a:srgbClr val="FFFFFF"/>
                </a:highlight>
              </a:rPr>
              <a:t> </a:t>
            </a:r>
            <a:r>
              <a:rPr lang="en-US" sz="3200" err="1">
                <a:highlight>
                  <a:srgbClr val="FFFFFF"/>
                </a:highlight>
              </a:rPr>
              <a:t>chế</a:t>
            </a:r>
            <a:endParaRPr lang="en-US" sz="3200" err="1"/>
          </a:p>
          <a:p>
            <a:endParaRPr lang="en-US" sz="5400"/>
          </a:p>
        </p:txBody>
      </p:sp>
      <p:sp>
        <p:nvSpPr>
          <p:cNvPr id="1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F6D02D88-0EF9-971E-8395-89FB1F92E047}"/>
              </a:ext>
            </a:extLst>
          </p:cNvPr>
          <p:cNvSpPr>
            <a:spLocks noGrp="1"/>
          </p:cNvSpPr>
          <p:nvPr>
            <p:ph idx="1"/>
          </p:nvPr>
        </p:nvSpPr>
        <p:spPr>
          <a:xfrm>
            <a:off x="161109" y="2872899"/>
            <a:ext cx="5107188" cy="3320668"/>
          </a:xfrm>
        </p:spPr>
        <p:txBody>
          <a:bodyPr vert="horz" lIns="91440" tIns="45720" rIns="91440" bIns="45720" rtlCol="0" anchor="t">
            <a:noAutofit/>
          </a:bodyPr>
          <a:lstStyle/>
          <a:p>
            <a:r>
              <a:rPr lang="en-US" sz="1800" b="1" dirty="0">
                <a:solidFill>
                  <a:srgbClr val="1B1B1E"/>
                </a:solidFill>
                <a:highlight>
                  <a:srgbClr val="FFFFFF"/>
                </a:highlight>
                <a:ea typeface="+mn-lt"/>
                <a:cs typeface="+mn-lt"/>
              </a:rPr>
              <a:t>Đạt </a:t>
            </a:r>
            <a:r>
              <a:rPr lang="en-US" sz="1800" b="1" dirty="0" err="1">
                <a:solidFill>
                  <a:srgbClr val="1B1B1E"/>
                </a:solidFill>
                <a:highlight>
                  <a:srgbClr val="FFFFFF"/>
                </a:highlight>
                <a:ea typeface="+mn-lt"/>
                <a:cs typeface="+mn-lt"/>
              </a:rPr>
              <a:t>được</a:t>
            </a:r>
            <a:r>
              <a:rPr lang="en-US" sz="1800" b="1" dirty="0">
                <a:solidFill>
                  <a:srgbClr val="1B1B1E"/>
                </a:solidFill>
                <a:highlight>
                  <a:srgbClr val="FFFFFF"/>
                </a:highlight>
                <a:ea typeface="+mn-lt"/>
                <a:cs typeface="+mn-lt"/>
              </a:rPr>
              <a:t>:</a:t>
            </a:r>
            <a:endParaRPr lang="en-US" sz="1800"/>
          </a:p>
          <a:p>
            <a:pPr lvl="1"/>
            <a:r>
              <a:rPr lang="en-US" sz="1800" dirty="0" err="1">
                <a:solidFill>
                  <a:srgbClr val="1B1B1E"/>
                </a:solidFill>
                <a:highlight>
                  <a:srgbClr val="FFFFFF"/>
                </a:highlight>
                <a:ea typeface="+mn-lt"/>
                <a:cs typeface="+mn-lt"/>
              </a:rPr>
              <a:t>Hệ</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thống</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hoạt</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động</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đúng</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mục</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tiêu</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trả</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lời</a:t>
            </a:r>
            <a:r>
              <a:rPr lang="en-US" sz="1800" dirty="0">
                <a:solidFill>
                  <a:srgbClr val="1B1B1E"/>
                </a:solidFill>
                <a:highlight>
                  <a:srgbClr val="FFFFFF"/>
                </a:highlight>
                <a:ea typeface="+mn-lt"/>
                <a:cs typeface="+mn-lt"/>
              </a:rPr>
              <a:t> RAG </a:t>
            </a:r>
            <a:r>
              <a:rPr lang="en-US" sz="1800" dirty="0" err="1">
                <a:solidFill>
                  <a:srgbClr val="1B1B1E"/>
                </a:solidFill>
                <a:highlight>
                  <a:srgbClr val="FFFFFF"/>
                </a:highlight>
                <a:ea typeface="+mn-lt"/>
                <a:cs typeface="+mn-lt"/>
              </a:rPr>
              <a:t>chính</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xác</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hạn</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chế</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ảo</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giác</a:t>
            </a:r>
            <a:r>
              <a:rPr lang="en-US" sz="1800" dirty="0">
                <a:solidFill>
                  <a:srgbClr val="1B1B1E"/>
                </a:solidFill>
                <a:highlight>
                  <a:srgbClr val="FFFFFF"/>
                </a:highlight>
                <a:ea typeface="+mn-lt"/>
                <a:cs typeface="+mn-lt"/>
              </a:rPr>
              <a:t>".</a:t>
            </a:r>
            <a:endParaRPr lang="en-US" sz="1800"/>
          </a:p>
          <a:p>
            <a:pPr lvl="1"/>
            <a:r>
              <a:rPr lang="en-US" sz="1800" dirty="0" err="1">
                <a:solidFill>
                  <a:srgbClr val="1B1B1E"/>
                </a:solidFill>
                <a:highlight>
                  <a:srgbClr val="FFFFFF"/>
                </a:highlight>
                <a:ea typeface="+mn-lt"/>
                <a:cs typeface="+mn-lt"/>
              </a:rPr>
              <a:t>Kiến</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trúc</a:t>
            </a:r>
            <a:r>
              <a:rPr lang="en-US" sz="1800" dirty="0">
                <a:solidFill>
                  <a:srgbClr val="1B1B1E"/>
                </a:solidFill>
                <a:highlight>
                  <a:srgbClr val="FFFFFF"/>
                </a:highlight>
                <a:ea typeface="+mn-lt"/>
                <a:cs typeface="+mn-lt"/>
              </a:rPr>
              <a:t> 3 </a:t>
            </a:r>
            <a:r>
              <a:rPr lang="en-US" sz="1800" dirty="0" err="1">
                <a:solidFill>
                  <a:srgbClr val="1B1B1E"/>
                </a:solidFill>
                <a:highlight>
                  <a:srgbClr val="FFFFFF"/>
                </a:highlight>
                <a:ea typeface="+mn-lt"/>
                <a:cs typeface="+mn-lt"/>
              </a:rPr>
              <a:t>tầng</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chuẩn</a:t>
            </a:r>
            <a:r>
              <a:rPr lang="en-US" sz="1800" dirty="0">
                <a:solidFill>
                  <a:srgbClr val="1B1B1E"/>
                </a:solidFill>
                <a:highlight>
                  <a:srgbClr val="FFFFFF"/>
                </a:highlight>
                <a:ea typeface="+mn-lt"/>
                <a:cs typeface="+mn-lt"/>
              </a:rPr>
              <a:t> RESTful API, </a:t>
            </a:r>
            <a:r>
              <a:rPr lang="en-US" sz="1800" dirty="0" err="1">
                <a:solidFill>
                  <a:srgbClr val="1B1B1E"/>
                </a:solidFill>
                <a:highlight>
                  <a:srgbClr val="FFFFFF"/>
                </a:highlight>
                <a:ea typeface="+mn-lt"/>
                <a:cs typeface="+mn-lt"/>
              </a:rPr>
              <a:t>bảo</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mật</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cao</a:t>
            </a:r>
            <a:r>
              <a:rPr lang="en-US" sz="1800" dirty="0">
                <a:solidFill>
                  <a:srgbClr val="1B1B1E"/>
                </a:solidFill>
                <a:highlight>
                  <a:srgbClr val="FFFFFF"/>
                </a:highlight>
                <a:ea typeface="+mn-lt"/>
                <a:cs typeface="+mn-lt"/>
              </a:rPr>
              <a:t>.</a:t>
            </a:r>
            <a:endParaRPr lang="en-US" sz="1800"/>
          </a:p>
          <a:p>
            <a:pPr lvl="1"/>
            <a:r>
              <a:rPr lang="en-US" sz="1800" dirty="0" err="1">
                <a:solidFill>
                  <a:srgbClr val="1B1B1E"/>
                </a:solidFill>
                <a:highlight>
                  <a:srgbClr val="FFFFFF"/>
                </a:highlight>
                <a:ea typeface="+mn-lt"/>
                <a:cs typeface="+mn-lt"/>
              </a:rPr>
              <a:t>Hỗ</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trợ</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thông</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báo</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chủ</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động</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toàn</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diện</a:t>
            </a:r>
            <a:r>
              <a:rPr lang="en-US" sz="1800" dirty="0">
                <a:solidFill>
                  <a:srgbClr val="1B1B1E"/>
                </a:solidFill>
                <a:highlight>
                  <a:srgbClr val="FFFFFF"/>
                </a:highlight>
                <a:ea typeface="+mn-lt"/>
                <a:cs typeface="+mn-lt"/>
              </a:rPr>
              <a:t>.</a:t>
            </a:r>
            <a:endParaRPr lang="en-US" sz="1800"/>
          </a:p>
          <a:p>
            <a:r>
              <a:rPr lang="en-US" sz="1800" b="1" dirty="0" err="1">
                <a:solidFill>
                  <a:srgbClr val="1B1B1E"/>
                </a:solidFill>
                <a:highlight>
                  <a:srgbClr val="FFFFFF"/>
                </a:highlight>
                <a:ea typeface="+mn-lt"/>
                <a:cs typeface="+mn-lt"/>
              </a:rPr>
              <a:t>Hạn</a:t>
            </a:r>
            <a:r>
              <a:rPr lang="en-US" sz="1800" b="1" dirty="0">
                <a:solidFill>
                  <a:srgbClr val="1B1B1E"/>
                </a:solidFill>
                <a:highlight>
                  <a:srgbClr val="FFFFFF"/>
                </a:highlight>
                <a:ea typeface="+mn-lt"/>
                <a:cs typeface="+mn-lt"/>
              </a:rPr>
              <a:t> </a:t>
            </a:r>
            <a:r>
              <a:rPr lang="en-US" sz="1800" b="1" dirty="0" err="1">
                <a:solidFill>
                  <a:srgbClr val="1B1B1E"/>
                </a:solidFill>
                <a:highlight>
                  <a:srgbClr val="FFFFFF"/>
                </a:highlight>
                <a:ea typeface="+mn-lt"/>
                <a:cs typeface="+mn-lt"/>
              </a:rPr>
              <a:t>chế</a:t>
            </a:r>
            <a:r>
              <a:rPr lang="en-US" sz="1800" b="1" dirty="0">
                <a:solidFill>
                  <a:srgbClr val="1B1B1E"/>
                </a:solidFill>
                <a:highlight>
                  <a:srgbClr val="FFFFFF"/>
                </a:highlight>
                <a:ea typeface="+mn-lt"/>
                <a:cs typeface="+mn-lt"/>
              </a:rPr>
              <a:t>:</a:t>
            </a:r>
            <a:endParaRPr lang="en-US" sz="1800"/>
          </a:p>
          <a:p>
            <a:pPr lvl="1"/>
            <a:r>
              <a:rPr lang="en-US" sz="1800" dirty="0" err="1">
                <a:solidFill>
                  <a:srgbClr val="1B1B1E"/>
                </a:solidFill>
                <a:highlight>
                  <a:srgbClr val="FFFFFF"/>
                </a:highlight>
                <a:ea typeface="+mn-lt"/>
                <a:cs typeface="+mn-lt"/>
              </a:rPr>
              <a:t>Phụ</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thuộc</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vào</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hạn</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mức</a:t>
            </a:r>
            <a:r>
              <a:rPr lang="en-US" sz="1800" dirty="0">
                <a:solidFill>
                  <a:srgbClr val="1B1B1E"/>
                </a:solidFill>
                <a:highlight>
                  <a:srgbClr val="FFFFFF"/>
                </a:highlight>
                <a:ea typeface="+mn-lt"/>
                <a:cs typeface="+mn-lt"/>
              </a:rPr>
              <a:t> (quota) API </a:t>
            </a:r>
            <a:r>
              <a:rPr lang="en-US" sz="1800" dirty="0" err="1">
                <a:solidFill>
                  <a:srgbClr val="1B1B1E"/>
                </a:solidFill>
                <a:highlight>
                  <a:srgbClr val="FFFFFF"/>
                </a:highlight>
                <a:ea typeface="+mn-lt"/>
                <a:cs typeface="+mn-lt"/>
              </a:rPr>
              <a:t>của</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các</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mô</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hình</a:t>
            </a:r>
            <a:r>
              <a:rPr lang="en-US" sz="1800" dirty="0">
                <a:solidFill>
                  <a:srgbClr val="1B1B1E"/>
                </a:solidFill>
                <a:highlight>
                  <a:srgbClr val="FFFFFF"/>
                </a:highlight>
                <a:ea typeface="+mn-lt"/>
                <a:cs typeface="+mn-lt"/>
              </a:rPr>
              <a:t> LLM </a:t>
            </a:r>
            <a:r>
              <a:rPr lang="en-US" sz="1800" dirty="0" err="1">
                <a:solidFill>
                  <a:srgbClr val="1B1B1E"/>
                </a:solidFill>
                <a:highlight>
                  <a:srgbClr val="FFFFFF"/>
                </a:highlight>
                <a:ea typeface="+mn-lt"/>
                <a:cs typeface="+mn-lt"/>
              </a:rPr>
              <a:t>miễn</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phí</a:t>
            </a:r>
            <a:r>
              <a:rPr lang="en-US" sz="1800" dirty="0">
                <a:solidFill>
                  <a:srgbClr val="1B1B1E"/>
                </a:solidFill>
                <a:highlight>
                  <a:srgbClr val="FFFFFF"/>
                </a:highlight>
                <a:ea typeface="+mn-lt"/>
                <a:cs typeface="+mn-lt"/>
              </a:rPr>
              <a:t>.</a:t>
            </a:r>
            <a:endParaRPr lang="en-US" sz="1800"/>
          </a:p>
          <a:p>
            <a:pPr lvl="1"/>
            <a:r>
              <a:rPr lang="en-US" sz="1800" dirty="0" err="1">
                <a:solidFill>
                  <a:srgbClr val="1B1B1E"/>
                </a:solidFill>
                <a:highlight>
                  <a:srgbClr val="FFFFFF"/>
                </a:highlight>
                <a:ea typeface="+mn-lt"/>
                <a:cs typeface="+mn-lt"/>
              </a:rPr>
              <a:t>Phân</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loại</a:t>
            </a:r>
            <a:r>
              <a:rPr lang="en-US" sz="1800" dirty="0">
                <a:solidFill>
                  <a:srgbClr val="1B1B1E"/>
                </a:solidFill>
                <a:highlight>
                  <a:srgbClr val="FFFFFF"/>
                </a:highlight>
                <a:ea typeface="+mn-lt"/>
                <a:cs typeface="+mn-lt"/>
              </a:rPr>
              <a:t> ý </a:t>
            </a:r>
            <a:r>
              <a:rPr lang="en-US" sz="1800" dirty="0" err="1">
                <a:solidFill>
                  <a:srgbClr val="1B1B1E"/>
                </a:solidFill>
                <a:highlight>
                  <a:srgbClr val="FFFFFF"/>
                </a:highlight>
                <a:ea typeface="+mn-lt"/>
                <a:cs typeface="+mn-lt"/>
              </a:rPr>
              <a:t>định</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bằng</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từ</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khóa</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có</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thể</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chưa</a:t>
            </a:r>
            <a:r>
              <a:rPr lang="en-US" sz="1800" dirty="0">
                <a:solidFill>
                  <a:srgbClr val="1B1B1E"/>
                </a:solidFill>
                <a:highlight>
                  <a:srgbClr val="FFFFFF"/>
                </a:highlight>
                <a:ea typeface="+mn-lt"/>
                <a:cs typeface="+mn-lt"/>
              </a:rPr>
              <a:t> bao </a:t>
            </a:r>
            <a:r>
              <a:rPr lang="en-US" sz="1800" dirty="0" err="1">
                <a:solidFill>
                  <a:srgbClr val="1B1B1E"/>
                </a:solidFill>
                <a:highlight>
                  <a:srgbClr val="FFFFFF"/>
                </a:highlight>
                <a:ea typeface="+mn-lt"/>
                <a:cs typeface="+mn-lt"/>
              </a:rPr>
              <a:t>phủ</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hết</a:t>
            </a:r>
            <a:r>
              <a:rPr lang="en-US" sz="1800" dirty="0">
                <a:solidFill>
                  <a:srgbClr val="1B1B1E"/>
                </a:solidFill>
                <a:highlight>
                  <a:srgbClr val="FFFFFF"/>
                </a:highlight>
                <a:ea typeface="+mn-lt"/>
                <a:cs typeface="+mn-lt"/>
              </a:rPr>
              <a:t> 100% </a:t>
            </a:r>
            <a:r>
              <a:rPr lang="en-US" sz="1800" dirty="0" err="1">
                <a:solidFill>
                  <a:srgbClr val="1B1B1E"/>
                </a:solidFill>
                <a:highlight>
                  <a:srgbClr val="FFFFFF"/>
                </a:highlight>
                <a:ea typeface="+mn-lt"/>
                <a:cs typeface="+mn-lt"/>
              </a:rPr>
              <a:t>cách</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diễn</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đạt</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tự</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nhiên</a:t>
            </a:r>
            <a:r>
              <a:rPr lang="en-US" sz="1800" dirty="0">
                <a:solidFill>
                  <a:srgbClr val="1B1B1E"/>
                </a:solidFill>
                <a:highlight>
                  <a:srgbClr val="FFFFFF"/>
                </a:highlight>
                <a:ea typeface="+mn-lt"/>
                <a:cs typeface="+mn-lt"/>
              </a:rPr>
              <a:t>.</a:t>
            </a:r>
            <a:endParaRPr lang="en-US" sz="1800"/>
          </a:p>
          <a:p>
            <a:pPr lvl="1"/>
            <a:r>
              <a:rPr lang="en-US" sz="1800" dirty="0" err="1">
                <a:solidFill>
                  <a:srgbClr val="1B1B1E"/>
                </a:solidFill>
                <a:highlight>
                  <a:srgbClr val="FFFFFF"/>
                </a:highlight>
                <a:ea typeface="+mn-lt"/>
                <a:cs typeface="+mn-lt"/>
              </a:rPr>
              <a:t>Mới</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triển</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khai</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và</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kiểm</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thử</a:t>
            </a:r>
            <a:r>
              <a:rPr lang="en-US" sz="1800" dirty="0">
                <a:solidFill>
                  <a:srgbClr val="1B1B1E"/>
                </a:solidFill>
                <a:highlight>
                  <a:srgbClr val="FFFFFF"/>
                </a:highlight>
                <a:ea typeface="+mn-lt"/>
                <a:cs typeface="+mn-lt"/>
              </a:rPr>
              <a:t> ở </a:t>
            </a:r>
            <a:r>
              <a:rPr lang="en-US" sz="1800" dirty="0" err="1">
                <a:solidFill>
                  <a:srgbClr val="1B1B1E"/>
                </a:solidFill>
                <a:highlight>
                  <a:srgbClr val="FFFFFF"/>
                </a:highlight>
                <a:ea typeface="+mn-lt"/>
                <a:cs typeface="+mn-lt"/>
              </a:rPr>
              <a:t>môi</a:t>
            </a:r>
            <a:r>
              <a:rPr lang="en-US" sz="1800" dirty="0">
                <a:solidFill>
                  <a:srgbClr val="1B1B1E"/>
                </a:solidFill>
                <a:highlight>
                  <a:srgbClr val="FFFFFF"/>
                </a:highlight>
                <a:ea typeface="+mn-lt"/>
                <a:cs typeface="+mn-lt"/>
              </a:rPr>
              <a:t> </a:t>
            </a:r>
            <a:r>
              <a:rPr lang="en-US" sz="1800" dirty="0" err="1">
                <a:solidFill>
                  <a:srgbClr val="1B1B1E"/>
                </a:solidFill>
                <a:highlight>
                  <a:srgbClr val="FFFFFF"/>
                </a:highlight>
                <a:ea typeface="+mn-lt"/>
                <a:cs typeface="+mn-lt"/>
              </a:rPr>
              <a:t>trường</a:t>
            </a:r>
            <a:r>
              <a:rPr lang="en-US" sz="1800" dirty="0">
                <a:solidFill>
                  <a:srgbClr val="1B1B1E"/>
                </a:solidFill>
                <a:highlight>
                  <a:srgbClr val="FFFFFF"/>
                </a:highlight>
                <a:ea typeface="+mn-lt"/>
                <a:cs typeface="+mn-lt"/>
              </a:rPr>
              <a:t> Local/</a:t>
            </a:r>
            <a:r>
              <a:rPr lang="en-US" sz="1800" dirty="0" err="1">
                <a:solidFill>
                  <a:srgbClr val="1B1B1E"/>
                </a:solidFill>
                <a:highlight>
                  <a:srgbClr val="FFFFFF"/>
                </a:highlight>
                <a:ea typeface="+mn-lt"/>
                <a:cs typeface="+mn-lt"/>
              </a:rPr>
              <a:t>Ngrok</a:t>
            </a:r>
            <a:r>
              <a:rPr lang="en-US" sz="1800" dirty="0">
                <a:solidFill>
                  <a:srgbClr val="1B1B1E"/>
                </a:solidFill>
                <a:highlight>
                  <a:srgbClr val="FFFFFF"/>
                </a:highlight>
                <a:ea typeface="+mn-lt"/>
                <a:cs typeface="+mn-lt"/>
              </a:rPr>
              <a:t>.</a:t>
            </a:r>
            <a:endParaRPr lang="en-US" sz="1800"/>
          </a:p>
          <a:p>
            <a:endParaRPr lang="en-US" sz="2200" dirty="0"/>
          </a:p>
        </p:txBody>
      </p:sp>
      <p:pic>
        <p:nvPicPr>
          <p:cNvPr id="4" name="Content Placeholder 3" descr="Bảng đánh giá năng lực nhân viên mới nhất dành cho cán bộ doanh nghiệp">
            <a:extLst>
              <a:ext uri="{FF2B5EF4-FFF2-40B4-BE49-F238E27FC236}">
                <a16:creationId xmlns:a16="http://schemas.microsoft.com/office/drawing/2014/main" id="{FE640641-B405-005F-4131-74637DD5FFE4}"/>
              </a:ext>
            </a:extLst>
          </p:cNvPr>
          <p:cNvPicPr>
            <a:picLocks noChangeAspect="1"/>
          </p:cNvPicPr>
          <p:nvPr/>
        </p:nvPicPr>
        <p:blipFill>
          <a:blip r:embed="rId2"/>
          <a:srcRect l="16221" r="17328"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5044390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F12C6E-7724-7109-4AF3-F07F5D74789D}"/>
              </a:ext>
            </a:extLst>
          </p:cNvPr>
          <p:cNvSpPr>
            <a:spLocks noGrp="1"/>
          </p:cNvSpPr>
          <p:nvPr>
            <p:ph type="title"/>
          </p:nvPr>
        </p:nvSpPr>
        <p:spPr>
          <a:xfrm>
            <a:off x="5152619" y="1483070"/>
            <a:ext cx="6251110" cy="1783080"/>
          </a:xfrm>
        </p:spPr>
        <p:txBody>
          <a:bodyPr anchor="b">
            <a:normAutofit/>
          </a:bodyPr>
          <a:lstStyle/>
          <a:p>
            <a:r>
              <a:rPr lang="en-US" sz="3000" dirty="0" err="1">
                <a:highlight>
                  <a:srgbClr val="FFFFFF"/>
                </a:highlight>
              </a:rPr>
              <a:t>Hướng</a:t>
            </a:r>
            <a:r>
              <a:rPr lang="en-US" sz="3000" dirty="0">
                <a:highlight>
                  <a:srgbClr val="FFFFFF"/>
                </a:highlight>
              </a:rPr>
              <a:t> </a:t>
            </a:r>
            <a:r>
              <a:rPr lang="en-US" sz="3000" dirty="0" err="1">
                <a:highlight>
                  <a:srgbClr val="FFFFFF"/>
                </a:highlight>
              </a:rPr>
              <a:t>phát</a:t>
            </a:r>
            <a:r>
              <a:rPr lang="en-US" sz="3000" dirty="0">
                <a:highlight>
                  <a:srgbClr val="FFFFFF"/>
                </a:highlight>
              </a:rPr>
              <a:t> </a:t>
            </a:r>
            <a:r>
              <a:rPr lang="en-US" sz="3000" dirty="0" err="1">
                <a:highlight>
                  <a:srgbClr val="FFFFFF"/>
                </a:highlight>
              </a:rPr>
              <a:t>triển</a:t>
            </a:r>
            <a:r>
              <a:rPr lang="en-US" sz="3000" dirty="0">
                <a:highlight>
                  <a:srgbClr val="FFFFFF"/>
                </a:highlight>
              </a:rPr>
              <a:t> &amp; </a:t>
            </a:r>
            <a:r>
              <a:rPr lang="en-US" sz="3000" dirty="0" err="1">
                <a:highlight>
                  <a:srgbClr val="FFFFFF"/>
                </a:highlight>
              </a:rPr>
              <a:t>Kết</a:t>
            </a:r>
            <a:r>
              <a:rPr lang="en-US" sz="3000" dirty="0">
                <a:highlight>
                  <a:srgbClr val="FFFFFF"/>
                </a:highlight>
              </a:rPr>
              <a:t> </a:t>
            </a:r>
            <a:r>
              <a:rPr lang="en-US" sz="3000" dirty="0" err="1">
                <a:highlight>
                  <a:srgbClr val="FFFFFF"/>
                </a:highlight>
              </a:rPr>
              <a:t>luận</a:t>
            </a:r>
            <a:endParaRPr lang="en-US" sz="3000" dirty="0" err="1"/>
          </a:p>
          <a:p>
            <a:endParaRPr lang="en-US" sz="3000"/>
          </a:p>
          <a:p>
            <a:br>
              <a:rPr lang="en-US" sz="3000"/>
            </a:br>
            <a:endParaRPr lang="en-US" sz="3000"/>
          </a:p>
        </p:txBody>
      </p:sp>
      <p:pic>
        <p:nvPicPr>
          <p:cNvPr id="4" name="Picture 3" descr="Hình ảnh Doanh Nhân đi Trên Phát Triển Thành Công đồ Thị đầu Tư Khái Niệm Kinh Doanh Vector Minh Họa Thiết Kế Phim Hoạt Hình Phẳng Chủ đề Màu Xanh PNG ,">
            <a:extLst>
              <a:ext uri="{FF2B5EF4-FFF2-40B4-BE49-F238E27FC236}">
                <a16:creationId xmlns:a16="http://schemas.microsoft.com/office/drawing/2014/main" id="{25D208DE-5737-8A5D-4511-5EBD993E55CF}"/>
              </a:ext>
            </a:extLst>
          </p:cNvPr>
          <p:cNvPicPr>
            <a:picLocks noChangeAspect="1"/>
          </p:cNvPicPr>
          <p:nvPr/>
        </p:nvPicPr>
        <p:blipFill>
          <a:blip r:embed="rId2"/>
          <a:srcRect r="32089"/>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B35FBF5-7FEE-4A32-9382-2E4B5675401A}"/>
              </a:ext>
            </a:extLst>
          </p:cNvPr>
          <p:cNvSpPr>
            <a:spLocks noGrp="1"/>
          </p:cNvSpPr>
          <p:nvPr>
            <p:ph idx="1"/>
          </p:nvPr>
        </p:nvSpPr>
        <p:spPr>
          <a:xfrm>
            <a:off x="5297762" y="2706624"/>
            <a:ext cx="6251110" cy="3483864"/>
          </a:xfrm>
        </p:spPr>
        <p:txBody>
          <a:bodyPr vert="horz" lIns="91440" tIns="45720" rIns="91440" bIns="45720" rtlCol="0" anchor="t">
            <a:noAutofit/>
          </a:bodyPr>
          <a:lstStyle/>
          <a:p>
            <a:r>
              <a:rPr lang="en-US" sz="1800" b="1" dirty="0" err="1">
                <a:highlight>
                  <a:srgbClr val="FFFFFF"/>
                </a:highlight>
                <a:ea typeface="+mn-lt"/>
                <a:cs typeface="+mn-lt"/>
              </a:rPr>
              <a:t>Hướng</a:t>
            </a:r>
            <a:r>
              <a:rPr lang="en-US" sz="1800" b="1" dirty="0">
                <a:highlight>
                  <a:srgbClr val="FFFFFF"/>
                </a:highlight>
                <a:ea typeface="+mn-lt"/>
                <a:cs typeface="+mn-lt"/>
              </a:rPr>
              <a:t> </a:t>
            </a:r>
            <a:r>
              <a:rPr lang="en-US" sz="1800" b="1" dirty="0" err="1">
                <a:highlight>
                  <a:srgbClr val="FFFFFF"/>
                </a:highlight>
                <a:ea typeface="+mn-lt"/>
                <a:cs typeface="+mn-lt"/>
              </a:rPr>
              <a:t>phát</a:t>
            </a:r>
            <a:r>
              <a:rPr lang="en-US" sz="1800" b="1" dirty="0">
                <a:highlight>
                  <a:srgbClr val="FFFFFF"/>
                </a:highlight>
                <a:ea typeface="+mn-lt"/>
                <a:cs typeface="+mn-lt"/>
              </a:rPr>
              <a:t> </a:t>
            </a:r>
            <a:r>
              <a:rPr lang="en-US" sz="1800" b="1" dirty="0" err="1">
                <a:highlight>
                  <a:srgbClr val="FFFFFF"/>
                </a:highlight>
                <a:ea typeface="+mn-lt"/>
                <a:cs typeface="+mn-lt"/>
              </a:rPr>
              <a:t>triển</a:t>
            </a:r>
            <a:r>
              <a:rPr lang="en-US" sz="1800" b="1" dirty="0">
                <a:highlight>
                  <a:srgbClr val="FFFFFF"/>
                </a:highlight>
                <a:ea typeface="+mn-lt"/>
                <a:cs typeface="+mn-lt"/>
              </a:rPr>
              <a:t>:</a:t>
            </a:r>
            <a:endParaRPr lang="en-US" sz="1800" dirty="0"/>
          </a:p>
          <a:p>
            <a:pPr lvl="1"/>
            <a:r>
              <a:rPr lang="en-US" sz="1800" dirty="0" err="1">
                <a:highlight>
                  <a:srgbClr val="FFFFFF"/>
                </a:highlight>
                <a:ea typeface="+mn-lt"/>
                <a:cs typeface="+mn-lt"/>
              </a:rPr>
              <a:t>Nâng</a:t>
            </a:r>
            <a:r>
              <a:rPr lang="en-US" sz="1800" dirty="0">
                <a:highlight>
                  <a:srgbClr val="FFFFFF"/>
                </a:highlight>
                <a:ea typeface="+mn-lt"/>
                <a:cs typeface="+mn-lt"/>
              </a:rPr>
              <a:t> </a:t>
            </a:r>
            <a:r>
              <a:rPr lang="en-US" sz="1800" dirty="0" err="1">
                <a:highlight>
                  <a:srgbClr val="FFFFFF"/>
                </a:highlight>
                <a:ea typeface="+mn-lt"/>
                <a:cs typeface="+mn-lt"/>
              </a:rPr>
              <a:t>cấp</a:t>
            </a:r>
            <a:r>
              <a:rPr lang="en-US" sz="1800" dirty="0">
                <a:highlight>
                  <a:srgbClr val="FFFFFF"/>
                </a:highlight>
                <a:ea typeface="+mn-lt"/>
                <a:cs typeface="+mn-lt"/>
              </a:rPr>
              <a:t> Intent Router </a:t>
            </a:r>
            <a:r>
              <a:rPr lang="en-US" sz="1800" dirty="0" err="1">
                <a:highlight>
                  <a:srgbClr val="FFFFFF"/>
                </a:highlight>
                <a:ea typeface="+mn-lt"/>
                <a:cs typeface="+mn-lt"/>
              </a:rPr>
              <a:t>bằng</a:t>
            </a:r>
            <a:r>
              <a:rPr lang="en-US" sz="1800" dirty="0">
                <a:highlight>
                  <a:srgbClr val="FFFFFF"/>
                </a:highlight>
                <a:ea typeface="+mn-lt"/>
                <a:cs typeface="+mn-lt"/>
              </a:rPr>
              <a:t> </a:t>
            </a:r>
            <a:r>
              <a:rPr lang="en-US" sz="1800" dirty="0" err="1">
                <a:highlight>
                  <a:srgbClr val="FFFFFF"/>
                </a:highlight>
                <a:ea typeface="+mn-lt"/>
                <a:cs typeface="+mn-lt"/>
              </a:rPr>
              <a:t>tính</a:t>
            </a:r>
            <a:r>
              <a:rPr lang="en-US" sz="1800" dirty="0">
                <a:highlight>
                  <a:srgbClr val="FFFFFF"/>
                </a:highlight>
                <a:ea typeface="+mn-lt"/>
                <a:cs typeface="+mn-lt"/>
              </a:rPr>
              <a:t> </a:t>
            </a:r>
            <a:r>
              <a:rPr lang="en-US" sz="1800" dirty="0" err="1">
                <a:highlight>
                  <a:srgbClr val="FFFFFF"/>
                </a:highlight>
                <a:ea typeface="+mn-lt"/>
                <a:cs typeface="+mn-lt"/>
              </a:rPr>
              <a:t>năng</a:t>
            </a:r>
            <a:r>
              <a:rPr lang="en-US" sz="1800" dirty="0">
                <a:highlight>
                  <a:srgbClr val="FFFFFF"/>
                </a:highlight>
                <a:ea typeface="+mn-lt"/>
                <a:cs typeface="+mn-lt"/>
              </a:rPr>
              <a:t> </a:t>
            </a:r>
            <a:r>
              <a:rPr lang="en-US" sz="1800" b="1" dirty="0">
                <a:highlight>
                  <a:srgbClr val="FFFFFF"/>
                </a:highlight>
                <a:ea typeface="+mn-lt"/>
                <a:cs typeface="+mn-lt"/>
              </a:rPr>
              <a:t>LLM Function-Calling</a:t>
            </a:r>
            <a:r>
              <a:rPr lang="en-US" sz="1800" dirty="0">
                <a:highlight>
                  <a:srgbClr val="FFFFFF"/>
                </a:highlight>
                <a:ea typeface="+mn-lt"/>
                <a:cs typeface="+mn-lt"/>
              </a:rPr>
              <a:t>.</a:t>
            </a:r>
            <a:endParaRPr lang="en-US" sz="1800" dirty="0"/>
          </a:p>
          <a:p>
            <a:pPr lvl="1"/>
            <a:r>
              <a:rPr lang="en-US" sz="1800" dirty="0" err="1">
                <a:highlight>
                  <a:srgbClr val="FFFFFF"/>
                </a:highlight>
                <a:ea typeface="+mn-lt"/>
                <a:cs typeface="+mn-lt"/>
              </a:rPr>
              <a:t>Áp</a:t>
            </a:r>
            <a:r>
              <a:rPr lang="en-US" sz="1800" dirty="0">
                <a:highlight>
                  <a:srgbClr val="FFFFFF"/>
                </a:highlight>
                <a:ea typeface="+mn-lt"/>
                <a:cs typeface="+mn-lt"/>
              </a:rPr>
              <a:t> </a:t>
            </a:r>
            <a:r>
              <a:rPr lang="en-US" sz="1800" dirty="0" err="1">
                <a:highlight>
                  <a:srgbClr val="FFFFFF"/>
                </a:highlight>
                <a:ea typeface="+mn-lt"/>
                <a:cs typeface="+mn-lt"/>
              </a:rPr>
              <a:t>dụng</a:t>
            </a:r>
            <a:r>
              <a:rPr lang="en-US" sz="1800" dirty="0">
                <a:highlight>
                  <a:srgbClr val="FFFFFF"/>
                </a:highlight>
                <a:ea typeface="+mn-lt"/>
                <a:cs typeface="+mn-lt"/>
              </a:rPr>
              <a:t> </a:t>
            </a:r>
            <a:r>
              <a:rPr lang="en-US" sz="1800" dirty="0" err="1">
                <a:highlight>
                  <a:srgbClr val="FFFFFF"/>
                </a:highlight>
                <a:ea typeface="+mn-lt"/>
                <a:cs typeface="+mn-lt"/>
              </a:rPr>
              <a:t>kỹ</a:t>
            </a:r>
            <a:r>
              <a:rPr lang="en-US" sz="1800" dirty="0">
                <a:highlight>
                  <a:srgbClr val="FFFFFF"/>
                </a:highlight>
                <a:ea typeface="+mn-lt"/>
                <a:cs typeface="+mn-lt"/>
              </a:rPr>
              <a:t> </a:t>
            </a:r>
            <a:r>
              <a:rPr lang="en-US" sz="1800" dirty="0" err="1">
                <a:highlight>
                  <a:srgbClr val="FFFFFF"/>
                </a:highlight>
                <a:ea typeface="+mn-lt"/>
                <a:cs typeface="+mn-lt"/>
              </a:rPr>
              <a:t>thuật</a:t>
            </a:r>
            <a:r>
              <a:rPr lang="en-US" sz="1800" dirty="0">
                <a:highlight>
                  <a:srgbClr val="FFFFFF"/>
                </a:highlight>
                <a:ea typeface="+mn-lt"/>
                <a:cs typeface="+mn-lt"/>
              </a:rPr>
              <a:t> </a:t>
            </a:r>
            <a:r>
              <a:rPr lang="en-US" sz="1800" b="1" dirty="0">
                <a:highlight>
                  <a:srgbClr val="FFFFFF"/>
                </a:highlight>
                <a:ea typeface="+mn-lt"/>
                <a:cs typeface="+mn-lt"/>
              </a:rPr>
              <a:t>Re-ranking</a:t>
            </a:r>
            <a:r>
              <a:rPr lang="en-US" sz="1800" dirty="0">
                <a:highlight>
                  <a:srgbClr val="FFFFFF"/>
                </a:highlight>
                <a:ea typeface="+mn-lt"/>
                <a:cs typeface="+mn-lt"/>
              </a:rPr>
              <a:t> </a:t>
            </a:r>
            <a:r>
              <a:rPr lang="en-US" sz="1800" dirty="0" err="1">
                <a:highlight>
                  <a:srgbClr val="FFFFFF"/>
                </a:highlight>
                <a:ea typeface="+mn-lt"/>
                <a:cs typeface="+mn-lt"/>
              </a:rPr>
              <a:t>để</a:t>
            </a:r>
            <a:r>
              <a:rPr lang="en-US" sz="1800" dirty="0">
                <a:highlight>
                  <a:srgbClr val="FFFFFF"/>
                </a:highlight>
                <a:ea typeface="+mn-lt"/>
                <a:cs typeface="+mn-lt"/>
              </a:rPr>
              <a:t> </a:t>
            </a:r>
            <a:r>
              <a:rPr lang="en-US" sz="1800" dirty="0" err="1">
                <a:highlight>
                  <a:srgbClr val="FFFFFF"/>
                </a:highlight>
                <a:ea typeface="+mn-lt"/>
                <a:cs typeface="+mn-lt"/>
              </a:rPr>
              <a:t>kết</a:t>
            </a:r>
            <a:r>
              <a:rPr lang="en-US" sz="1800" dirty="0">
                <a:highlight>
                  <a:srgbClr val="FFFFFF"/>
                </a:highlight>
                <a:ea typeface="+mn-lt"/>
                <a:cs typeface="+mn-lt"/>
              </a:rPr>
              <a:t> </a:t>
            </a:r>
            <a:r>
              <a:rPr lang="en-US" sz="1800" dirty="0" err="1">
                <a:highlight>
                  <a:srgbClr val="FFFFFF"/>
                </a:highlight>
                <a:ea typeface="+mn-lt"/>
                <a:cs typeface="+mn-lt"/>
              </a:rPr>
              <a:t>quả</a:t>
            </a:r>
            <a:r>
              <a:rPr lang="en-US" sz="1800" dirty="0">
                <a:highlight>
                  <a:srgbClr val="FFFFFF"/>
                </a:highlight>
                <a:ea typeface="+mn-lt"/>
                <a:cs typeface="+mn-lt"/>
              </a:rPr>
              <a:t> </a:t>
            </a:r>
            <a:r>
              <a:rPr lang="en-US" sz="1800" dirty="0" err="1">
                <a:highlight>
                  <a:srgbClr val="FFFFFF"/>
                </a:highlight>
                <a:ea typeface="+mn-lt"/>
                <a:cs typeface="+mn-lt"/>
              </a:rPr>
              <a:t>truy</a:t>
            </a:r>
            <a:r>
              <a:rPr lang="en-US" sz="1800" dirty="0">
                <a:highlight>
                  <a:srgbClr val="FFFFFF"/>
                </a:highlight>
                <a:ea typeface="+mn-lt"/>
                <a:cs typeface="+mn-lt"/>
              </a:rPr>
              <a:t> </a:t>
            </a:r>
            <a:r>
              <a:rPr lang="en-US" sz="1800" dirty="0" err="1">
                <a:highlight>
                  <a:srgbClr val="FFFFFF"/>
                </a:highlight>
                <a:ea typeface="+mn-lt"/>
                <a:cs typeface="+mn-lt"/>
              </a:rPr>
              <a:t>hồi</a:t>
            </a:r>
            <a:r>
              <a:rPr lang="en-US" sz="1800" dirty="0">
                <a:highlight>
                  <a:srgbClr val="FFFFFF"/>
                </a:highlight>
                <a:ea typeface="+mn-lt"/>
                <a:cs typeface="+mn-lt"/>
              </a:rPr>
              <a:t> RAG </a:t>
            </a:r>
            <a:r>
              <a:rPr lang="en-US" sz="1800" dirty="0" err="1">
                <a:highlight>
                  <a:srgbClr val="FFFFFF"/>
                </a:highlight>
                <a:ea typeface="+mn-lt"/>
                <a:cs typeface="+mn-lt"/>
              </a:rPr>
              <a:t>chuẩn</a:t>
            </a:r>
            <a:r>
              <a:rPr lang="en-US" sz="1800" dirty="0">
                <a:highlight>
                  <a:srgbClr val="FFFFFF"/>
                </a:highlight>
                <a:ea typeface="+mn-lt"/>
                <a:cs typeface="+mn-lt"/>
              </a:rPr>
              <a:t> </a:t>
            </a:r>
            <a:r>
              <a:rPr lang="en-US" sz="1800" dirty="0" err="1">
                <a:highlight>
                  <a:srgbClr val="FFFFFF"/>
                </a:highlight>
                <a:ea typeface="+mn-lt"/>
                <a:cs typeface="+mn-lt"/>
              </a:rPr>
              <a:t>xác</a:t>
            </a:r>
            <a:r>
              <a:rPr lang="en-US" sz="1800" dirty="0">
                <a:highlight>
                  <a:srgbClr val="FFFFFF"/>
                </a:highlight>
                <a:ea typeface="+mn-lt"/>
                <a:cs typeface="+mn-lt"/>
              </a:rPr>
              <a:t> </a:t>
            </a:r>
            <a:r>
              <a:rPr lang="en-US" sz="1800" dirty="0" err="1">
                <a:highlight>
                  <a:srgbClr val="FFFFFF"/>
                </a:highlight>
                <a:ea typeface="+mn-lt"/>
                <a:cs typeface="+mn-lt"/>
              </a:rPr>
              <a:t>hơn</a:t>
            </a:r>
            <a:r>
              <a:rPr lang="en-US" sz="1800" dirty="0">
                <a:highlight>
                  <a:srgbClr val="FFFFFF"/>
                </a:highlight>
                <a:ea typeface="+mn-lt"/>
                <a:cs typeface="+mn-lt"/>
              </a:rPr>
              <a:t>.</a:t>
            </a:r>
            <a:endParaRPr lang="en-US" sz="1800" dirty="0"/>
          </a:p>
          <a:p>
            <a:pPr lvl="1"/>
            <a:r>
              <a:rPr lang="en-US" sz="1800" dirty="0" err="1">
                <a:highlight>
                  <a:srgbClr val="FFFFFF"/>
                </a:highlight>
                <a:ea typeface="+mn-lt"/>
                <a:cs typeface="+mn-lt"/>
              </a:rPr>
              <a:t>Cơ</a:t>
            </a:r>
            <a:r>
              <a:rPr lang="en-US" sz="1800" dirty="0">
                <a:highlight>
                  <a:srgbClr val="FFFFFF"/>
                </a:highlight>
                <a:ea typeface="+mn-lt"/>
                <a:cs typeface="+mn-lt"/>
              </a:rPr>
              <a:t> </a:t>
            </a:r>
            <a:r>
              <a:rPr lang="en-US" sz="1800" dirty="0" err="1">
                <a:highlight>
                  <a:srgbClr val="FFFFFF"/>
                </a:highlight>
                <a:ea typeface="+mn-lt"/>
                <a:cs typeface="+mn-lt"/>
              </a:rPr>
              <a:t>chế</a:t>
            </a:r>
            <a:r>
              <a:rPr lang="en-US" sz="1800" dirty="0">
                <a:highlight>
                  <a:srgbClr val="FFFFFF"/>
                </a:highlight>
                <a:ea typeface="+mn-lt"/>
                <a:cs typeface="+mn-lt"/>
              </a:rPr>
              <a:t> </a:t>
            </a:r>
            <a:r>
              <a:rPr lang="en-US" sz="1800" dirty="0" err="1">
                <a:highlight>
                  <a:srgbClr val="FFFFFF"/>
                </a:highlight>
                <a:ea typeface="+mn-lt"/>
                <a:cs typeface="+mn-lt"/>
              </a:rPr>
              <a:t>tự</a:t>
            </a:r>
            <a:r>
              <a:rPr lang="en-US" sz="1800" dirty="0">
                <a:highlight>
                  <a:srgbClr val="FFFFFF"/>
                </a:highlight>
                <a:ea typeface="+mn-lt"/>
                <a:cs typeface="+mn-lt"/>
              </a:rPr>
              <a:t> </a:t>
            </a:r>
            <a:r>
              <a:rPr lang="en-US" sz="1800" dirty="0" err="1">
                <a:highlight>
                  <a:srgbClr val="FFFFFF"/>
                </a:highlight>
                <a:ea typeface="+mn-lt"/>
                <a:cs typeface="+mn-lt"/>
              </a:rPr>
              <a:t>động</a:t>
            </a:r>
            <a:r>
              <a:rPr lang="en-US" sz="1800" dirty="0">
                <a:highlight>
                  <a:srgbClr val="FFFFFF"/>
                </a:highlight>
                <a:ea typeface="+mn-lt"/>
                <a:cs typeface="+mn-lt"/>
              </a:rPr>
              <a:t> </a:t>
            </a:r>
            <a:r>
              <a:rPr lang="en-US" sz="1800" dirty="0" err="1">
                <a:highlight>
                  <a:srgbClr val="FFFFFF"/>
                </a:highlight>
                <a:ea typeface="+mn-lt"/>
                <a:cs typeface="+mn-lt"/>
              </a:rPr>
              <a:t>cập</a:t>
            </a:r>
            <a:r>
              <a:rPr lang="en-US" sz="1800" dirty="0">
                <a:highlight>
                  <a:srgbClr val="FFFFFF"/>
                </a:highlight>
                <a:ea typeface="+mn-lt"/>
                <a:cs typeface="+mn-lt"/>
              </a:rPr>
              <a:t> </a:t>
            </a:r>
            <a:r>
              <a:rPr lang="en-US" sz="1800" dirty="0" err="1">
                <a:highlight>
                  <a:srgbClr val="FFFFFF"/>
                </a:highlight>
                <a:ea typeface="+mn-lt"/>
                <a:cs typeface="+mn-lt"/>
              </a:rPr>
              <a:t>nhật</a:t>
            </a:r>
            <a:r>
              <a:rPr lang="en-US" sz="1800" dirty="0">
                <a:highlight>
                  <a:srgbClr val="FFFFFF"/>
                </a:highlight>
                <a:ea typeface="+mn-lt"/>
                <a:cs typeface="+mn-lt"/>
              </a:rPr>
              <a:t> Vector DB </a:t>
            </a:r>
            <a:r>
              <a:rPr lang="en-US" sz="1800" dirty="0" err="1">
                <a:highlight>
                  <a:srgbClr val="FFFFFF"/>
                </a:highlight>
                <a:ea typeface="+mn-lt"/>
                <a:cs typeface="+mn-lt"/>
              </a:rPr>
              <a:t>khi</a:t>
            </a:r>
            <a:r>
              <a:rPr lang="en-US" sz="1800" dirty="0">
                <a:highlight>
                  <a:srgbClr val="FFFFFF"/>
                </a:highlight>
                <a:ea typeface="+mn-lt"/>
                <a:cs typeface="+mn-lt"/>
              </a:rPr>
              <a:t> </a:t>
            </a:r>
            <a:r>
              <a:rPr lang="en-US" sz="1800" dirty="0" err="1">
                <a:highlight>
                  <a:srgbClr val="FFFFFF"/>
                </a:highlight>
                <a:ea typeface="+mn-lt"/>
                <a:cs typeface="+mn-lt"/>
              </a:rPr>
              <a:t>giảng</a:t>
            </a:r>
            <a:r>
              <a:rPr lang="en-US" sz="1800" dirty="0">
                <a:highlight>
                  <a:srgbClr val="FFFFFF"/>
                </a:highlight>
                <a:ea typeface="+mn-lt"/>
                <a:cs typeface="+mn-lt"/>
              </a:rPr>
              <a:t> </a:t>
            </a:r>
            <a:r>
              <a:rPr lang="en-US" sz="1800" dirty="0" err="1">
                <a:highlight>
                  <a:srgbClr val="FFFFFF"/>
                </a:highlight>
                <a:ea typeface="+mn-lt"/>
                <a:cs typeface="+mn-lt"/>
              </a:rPr>
              <a:t>viên</a:t>
            </a:r>
            <a:r>
              <a:rPr lang="en-US" sz="1800" dirty="0">
                <a:highlight>
                  <a:srgbClr val="FFFFFF"/>
                </a:highlight>
                <a:ea typeface="+mn-lt"/>
                <a:cs typeface="+mn-lt"/>
              </a:rPr>
              <a:t> </a:t>
            </a:r>
            <a:r>
              <a:rPr lang="en-US" sz="1800" dirty="0" err="1">
                <a:highlight>
                  <a:srgbClr val="FFFFFF"/>
                </a:highlight>
                <a:ea typeface="+mn-lt"/>
                <a:cs typeface="+mn-lt"/>
              </a:rPr>
              <a:t>thay</a:t>
            </a:r>
            <a:r>
              <a:rPr lang="en-US" sz="1800" dirty="0">
                <a:highlight>
                  <a:srgbClr val="FFFFFF"/>
                </a:highlight>
                <a:ea typeface="+mn-lt"/>
                <a:cs typeface="+mn-lt"/>
              </a:rPr>
              <a:t> </a:t>
            </a:r>
            <a:r>
              <a:rPr lang="en-US" sz="1800" dirty="0" err="1">
                <a:highlight>
                  <a:srgbClr val="FFFFFF"/>
                </a:highlight>
                <a:ea typeface="+mn-lt"/>
                <a:cs typeface="+mn-lt"/>
              </a:rPr>
              <a:t>đổi</a:t>
            </a:r>
            <a:r>
              <a:rPr lang="en-US" sz="1800" dirty="0">
                <a:highlight>
                  <a:srgbClr val="FFFFFF"/>
                </a:highlight>
                <a:ea typeface="+mn-lt"/>
                <a:cs typeface="+mn-lt"/>
              </a:rPr>
              <a:t> </a:t>
            </a:r>
            <a:r>
              <a:rPr lang="en-US" sz="1800" dirty="0" err="1">
                <a:highlight>
                  <a:srgbClr val="FFFFFF"/>
                </a:highlight>
                <a:ea typeface="+mn-lt"/>
                <a:cs typeface="+mn-lt"/>
              </a:rPr>
              <a:t>tài</a:t>
            </a:r>
            <a:r>
              <a:rPr lang="en-US" sz="1800" dirty="0">
                <a:highlight>
                  <a:srgbClr val="FFFFFF"/>
                </a:highlight>
                <a:ea typeface="+mn-lt"/>
                <a:cs typeface="+mn-lt"/>
              </a:rPr>
              <a:t> </a:t>
            </a:r>
            <a:r>
              <a:rPr lang="en-US" sz="1800" dirty="0" err="1">
                <a:highlight>
                  <a:srgbClr val="FFFFFF"/>
                </a:highlight>
                <a:ea typeface="+mn-lt"/>
                <a:cs typeface="+mn-lt"/>
              </a:rPr>
              <a:t>liệu</a:t>
            </a:r>
            <a:r>
              <a:rPr lang="en-US" sz="1800" dirty="0">
                <a:highlight>
                  <a:srgbClr val="FFFFFF"/>
                </a:highlight>
                <a:ea typeface="+mn-lt"/>
                <a:cs typeface="+mn-lt"/>
              </a:rPr>
              <a:t> Moodle.</a:t>
            </a:r>
            <a:endParaRPr lang="en-US" sz="1800" dirty="0"/>
          </a:p>
          <a:p>
            <a:pPr lvl="1"/>
            <a:r>
              <a:rPr lang="en-US" sz="1800" dirty="0" err="1">
                <a:highlight>
                  <a:srgbClr val="FFFFFF"/>
                </a:highlight>
                <a:ea typeface="+mn-lt"/>
                <a:cs typeface="+mn-lt"/>
              </a:rPr>
              <a:t>Triển</a:t>
            </a:r>
            <a:r>
              <a:rPr lang="en-US" sz="1800" dirty="0">
                <a:highlight>
                  <a:srgbClr val="FFFFFF"/>
                </a:highlight>
                <a:ea typeface="+mn-lt"/>
                <a:cs typeface="+mn-lt"/>
              </a:rPr>
              <a:t> </a:t>
            </a:r>
            <a:r>
              <a:rPr lang="en-US" sz="1800" dirty="0" err="1">
                <a:highlight>
                  <a:srgbClr val="FFFFFF"/>
                </a:highlight>
                <a:ea typeface="+mn-lt"/>
                <a:cs typeface="+mn-lt"/>
              </a:rPr>
              <a:t>khai</a:t>
            </a:r>
            <a:r>
              <a:rPr lang="en-US" sz="1800" dirty="0">
                <a:highlight>
                  <a:srgbClr val="FFFFFF"/>
                </a:highlight>
                <a:ea typeface="+mn-lt"/>
                <a:cs typeface="+mn-lt"/>
              </a:rPr>
              <a:t> </a:t>
            </a:r>
            <a:r>
              <a:rPr lang="en-US" sz="1800" dirty="0" err="1">
                <a:highlight>
                  <a:srgbClr val="FFFFFF"/>
                </a:highlight>
                <a:ea typeface="+mn-lt"/>
                <a:cs typeface="+mn-lt"/>
              </a:rPr>
              <a:t>lên</a:t>
            </a:r>
            <a:r>
              <a:rPr lang="en-US" sz="1800" dirty="0">
                <a:highlight>
                  <a:srgbClr val="FFFFFF"/>
                </a:highlight>
                <a:ea typeface="+mn-lt"/>
                <a:cs typeface="+mn-lt"/>
              </a:rPr>
              <a:t> Server </a:t>
            </a:r>
            <a:r>
              <a:rPr lang="en-US" sz="1800" dirty="0" err="1">
                <a:highlight>
                  <a:srgbClr val="FFFFFF"/>
                </a:highlight>
                <a:ea typeface="+mn-lt"/>
                <a:cs typeface="+mn-lt"/>
              </a:rPr>
              <a:t>thực</a:t>
            </a:r>
            <a:r>
              <a:rPr lang="en-US" sz="1800" dirty="0">
                <a:highlight>
                  <a:srgbClr val="FFFFFF"/>
                </a:highlight>
                <a:ea typeface="+mn-lt"/>
                <a:cs typeface="+mn-lt"/>
              </a:rPr>
              <a:t> </a:t>
            </a:r>
            <a:r>
              <a:rPr lang="en-US" sz="1800" dirty="0" err="1">
                <a:highlight>
                  <a:srgbClr val="FFFFFF"/>
                </a:highlight>
                <a:ea typeface="+mn-lt"/>
                <a:cs typeface="+mn-lt"/>
              </a:rPr>
              <a:t>tế</a:t>
            </a:r>
            <a:r>
              <a:rPr lang="en-US" sz="1800" dirty="0">
                <a:highlight>
                  <a:srgbClr val="FFFFFF"/>
                </a:highlight>
                <a:ea typeface="+mn-lt"/>
                <a:cs typeface="+mn-lt"/>
              </a:rPr>
              <a:t> </a:t>
            </a:r>
            <a:r>
              <a:rPr lang="en-US" sz="1800" dirty="0" err="1">
                <a:highlight>
                  <a:srgbClr val="FFFFFF"/>
                </a:highlight>
                <a:ea typeface="+mn-lt"/>
                <a:cs typeface="+mn-lt"/>
              </a:rPr>
              <a:t>và</a:t>
            </a:r>
            <a:r>
              <a:rPr lang="en-US" sz="1800" dirty="0">
                <a:highlight>
                  <a:srgbClr val="FFFFFF"/>
                </a:highlight>
                <a:ea typeface="+mn-lt"/>
                <a:cs typeface="+mn-lt"/>
              </a:rPr>
              <a:t> </a:t>
            </a:r>
            <a:r>
              <a:rPr lang="en-US" sz="1800" dirty="0" err="1">
                <a:highlight>
                  <a:srgbClr val="FFFFFF"/>
                </a:highlight>
                <a:ea typeface="+mn-lt"/>
                <a:cs typeface="+mn-lt"/>
              </a:rPr>
              <a:t>mở</a:t>
            </a:r>
            <a:r>
              <a:rPr lang="en-US" sz="1800" dirty="0">
                <a:highlight>
                  <a:srgbClr val="FFFFFF"/>
                </a:highlight>
                <a:ea typeface="+mn-lt"/>
                <a:cs typeface="+mn-lt"/>
              </a:rPr>
              <a:t> </a:t>
            </a:r>
            <a:r>
              <a:rPr lang="en-US" sz="1800" dirty="0" err="1">
                <a:highlight>
                  <a:srgbClr val="FFFFFF"/>
                </a:highlight>
                <a:ea typeface="+mn-lt"/>
                <a:cs typeface="+mn-lt"/>
              </a:rPr>
              <a:t>rộng</a:t>
            </a:r>
            <a:r>
              <a:rPr lang="en-US" sz="1800" dirty="0">
                <a:highlight>
                  <a:srgbClr val="FFFFFF"/>
                </a:highlight>
                <a:ea typeface="+mn-lt"/>
                <a:cs typeface="+mn-lt"/>
              </a:rPr>
              <a:t> </a:t>
            </a:r>
            <a:r>
              <a:rPr lang="en-US" sz="1800" dirty="0" err="1">
                <a:highlight>
                  <a:srgbClr val="FFFFFF"/>
                </a:highlight>
                <a:ea typeface="+mn-lt"/>
                <a:cs typeface="+mn-lt"/>
              </a:rPr>
              <a:t>kênh</a:t>
            </a:r>
            <a:r>
              <a:rPr lang="en-US" sz="1800" dirty="0">
                <a:highlight>
                  <a:srgbClr val="FFFFFF"/>
                </a:highlight>
                <a:ea typeface="+mn-lt"/>
                <a:cs typeface="+mn-lt"/>
              </a:rPr>
              <a:t> </a:t>
            </a:r>
            <a:r>
              <a:rPr lang="en-US" sz="1800" dirty="0" err="1">
                <a:highlight>
                  <a:srgbClr val="FFFFFF"/>
                </a:highlight>
                <a:ea typeface="+mn-lt"/>
                <a:cs typeface="+mn-lt"/>
              </a:rPr>
              <a:t>tương</a:t>
            </a:r>
            <a:r>
              <a:rPr lang="en-US" sz="1800" dirty="0">
                <a:highlight>
                  <a:srgbClr val="FFFFFF"/>
                </a:highlight>
                <a:ea typeface="+mn-lt"/>
                <a:cs typeface="+mn-lt"/>
              </a:rPr>
              <a:t> </a:t>
            </a:r>
            <a:r>
              <a:rPr lang="en-US" sz="1800" dirty="0" err="1">
                <a:highlight>
                  <a:srgbClr val="FFFFFF"/>
                </a:highlight>
                <a:ea typeface="+mn-lt"/>
                <a:cs typeface="+mn-lt"/>
              </a:rPr>
              <a:t>tác</a:t>
            </a:r>
            <a:r>
              <a:rPr lang="en-US" sz="1800" dirty="0">
                <a:highlight>
                  <a:srgbClr val="FFFFFF"/>
                </a:highlight>
                <a:ea typeface="+mn-lt"/>
                <a:cs typeface="+mn-lt"/>
              </a:rPr>
              <a:t> (App Mobile, Voice).</a:t>
            </a:r>
            <a:endParaRPr lang="en-US" sz="1800" dirty="0"/>
          </a:p>
          <a:p>
            <a:r>
              <a:rPr lang="en-US" sz="1800" b="1" dirty="0" err="1">
                <a:highlight>
                  <a:srgbClr val="FFFFFF"/>
                </a:highlight>
                <a:ea typeface="+mn-lt"/>
                <a:cs typeface="+mn-lt"/>
              </a:rPr>
              <a:t>Lời</a:t>
            </a:r>
            <a:r>
              <a:rPr lang="en-US" sz="1800" b="1" dirty="0">
                <a:highlight>
                  <a:srgbClr val="FFFFFF"/>
                </a:highlight>
                <a:ea typeface="+mn-lt"/>
                <a:cs typeface="+mn-lt"/>
              </a:rPr>
              <a:t> </a:t>
            </a:r>
            <a:r>
              <a:rPr lang="en-US" sz="1800" b="1" dirty="0" err="1">
                <a:highlight>
                  <a:srgbClr val="FFFFFF"/>
                </a:highlight>
                <a:ea typeface="+mn-lt"/>
                <a:cs typeface="+mn-lt"/>
              </a:rPr>
              <a:t>kết</a:t>
            </a:r>
            <a:r>
              <a:rPr lang="en-US" sz="1800" b="1" dirty="0">
                <a:highlight>
                  <a:srgbClr val="FFFFFF"/>
                </a:highlight>
                <a:ea typeface="+mn-lt"/>
                <a:cs typeface="+mn-lt"/>
              </a:rPr>
              <a:t>:</a:t>
            </a:r>
            <a:r>
              <a:rPr lang="en-US" sz="1800" dirty="0">
                <a:highlight>
                  <a:srgbClr val="FFFFFF"/>
                </a:highlight>
                <a:ea typeface="+mn-lt"/>
                <a:cs typeface="+mn-lt"/>
              </a:rPr>
              <a:t> </a:t>
            </a:r>
            <a:r>
              <a:rPr lang="en-US" sz="1800" dirty="0" err="1">
                <a:highlight>
                  <a:srgbClr val="FFFFFF"/>
                </a:highlight>
                <a:ea typeface="+mn-lt"/>
                <a:cs typeface="+mn-lt"/>
              </a:rPr>
              <a:t>Đề</a:t>
            </a:r>
            <a:r>
              <a:rPr lang="en-US" sz="1800" dirty="0">
                <a:highlight>
                  <a:srgbClr val="FFFFFF"/>
                </a:highlight>
                <a:ea typeface="+mn-lt"/>
                <a:cs typeface="+mn-lt"/>
              </a:rPr>
              <a:t> </a:t>
            </a:r>
            <a:r>
              <a:rPr lang="en-US" sz="1800" dirty="0" err="1">
                <a:highlight>
                  <a:srgbClr val="FFFFFF"/>
                </a:highlight>
                <a:ea typeface="+mn-lt"/>
                <a:cs typeface="+mn-lt"/>
              </a:rPr>
              <a:t>tài</a:t>
            </a:r>
            <a:r>
              <a:rPr lang="en-US" sz="1800" dirty="0">
                <a:highlight>
                  <a:srgbClr val="FFFFFF"/>
                </a:highlight>
                <a:ea typeface="+mn-lt"/>
                <a:cs typeface="+mn-lt"/>
              </a:rPr>
              <a:t> </a:t>
            </a:r>
            <a:r>
              <a:rPr lang="en-US" sz="1800" dirty="0" err="1">
                <a:highlight>
                  <a:srgbClr val="FFFFFF"/>
                </a:highlight>
                <a:ea typeface="+mn-lt"/>
                <a:cs typeface="+mn-lt"/>
              </a:rPr>
              <a:t>cung</a:t>
            </a:r>
            <a:r>
              <a:rPr lang="en-US" sz="1800" dirty="0">
                <a:highlight>
                  <a:srgbClr val="FFFFFF"/>
                </a:highlight>
                <a:ea typeface="+mn-lt"/>
                <a:cs typeface="+mn-lt"/>
              </a:rPr>
              <a:t> </a:t>
            </a:r>
            <a:r>
              <a:rPr lang="en-US" sz="1800" dirty="0" err="1">
                <a:highlight>
                  <a:srgbClr val="FFFFFF"/>
                </a:highlight>
                <a:ea typeface="+mn-lt"/>
                <a:cs typeface="+mn-lt"/>
              </a:rPr>
              <a:t>cấp</a:t>
            </a:r>
            <a:r>
              <a:rPr lang="en-US" sz="1800" dirty="0">
                <a:highlight>
                  <a:srgbClr val="FFFFFF"/>
                </a:highlight>
                <a:ea typeface="+mn-lt"/>
                <a:cs typeface="+mn-lt"/>
              </a:rPr>
              <a:t> </a:t>
            </a:r>
            <a:r>
              <a:rPr lang="en-US" sz="1800" dirty="0" err="1">
                <a:highlight>
                  <a:srgbClr val="FFFFFF"/>
                </a:highlight>
                <a:ea typeface="+mn-lt"/>
                <a:cs typeface="+mn-lt"/>
              </a:rPr>
              <a:t>một</a:t>
            </a:r>
            <a:r>
              <a:rPr lang="en-US" sz="1800" dirty="0">
                <a:highlight>
                  <a:srgbClr val="FFFFFF"/>
                </a:highlight>
                <a:ea typeface="+mn-lt"/>
                <a:cs typeface="+mn-lt"/>
              </a:rPr>
              <a:t> </a:t>
            </a:r>
            <a:r>
              <a:rPr lang="en-US" sz="1800" dirty="0" err="1">
                <a:highlight>
                  <a:srgbClr val="FFFFFF"/>
                </a:highlight>
                <a:ea typeface="+mn-lt"/>
                <a:cs typeface="+mn-lt"/>
              </a:rPr>
              <a:t>giải</a:t>
            </a:r>
            <a:r>
              <a:rPr lang="en-US" sz="1800" dirty="0">
                <a:highlight>
                  <a:srgbClr val="FFFFFF"/>
                </a:highlight>
                <a:ea typeface="+mn-lt"/>
                <a:cs typeface="+mn-lt"/>
              </a:rPr>
              <a:t> </a:t>
            </a:r>
            <a:r>
              <a:rPr lang="en-US" sz="1800" dirty="0" err="1">
                <a:highlight>
                  <a:srgbClr val="FFFFFF"/>
                </a:highlight>
                <a:ea typeface="+mn-lt"/>
                <a:cs typeface="+mn-lt"/>
              </a:rPr>
              <a:t>pháp</a:t>
            </a:r>
            <a:r>
              <a:rPr lang="en-US" sz="1800" dirty="0">
                <a:highlight>
                  <a:srgbClr val="FFFFFF"/>
                </a:highlight>
                <a:ea typeface="+mn-lt"/>
                <a:cs typeface="+mn-lt"/>
              </a:rPr>
              <a:t> </a:t>
            </a:r>
            <a:r>
              <a:rPr lang="en-US" sz="1800" dirty="0" err="1">
                <a:highlight>
                  <a:srgbClr val="FFFFFF"/>
                </a:highlight>
                <a:ea typeface="+mn-lt"/>
                <a:cs typeface="+mn-lt"/>
              </a:rPr>
              <a:t>thiết</a:t>
            </a:r>
            <a:r>
              <a:rPr lang="en-US" sz="1800" dirty="0">
                <a:highlight>
                  <a:srgbClr val="FFFFFF"/>
                </a:highlight>
                <a:ea typeface="+mn-lt"/>
                <a:cs typeface="+mn-lt"/>
              </a:rPr>
              <a:t> </a:t>
            </a:r>
            <a:r>
              <a:rPr lang="en-US" sz="1800" dirty="0" err="1">
                <a:highlight>
                  <a:srgbClr val="FFFFFF"/>
                </a:highlight>
                <a:ea typeface="+mn-lt"/>
                <a:cs typeface="+mn-lt"/>
              </a:rPr>
              <a:t>thực</a:t>
            </a:r>
            <a:r>
              <a:rPr lang="en-US" sz="1800" dirty="0">
                <a:highlight>
                  <a:srgbClr val="FFFFFF"/>
                </a:highlight>
                <a:ea typeface="+mn-lt"/>
                <a:cs typeface="+mn-lt"/>
              </a:rPr>
              <a:t>, </a:t>
            </a:r>
            <a:r>
              <a:rPr lang="en-US" sz="1800" dirty="0" err="1">
                <a:highlight>
                  <a:srgbClr val="FFFFFF"/>
                </a:highlight>
                <a:ea typeface="+mn-lt"/>
                <a:cs typeface="+mn-lt"/>
              </a:rPr>
              <a:t>hiện</a:t>
            </a:r>
            <a:r>
              <a:rPr lang="en-US" sz="1800" dirty="0">
                <a:highlight>
                  <a:srgbClr val="FFFFFF"/>
                </a:highlight>
                <a:ea typeface="+mn-lt"/>
                <a:cs typeface="+mn-lt"/>
              </a:rPr>
              <a:t> </a:t>
            </a:r>
            <a:r>
              <a:rPr lang="en-US" sz="1800" dirty="0" err="1">
                <a:highlight>
                  <a:srgbClr val="FFFFFF"/>
                </a:highlight>
                <a:ea typeface="+mn-lt"/>
                <a:cs typeface="+mn-lt"/>
              </a:rPr>
              <a:t>đại</a:t>
            </a:r>
            <a:r>
              <a:rPr lang="en-US" sz="1800" dirty="0">
                <a:highlight>
                  <a:srgbClr val="FFFFFF"/>
                </a:highlight>
                <a:ea typeface="+mn-lt"/>
                <a:cs typeface="+mn-lt"/>
              </a:rPr>
              <a:t> </a:t>
            </a:r>
            <a:r>
              <a:rPr lang="en-US" sz="1800" dirty="0" err="1">
                <a:highlight>
                  <a:srgbClr val="FFFFFF"/>
                </a:highlight>
                <a:ea typeface="+mn-lt"/>
                <a:cs typeface="+mn-lt"/>
              </a:rPr>
              <a:t>hóa</a:t>
            </a:r>
            <a:r>
              <a:rPr lang="en-US" sz="1800" dirty="0">
                <a:highlight>
                  <a:srgbClr val="FFFFFF"/>
                </a:highlight>
                <a:ea typeface="+mn-lt"/>
                <a:cs typeface="+mn-lt"/>
              </a:rPr>
              <a:t> </a:t>
            </a:r>
            <a:r>
              <a:rPr lang="en-US" sz="1800" dirty="0" err="1">
                <a:highlight>
                  <a:srgbClr val="FFFFFF"/>
                </a:highlight>
                <a:ea typeface="+mn-lt"/>
                <a:cs typeface="+mn-lt"/>
              </a:rPr>
              <a:t>trải</a:t>
            </a:r>
            <a:r>
              <a:rPr lang="en-US" sz="1800" dirty="0">
                <a:highlight>
                  <a:srgbClr val="FFFFFF"/>
                </a:highlight>
                <a:ea typeface="+mn-lt"/>
                <a:cs typeface="+mn-lt"/>
              </a:rPr>
              <a:t> </a:t>
            </a:r>
            <a:r>
              <a:rPr lang="en-US" sz="1800" dirty="0" err="1">
                <a:highlight>
                  <a:srgbClr val="FFFFFF"/>
                </a:highlight>
                <a:ea typeface="+mn-lt"/>
                <a:cs typeface="+mn-lt"/>
              </a:rPr>
              <a:t>nghiệm</a:t>
            </a:r>
            <a:r>
              <a:rPr lang="en-US" sz="1800" dirty="0">
                <a:highlight>
                  <a:srgbClr val="FFFFFF"/>
                </a:highlight>
                <a:ea typeface="+mn-lt"/>
                <a:cs typeface="+mn-lt"/>
              </a:rPr>
              <a:t> </a:t>
            </a:r>
            <a:r>
              <a:rPr lang="en-US" sz="1800" dirty="0" err="1">
                <a:highlight>
                  <a:srgbClr val="FFFFFF"/>
                </a:highlight>
                <a:ea typeface="+mn-lt"/>
                <a:cs typeface="+mn-lt"/>
              </a:rPr>
              <a:t>học</a:t>
            </a:r>
            <a:r>
              <a:rPr lang="en-US" sz="1800" dirty="0">
                <a:highlight>
                  <a:srgbClr val="FFFFFF"/>
                </a:highlight>
                <a:ea typeface="+mn-lt"/>
                <a:cs typeface="+mn-lt"/>
              </a:rPr>
              <a:t> </a:t>
            </a:r>
            <a:r>
              <a:rPr lang="en-US" sz="1800" dirty="0" err="1">
                <a:highlight>
                  <a:srgbClr val="FFFFFF"/>
                </a:highlight>
                <a:ea typeface="+mn-lt"/>
                <a:cs typeface="+mn-lt"/>
              </a:rPr>
              <a:t>tập</a:t>
            </a:r>
            <a:r>
              <a:rPr lang="en-US" sz="1800" dirty="0">
                <a:highlight>
                  <a:srgbClr val="FFFFFF"/>
                </a:highlight>
                <a:ea typeface="+mn-lt"/>
                <a:cs typeface="+mn-lt"/>
              </a:rPr>
              <a:t> </a:t>
            </a:r>
            <a:r>
              <a:rPr lang="en-US" sz="1800" dirty="0" err="1">
                <a:highlight>
                  <a:srgbClr val="FFFFFF"/>
                </a:highlight>
                <a:ea typeface="+mn-lt"/>
                <a:cs typeface="+mn-lt"/>
              </a:rPr>
              <a:t>và</a:t>
            </a:r>
            <a:r>
              <a:rPr lang="en-US" sz="1800" dirty="0">
                <a:highlight>
                  <a:srgbClr val="FFFFFF"/>
                </a:highlight>
                <a:ea typeface="+mn-lt"/>
                <a:cs typeface="+mn-lt"/>
              </a:rPr>
              <a:t> </a:t>
            </a:r>
            <a:r>
              <a:rPr lang="en-US" sz="1800" dirty="0" err="1">
                <a:highlight>
                  <a:srgbClr val="FFFFFF"/>
                </a:highlight>
                <a:ea typeface="+mn-lt"/>
                <a:cs typeface="+mn-lt"/>
              </a:rPr>
              <a:t>minh</a:t>
            </a:r>
            <a:r>
              <a:rPr lang="en-US" sz="1800" dirty="0">
                <a:highlight>
                  <a:srgbClr val="FFFFFF"/>
                </a:highlight>
                <a:ea typeface="+mn-lt"/>
                <a:cs typeface="+mn-lt"/>
              </a:rPr>
              <a:t> </a:t>
            </a:r>
            <a:r>
              <a:rPr lang="en-US" sz="1800" dirty="0" err="1">
                <a:highlight>
                  <a:srgbClr val="FFFFFF"/>
                </a:highlight>
                <a:ea typeface="+mn-lt"/>
                <a:cs typeface="+mn-lt"/>
              </a:rPr>
              <a:t>chứng</a:t>
            </a:r>
            <a:r>
              <a:rPr lang="en-US" sz="1800" dirty="0">
                <a:highlight>
                  <a:srgbClr val="FFFFFF"/>
                </a:highlight>
                <a:ea typeface="+mn-lt"/>
                <a:cs typeface="+mn-lt"/>
              </a:rPr>
              <a:t> </a:t>
            </a:r>
            <a:r>
              <a:rPr lang="en-US" sz="1800" dirty="0" err="1">
                <a:highlight>
                  <a:srgbClr val="FFFFFF"/>
                </a:highlight>
                <a:ea typeface="+mn-lt"/>
                <a:cs typeface="+mn-lt"/>
              </a:rPr>
              <a:t>cho</a:t>
            </a:r>
            <a:r>
              <a:rPr lang="en-US" sz="1800" dirty="0">
                <a:highlight>
                  <a:srgbClr val="FFFFFF"/>
                </a:highlight>
                <a:ea typeface="+mn-lt"/>
                <a:cs typeface="+mn-lt"/>
              </a:rPr>
              <a:t> </a:t>
            </a:r>
            <a:r>
              <a:rPr lang="en-US" sz="1800" dirty="0" err="1">
                <a:highlight>
                  <a:srgbClr val="FFFFFF"/>
                </a:highlight>
                <a:ea typeface="+mn-lt"/>
                <a:cs typeface="+mn-lt"/>
              </a:rPr>
              <a:t>khả</a:t>
            </a:r>
            <a:r>
              <a:rPr lang="en-US" sz="1800" dirty="0">
                <a:highlight>
                  <a:srgbClr val="FFFFFF"/>
                </a:highlight>
                <a:ea typeface="+mn-lt"/>
                <a:cs typeface="+mn-lt"/>
              </a:rPr>
              <a:t> </a:t>
            </a:r>
            <a:r>
              <a:rPr lang="en-US" sz="1800" dirty="0" err="1">
                <a:highlight>
                  <a:srgbClr val="FFFFFF"/>
                </a:highlight>
                <a:ea typeface="+mn-lt"/>
                <a:cs typeface="+mn-lt"/>
              </a:rPr>
              <a:t>năng</a:t>
            </a:r>
            <a:r>
              <a:rPr lang="en-US" sz="1800" dirty="0">
                <a:highlight>
                  <a:srgbClr val="FFFFFF"/>
                </a:highlight>
                <a:ea typeface="+mn-lt"/>
                <a:cs typeface="+mn-lt"/>
              </a:rPr>
              <a:t> </a:t>
            </a:r>
            <a:r>
              <a:rPr lang="en-US" sz="1800" dirty="0" err="1">
                <a:highlight>
                  <a:srgbClr val="FFFFFF"/>
                </a:highlight>
                <a:ea typeface="+mn-lt"/>
                <a:cs typeface="+mn-lt"/>
              </a:rPr>
              <a:t>ứng</a:t>
            </a:r>
            <a:r>
              <a:rPr lang="en-US" sz="1800" dirty="0">
                <a:highlight>
                  <a:srgbClr val="FFFFFF"/>
                </a:highlight>
                <a:ea typeface="+mn-lt"/>
                <a:cs typeface="+mn-lt"/>
              </a:rPr>
              <a:t> </a:t>
            </a:r>
            <a:r>
              <a:rPr lang="en-US" sz="1800" dirty="0" err="1">
                <a:highlight>
                  <a:srgbClr val="FFFFFF"/>
                </a:highlight>
                <a:ea typeface="+mn-lt"/>
                <a:cs typeface="+mn-lt"/>
              </a:rPr>
              <a:t>dụng</a:t>
            </a:r>
            <a:r>
              <a:rPr lang="en-US" sz="1800" dirty="0">
                <a:highlight>
                  <a:srgbClr val="FFFFFF"/>
                </a:highlight>
                <a:ea typeface="+mn-lt"/>
                <a:cs typeface="+mn-lt"/>
              </a:rPr>
              <a:t> AI/RAG </a:t>
            </a:r>
            <a:r>
              <a:rPr lang="en-US" sz="1800" dirty="0" err="1">
                <a:highlight>
                  <a:srgbClr val="FFFFFF"/>
                </a:highlight>
                <a:ea typeface="+mn-lt"/>
                <a:cs typeface="+mn-lt"/>
              </a:rPr>
              <a:t>vào</a:t>
            </a:r>
            <a:r>
              <a:rPr lang="en-US" sz="1800" dirty="0">
                <a:highlight>
                  <a:srgbClr val="FFFFFF"/>
                </a:highlight>
                <a:ea typeface="+mn-lt"/>
                <a:cs typeface="+mn-lt"/>
              </a:rPr>
              <a:t> </a:t>
            </a:r>
            <a:r>
              <a:rPr lang="en-US" sz="1800" dirty="0" err="1">
                <a:highlight>
                  <a:srgbClr val="FFFFFF"/>
                </a:highlight>
                <a:ea typeface="+mn-lt"/>
                <a:cs typeface="+mn-lt"/>
              </a:rPr>
              <a:t>các</a:t>
            </a:r>
            <a:r>
              <a:rPr lang="en-US" sz="1800" dirty="0">
                <a:highlight>
                  <a:srgbClr val="FFFFFF"/>
                </a:highlight>
                <a:ea typeface="+mn-lt"/>
                <a:cs typeface="+mn-lt"/>
              </a:rPr>
              <a:t> </a:t>
            </a:r>
            <a:r>
              <a:rPr lang="en-US" sz="1800" dirty="0" err="1">
                <a:highlight>
                  <a:srgbClr val="FFFFFF"/>
                </a:highlight>
                <a:ea typeface="+mn-lt"/>
                <a:cs typeface="+mn-lt"/>
              </a:rPr>
              <a:t>hệ</a:t>
            </a:r>
            <a:r>
              <a:rPr lang="en-US" sz="1800" dirty="0">
                <a:highlight>
                  <a:srgbClr val="FFFFFF"/>
                </a:highlight>
                <a:ea typeface="+mn-lt"/>
                <a:cs typeface="+mn-lt"/>
              </a:rPr>
              <a:t> </a:t>
            </a:r>
            <a:r>
              <a:rPr lang="en-US" sz="1800" dirty="0" err="1">
                <a:highlight>
                  <a:srgbClr val="FFFFFF"/>
                </a:highlight>
                <a:ea typeface="+mn-lt"/>
                <a:cs typeface="+mn-lt"/>
              </a:rPr>
              <a:t>thống</a:t>
            </a:r>
            <a:r>
              <a:rPr lang="en-US" sz="1800" dirty="0">
                <a:highlight>
                  <a:srgbClr val="FFFFFF"/>
                </a:highlight>
                <a:ea typeface="+mn-lt"/>
                <a:cs typeface="+mn-lt"/>
              </a:rPr>
              <a:t> </a:t>
            </a:r>
            <a:r>
              <a:rPr lang="en-US" sz="1800" dirty="0" err="1">
                <a:highlight>
                  <a:srgbClr val="FFFFFF"/>
                </a:highlight>
                <a:ea typeface="+mn-lt"/>
                <a:cs typeface="+mn-lt"/>
              </a:rPr>
              <a:t>giáo</a:t>
            </a:r>
            <a:r>
              <a:rPr lang="en-US" sz="1800" dirty="0">
                <a:highlight>
                  <a:srgbClr val="FFFFFF"/>
                </a:highlight>
                <a:ea typeface="+mn-lt"/>
                <a:cs typeface="+mn-lt"/>
              </a:rPr>
              <a:t> </a:t>
            </a:r>
            <a:r>
              <a:rPr lang="en-US" sz="1800" dirty="0" err="1">
                <a:highlight>
                  <a:srgbClr val="FFFFFF"/>
                </a:highlight>
                <a:ea typeface="+mn-lt"/>
                <a:cs typeface="+mn-lt"/>
              </a:rPr>
              <a:t>dục</a:t>
            </a:r>
            <a:r>
              <a:rPr lang="en-US" sz="1800" dirty="0">
                <a:highlight>
                  <a:srgbClr val="FFFFFF"/>
                </a:highlight>
                <a:ea typeface="+mn-lt"/>
                <a:cs typeface="+mn-lt"/>
              </a:rPr>
              <a:t> </a:t>
            </a:r>
            <a:r>
              <a:rPr lang="en-US" sz="1800" dirty="0" err="1">
                <a:highlight>
                  <a:srgbClr val="FFFFFF"/>
                </a:highlight>
                <a:ea typeface="+mn-lt"/>
                <a:cs typeface="+mn-lt"/>
              </a:rPr>
              <a:t>truyền</a:t>
            </a:r>
            <a:r>
              <a:rPr lang="en-US" sz="1800" dirty="0">
                <a:highlight>
                  <a:srgbClr val="FFFFFF"/>
                </a:highlight>
                <a:ea typeface="+mn-lt"/>
                <a:cs typeface="+mn-lt"/>
              </a:rPr>
              <a:t> </a:t>
            </a:r>
            <a:r>
              <a:rPr lang="en-US" sz="1800" dirty="0" err="1">
                <a:highlight>
                  <a:srgbClr val="FFFFFF"/>
                </a:highlight>
                <a:ea typeface="+mn-lt"/>
                <a:cs typeface="+mn-lt"/>
              </a:rPr>
              <a:t>thống</a:t>
            </a:r>
            <a:r>
              <a:rPr lang="en-US" sz="1800" dirty="0">
                <a:highlight>
                  <a:srgbClr val="FFFFFF"/>
                </a:highlight>
                <a:ea typeface="+mn-lt"/>
                <a:cs typeface="+mn-lt"/>
              </a:rPr>
              <a:t> </a:t>
            </a:r>
            <a:r>
              <a:rPr lang="en-US" sz="1800" dirty="0" err="1">
                <a:highlight>
                  <a:srgbClr val="FFFFFF"/>
                </a:highlight>
                <a:ea typeface="+mn-lt"/>
                <a:cs typeface="+mn-lt"/>
              </a:rPr>
              <a:t>một</a:t>
            </a:r>
            <a:r>
              <a:rPr lang="en-US" sz="1800" dirty="0">
                <a:highlight>
                  <a:srgbClr val="FFFFFF"/>
                </a:highlight>
                <a:ea typeface="+mn-lt"/>
                <a:cs typeface="+mn-lt"/>
              </a:rPr>
              <a:t> </a:t>
            </a:r>
            <a:r>
              <a:rPr lang="en-US" sz="1800" dirty="0" err="1">
                <a:highlight>
                  <a:srgbClr val="FFFFFF"/>
                </a:highlight>
                <a:ea typeface="+mn-lt"/>
                <a:cs typeface="+mn-lt"/>
              </a:rPr>
              <a:t>cách</a:t>
            </a:r>
            <a:r>
              <a:rPr lang="en-US" sz="1800" dirty="0">
                <a:highlight>
                  <a:srgbClr val="FFFFFF"/>
                </a:highlight>
                <a:ea typeface="+mn-lt"/>
                <a:cs typeface="+mn-lt"/>
              </a:rPr>
              <a:t> an </a:t>
            </a:r>
            <a:r>
              <a:rPr lang="en-US" sz="1800" dirty="0" err="1">
                <a:highlight>
                  <a:srgbClr val="FFFFFF"/>
                </a:highlight>
                <a:ea typeface="+mn-lt"/>
                <a:cs typeface="+mn-lt"/>
              </a:rPr>
              <a:t>toàn</a:t>
            </a:r>
            <a:r>
              <a:rPr lang="en-US" sz="1800" dirty="0">
                <a:highlight>
                  <a:srgbClr val="FFFFFF"/>
                </a:highlight>
                <a:ea typeface="+mn-lt"/>
                <a:cs typeface="+mn-lt"/>
              </a:rPr>
              <a:t>.</a:t>
            </a:r>
            <a:endParaRPr lang="en-US" sz="1800" dirty="0"/>
          </a:p>
          <a:p>
            <a:endParaRPr lang="en-US" sz="1500"/>
          </a:p>
        </p:txBody>
      </p:sp>
    </p:spTree>
    <p:extLst>
      <p:ext uri="{BB962C8B-B14F-4D97-AF65-F5344CB8AC3E}">
        <p14:creationId xmlns:p14="http://schemas.microsoft.com/office/powerpoint/2010/main" val="3442517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Hình ảnh cảm ơn - Tuyển tập những hình ảnh cảm ơn đẹp và ý nghĩa">
            <a:extLst>
              <a:ext uri="{FF2B5EF4-FFF2-40B4-BE49-F238E27FC236}">
                <a16:creationId xmlns:a16="http://schemas.microsoft.com/office/drawing/2014/main" id="{C9A02796-595D-5AB0-FFDB-9CB10B3C0210}"/>
              </a:ext>
            </a:extLst>
          </p:cNvPr>
          <p:cNvPicPr>
            <a:picLocks noGrp="1" noChangeAspect="1"/>
          </p:cNvPicPr>
          <p:nvPr>
            <p:ph idx="1"/>
          </p:nvPr>
        </p:nvPicPr>
        <p:blipFill>
          <a:blip r:embed="rId2"/>
          <a:srcRect t="15347" r="-2" b="9693"/>
          <a:stretch>
            <a:fillRect/>
          </a:stretch>
        </p:blipFill>
        <p:spPr>
          <a:xfrm>
            <a:off x="-6588" y="10"/>
            <a:ext cx="12198588" cy="6857990"/>
          </a:xfrm>
          <a:prstGeom prst="rect">
            <a:avLst/>
          </a:prstGeom>
        </p:spPr>
      </p:pic>
    </p:spTree>
    <p:extLst>
      <p:ext uri="{BB962C8B-B14F-4D97-AF65-F5344CB8AC3E}">
        <p14:creationId xmlns:p14="http://schemas.microsoft.com/office/powerpoint/2010/main" val="3593901920"/>
      </p:ext>
    </p:extLst>
  </p:cSld>
  <p:clrMapOvr>
    <a:masterClrMapping/>
  </p:clrMapOvr>
</p:sld>
</file>

<file path=ppt/theme/theme1.xml><?xml version="1.0" encoding="utf-8"?>
<a:theme xmlns:a="http://schemas.openxmlformats.org/drawingml/2006/main" name="Chủ đề của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Văn phòng">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ăn phòng">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Chủ đề của Office</vt:lpstr>
      <vt:lpstr>ĐẠI HỌC TRÀ VINH TRƯỜNG KỸ THUẬT VÀ CÔNG NGHỆ</vt:lpstr>
      <vt:lpstr>Nội dung:</vt:lpstr>
      <vt:lpstr>1. Lý do chọn đề tài </vt:lpstr>
      <vt:lpstr>Mục tiêu nghiên cứu &amp; Phạm vi </vt:lpstr>
      <vt:lpstr>2. Công nghệ sử dụng </vt:lpstr>
      <vt:lpstr>Tổng quan công nghệ RAG </vt:lpstr>
      <vt:lpstr>3. Thiết kế hệ thống - Sơ đồ Use Case </vt:lpstr>
      <vt:lpstr>4. Kiến trúc tổng thể hệ thống  </vt:lpstr>
      <vt:lpstr>Luồng xử lý phân loại ý định </vt:lpstr>
      <vt:lpstr>Tầng API Gateway &amp; Cơ chế phân quyền (RBAC)   </vt:lpstr>
      <vt:lpstr>Điểm nhấn kỹ thuật: Cơ sở dữ liệu linh hoạt </vt:lpstr>
      <vt:lpstr>Hệ thống thông báo chủ động  </vt:lpstr>
      <vt:lpstr>5. Kết quả thực nghiệm - Hỏi đáp RAG   </vt:lpstr>
      <vt:lpstr>Kết quả thực nghiệm - Tra cứu dữ liệu Moodle </vt:lpstr>
      <vt:lpstr>Kết quả thực nghiệm - Phân quyền API </vt:lpstr>
      <vt:lpstr>6. Đánh giá và Hạn chế </vt:lpstr>
      <vt:lpstr>Hướng phát triển &amp; Kết luận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275</cp:revision>
  <dcterms:created xsi:type="dcterms:W3CDTF">2026-07-06T15:17:54Z</dcterms:created>
  <dcterms:modified xsi:type="dcterms:W3CDTF">2026-07-06T16:16:00Z</dcterms:modified>
</cp:coreProperties>
</file>